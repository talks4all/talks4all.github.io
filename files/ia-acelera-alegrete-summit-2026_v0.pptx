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Antes de começar: peça à organização que toque a música Alegrete Summit (versão 4, a favorita do Summit, 3 min 35 s), feita com IA, enquanto a plateia entra e se acomoda. O MP3 está em alegrete-summit.github.io/musicas.html, no destaque. Se não for possível, toque os primeiros 30 segundos agora, com a sala em silêncio. Apresente-se em uma frase: professor e pesquisador da UNIPAMPA, aqui no Campus Alegrete, e do AI Horizon Labs. Em seguida, o site que acompanha a palestra.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site foi criado para esta palestra e para o Summit. Aponte o QR Code: tudo o que eu mostrar hoje está lá, com as fontes, para quem quiser ver de novo com calma. Se houver internet, abra ao vivo por 30 segundos: a página inicial, os casos de sucesso, os clipes e as músicas. Todo o site, com as versões em inglês e espanhol, as animações e a trilha dos clipes, foi feito com IA. A escolha do conteúdo e a conferência das fontes foram humanas.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Comece por uma história, antes de qualquer número. Conte em um minuto. Kauã é um jovem indígena no coração da Amazônia. A aldeia escuta a motosserra de longe, mas, quando alguém chega, a árvore já caiu. Chegam internet via satélite e um notebook de um projeto de inclusão digital. Ele nunca programou, mas tem curiosidade e um problema real. Kauã conversa com uma IA com as palavras dele; a IA pergunta, propõe um plano e ajuda a construir e testar. Nasce o Kaá Sentinela: celulares velhos com painel solar no alto das árvores reconhecem motosserra e fogo e avisam a aldeia em segundos. Diga com clareza: é uma fábula, personagem e produto são fictícios. A ideia é real: já há iniciativas no mundo que usam celulares reaproveitados para escutar florestas. Leia a moral na tela, devagar: Kauã entra com o conhecimento da floresta; a IA, com a técnica. Ao longo da palestra, a pergunta vai ser: qual é o Kaá Sentinela de Alegrete? O clipe de 2 min 54 s e o jogo estão no site, pelo QR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Logo depois da fábula, e para provar que não é só fábula: 'a música que tocou quando vocês entraram foi feita com inteligência artificial'. Pausa. É a música Alegrete Summit, versão 4, a favorita do Summit. Aponte o QR Code: quem quiser ouvir de novo abre no celular.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Doze versões da mesma música, em três estilos: Original, Thunder e Wired, todas geradas com IA. Mesmo pedido, resultados diferentes. Escolher a favorita foi trabalho humano: a versão 4, Original, a que deu origem às outras. Gerar ficou barato; escolher continua sendo nosso.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Levante a sua mão primeiro. Espere. Quase toda a sala levanta. Peça para manterem a mão no 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maioria das mãos desce. Diga só 'olhem em volta'. Pausa de dois segundos. A diferença entre as duas perguntas é o assunto desta palestra.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Sebrae 2025. Os 83% ou 87% que circulam incluem GPS e reconhecimento facial: não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Frase curta, devagar. Ela volta várias vezes, com outras palavras. Agora, uma história.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 como história, sem nome ainda: Maor Shlomo tinha um emprego e, nas horas vagas, fez uma ferramenta que cria aplicativos a partir de uma descrição em texto. Sem investidor. Sem equipe. Deixe a sala imaginar quanto valeria.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US$ 80 milhões à vista, cerca de seis meses depois do lançamento, mais pagamentos atrelados a metas. Ele tinha seis funcionários no momento da venda, todos contratados no mês anterior. Em agosto de 2026, segundo a Calcalist, a Base44 chegou a US$ 200 milhões de receita anualizada (número do próprio fundador). Guarde o lado B para o ato 3: a Wix teve prejuízo de US$ 76 milhões no 2º trimestre de 2026, puxado pela Base44.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é a pergunta que organiza a palestra. Não responda agora. Diga: 'vou mostrar casos reais, alguns de longe e outros feitos aqui, e no fim a gente responde junto'.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Transição curta. Dois números. Não leia as legendas: diga o número e olhe para a plateia.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Fontes: Stanford AI Index 2026, 53% de adoção em três anos; Bick, Blandin e Deming (Fed de St. Louis e NBER): nos EUA, a adoção foi mais rápida que a do PC e da internet no mesmo ponto após o lançamento. O relatório não diz que é a população mundial: não diga isso.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McKinsey, The State of AI 2025, pesquisa autodeclarada. 62% já ao menos experimentam agentes, mas em nenhuma função mais de 10% das empresas escalam agentes; e o efeito no lucro, quando existe, quase sempre fica abaixo de 5%. É uma boa notícia para quem está começando: a vantagem ainda está disponível.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Transição. Primeiro, empresas de fora; depois, o que eu fiz aqui em Alegrete.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Peça chutes em voz alta. Quem conhece software costuma dizer mil, dois mil. Repita o menor chute antes de avançar.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Cerca de US$ 2,7 milhões por pessoa. O Lovable cria sites e apps a partir de uma descrição em português. Receita anualizada é a receita do mês vezes doze: uma projeção, não dinheiro em caixa. Marcos: US$ 100 milhões em julho de 2025, 200 em novembro, 400 em fevereiro de 2026. Para a plateia: um lojista ou um produtor já consegue fazer o próprio sistema de agendamento, cardápio ou estoque. Segurança continua pedindo alguém que entenda; voltamos a isso no ato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Fundada em 2019 por jovens engenheiros, em São Paulo. Em 22 de outubro de 2026, captou US$ 130 milhões numa Série D liderada pela Sapphire Ventures, com avaliação de US$ 1,4 bilhão. Receita anualizada acima de US$ 100 milhões (vinda de US$ 40 milhões em 2024), metade do exterior; números da empresa. O recado: IA aplicada a um problema do chão de fábrica que todo engenho, frigorífico e indústria da região também 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Diga só a primeira frase e clique no vídeo para tocar: são 50 segundos. É o clipe de chamada deste Summit, o mesmo que roda na página inicial do site, feito com IA e narrado com voz sintética. No PowerPoint, o vídeo está embutido; no HTML, toca o arquivo da pasta do site ou, sem ele, o do site publicado. Ao final, pergunte: 'quanto tempo vocês acham que levou?'. Não precisa responder: o ponto é que a pergunta já não tem a resposta de 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houver internet, abra o alegrete.org ao vivo por dez segundos. Há dez anos, isso exigia uma equipe e um orçamento. Hoje começa com uma boa descrição e muita revisão. A parte difícil não foi a ferramenta: foi saber o que Alegrete tem para mostrar.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Transição. Agora, a pergunta que mais ouço de empresas e de colegas professores.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Deixe a sala responder em voz alta. As duas respostas estão erradas: depende de quem usa e de qual tarefa.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Fontes: Brynjolfsson, Li e Raymond, NBER 2023: 5.179 atendentes, +14% em média e +34% entre os novatos (a versão do QJE, 2025, traz 5.172 e +15%). METR, julho de 2025, com ferramentas do início de 2025. Diga em voz alta: em fevereiro de 2026, o próprio METR disse que o resultado envelheceu. Circula também a versão de corredor: sênior ganha 80%, júnior perde 20%, então proíbe-se o júnior de usar IA. O próximo caso mostra que essa conta está errada.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IoTEdu (iotedu.org), projeto nacional de inovação que eu coordeno. Diga que não é hipótese nem projeção: é medição, de poucos meses atrás. Os seis eram considerados bons ou muito bons por todos os professores que os conhecem: dois graduandos, três mestrandos e um mestre. Peça chutes antes de avançar.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seis também usam LLMs, mas muito longe do nível do reserva. O diferencial dele: sabe resolver problemas de forma efetiva e já trabalhou em projetos reais, muito além de atividades de sala de aula ou de projetos pequenos de um semestre. Não diga o nome de ninguém.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Faça a conta em voz alta: 256 dividido por 2 dá 128. Compare com a frase que circula, a de que o sênior ganha 80% com IA. Sêniores medianos talvez ganhem algo nessa faixa. Quem tem experiência em resolver problemas e em projetos reais, e domina a IA, pode ganhar duas ordens de grandeza. É um caso, não uma pesquisa: diga isso. Mas é um caso medido, de poucos meses atrás. O caso também virou clipe no site do Summit (clipe 4, 2 min 46 s), em alegrete-summit.github.io/clipe.html.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Frase central do ato. Devagar. A batalha agora é IA contra IA: quem usa bem contra quem usa mal. Recado para empresas: proibir júnior de usar IA protege um modelo antigo, afasta os melhores, que vão para onde podem evoluir, e desperdiça a janela de aprendizado. Bons juniores devem usar IA, e aprender a usá-la em alto nível.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Olhe para quem é de empresa na primeira pergunta e para quem é de universidade e de instituto federal na segunda. Para os professores, uma terceira, se o clima permitir: você usa IA no seu trabalho com a mesma intensidade com que regula o uso pelos alunos? Quem não sabe o que o melhor aluno produz hoje com IA está avaliando às cegas.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 exemplo do que é usar em alto nível, e não exige programar. Um teste meu, com dados fictícios: uma loja precisava vender 40 sacos de ração perto do vencimento. Em vez de pedir a solução, pedi as perguntas. Vieram 19. Respondi em quatro linhas: ração para cães, R$ 120 de venda, R$ 85 de custo, vence em 15/12, lista de 300 clientes no WhatsApp. Depois pedi que ela criticasse a própria sugestão, e ela achou dez problemas, admitindo que uma afirmação anterior era 'hipótese, não fato'. É o truque mais subestimado.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Vire o jogo. Se qualquer um faz um app em uma tarde, o app deixa de ser diferencial. E existe o custo: a Wix teve prejuízo de US$ 76 milhões no 2º trimestre de 2026, puxado pela Base44, com aquisição, custo de rodar os modelos e marketing. Pergunte, retoricamente: se a OpenAI lançar amanhã o que o seu produto faz, o que sobra?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Mude a energia: agora os tropeços. Um meu e quatro de fora.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Pedi um site para uma padaria fictícia, com um pedido curto e vago. Veio bonito, e esse é o perigo: parece pronto. Mas não dizia a cidade, não tinha WhatsApp e o formulário de encomenda não enviava nada, como ela mesma avisou no fim da resposta. Quem não lê até o fim publica um site quebrado. Com um pedido bom, no mesmo modelo, veio exatamente o que foi pedido.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Devagar. Velocidade sem conferência vira prejuízo, e o prejuízo chega bem formatado.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Leia cada linha e faça uma pausa. Replit, julho de 2025: o agente apagou o banco de um app de teste de Jason Lemkin, do SaaStr, em pleno congelamento de código (os dados foram recuperados). Lovable, maio de 2025, CVE-2025-48757: 170 de 1.645 apps sem o controle de acesso do banco ligado; a falha era nos apps gerados, não no Lovable. Air Canada, fevereiro de 2024: alegou que o chatbot respondia por si e perdeu. TJSC, fevereiro de 2025: multa de 10% por má-fé à parte que recorreu, e caso enviado à OAB/SC. Sem lei específica (o PL 2338/2023 ainda está na Câmara), quem inova precisa de regras próprias. A LGPD já vale.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ninguém tem a tarefa de conferir, ninguém confere. Complemente: você colaria a planilha de clientes num chatbot gratuito? Tem certeza de que ninguém da sua equipe já colou? Todos os meus exemplos usam dados fictícios, de propósito.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Transição. Agora, a resposta à pergunta do começo e o tema do Summit.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Prepare o clipe. As duas linhas são a abertura dele: o verde é a IA; o âmbar, a inovação, as pessoas, as ideias e o território.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Clique para tocar. São 72 segundos, em sete cenas: dois organismos, a dupla hélice, o Pampa com oito setores, o ciclo de dados, modelos, decisões e pessoas, e a ponte sustentada por poder público, empresas, academia e sociedade. Animação e trilha geradas por código. Ao final, repita a última frase: a IA é a nova ponte.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é a resposta para 'o que ficou caro?'. A esquerda não some: fica barata, e todo mundo tem. A direita é onde o território tem vantagem: quem vive o problema, tem o dado e conhece o cliente pelo nome.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Peça dois ou três exemplos da sala e repita em voz alta. Costumam aparecer: o histórico de clientes da loja, a pesagem do rebanho, os protocolos da prefeitura, a conversa de balcão. Diga: o solo do Pampa e a norma que mudou mês passado não estão no modelo. Estão nesta sala.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Números da própria Magalu, setembro de 2026: R$ 100 milhões em vendas desde novembro de 2025 e 7,7 milhões de usuários em oito meses. A comparação de 3 vezes é com a busca do aplicativo. Desde fevereiro de 2026, a Meta oferece IA para Empresas no WhatsApp Business no Brasil. A pergunta: se o cliente prefere comprar conversando, o que a loja de bairro, que sempre vendeu conversando, pode fazer com isso?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Solinftec, de Araçatuba (SP). Os 85% são média da própria empresa, até julho de 2026. Mais de 100 robôs em 22 mil hectares nos Estados Unidos. Uma startup brasileira de agro exportando robótica com 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Projeto Terrapampa Smart Systems, do Prof. Sandro Camargo, colega da Unipampa, com a Embrapa Pecuária Sul e a Nvidia. A meta no capim-annoni é 98%; cerca de 350 fotos por minuto; a Nvidia apoia com cerca de R$ 1,2 milhão em computação. Pesquisa local, problema local, dado do Pampa: exatamente o que um modelo treinado fora não faz bem.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Caso de sucesso gaúcho, de uma incubadora universitária do interior. Projeto de estudantes da UFSM, incubado e graduado na Pulsar. A coleira faz 25 leituras por segundo de ruminação, alimentação, atividade e ofegância; na nuvem, a IA própria gera alertas de cio, doença e estresse térmico. 2022: R$ 5,9 milhões de 547 investidores, recorde em equity crowdfunding no Brasil (Forbes). 2026: 100 mil animais, Brasil, Paraguai, Uruguai e México, e receita de cerca de R$ 18 milhões em 2025, dado da própria empresa (CNN Brasil). Para o Pampa: é exatamente a ponte entre universidade, pecuária e mercado.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[Opcional se faltar tempo.] Clique para tocar. Animação ilustrativa, sem uso da marca da empresa; números da empresa aparecem como autodeclarados.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Mude o tom. Fale mais devagar. Todo mundo nesta sala lembra onde estava. Dois segundos de silêncio.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SOS RS. Seja explícito: o app não usava IA. Está aqui porque mostra o que importa antes da ferramenta: gente que sabe construir, conectada e pronta para agir. Números de um artigo de opinião de Sid Espinosa, do GitHub, no Jornal do Comércio (novembro de 2024).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Hoje, com IA, o mesmo grupo faria em 18 horas o que antes levaria semanas. Mas só porque o grupo já existia. Isso é ponte, e ponte a IA não faz.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lista é a do especial IA e inovação do site do Summit. Leia devagar, olhando para quem estiver na sala de cada instituição.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Curso novo, público e gratuito, aqui no Campus Alegrete, autorizado pelo CONSUNI em 23/04/2026, com início previsto para meados de 2027, segundo o site do curso (confirme a data com a coordenação). É a minha ponte: formar aqui quem vai aplicar IA aqui, sem precisar ir para a capital. O aluno reserva do IoTEdu é o perfil que eu espero do BIA: problema real desde cedo e IA em alto nível.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ponte com as escolas. O site fala a língua de quem está no 3º ano: 'ano que vem você escolhe um curso; que tal criar IA?'. Federal e gratuito, 50 vagas por ano, entrada pelo SiSU, com o ENEM, aulas previstas para meados de 2027. Peça a quem tem filho, aluno ou sobrinho no 3º ano que mande o 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é o destaque: convide a sala a jogar agora, pelo QR Code. Corrida Neural (3D): você corre, depois 24 robôs Bia aprendem a correr sozinhos, com redes neurais e algoritmo genético. Rio Limpo: três barcos com IA disputam quem tira mais lixo do rio, com detecção de objetos e planejamento de rota. Treine a Bia: ensine a robô a separar o lixo com 8 exemplos, depois ensine errado de propósito e veja o viés nos dados. Tem IA ou não tem?: um minuto contra o relógio para dizer quais objetos do dia a dia usam IA. É assim que se mostra IA para quem tem 17 anos. O próximo slide destaca o Rio Limpo.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jogo que mais tem a ver com Alegrete: a disputa é no rio Ibirapuitã. [Complete aqui com o evento de Alegrete ligado ao jogo: nome, data e o que aconteceu.] Ninguém pilota: Guará vai sempre ao lixo mais próximo, com câmera 360° de curto alcance; Capivara recebe o mapa de um drone e planeja a rota pelo lugar com mais lixo, mas para para pensar; Biguá tem câmera de longo alcance e é o mais rápido, mas às vezes confunde folha, galho e peixe com lixo. Peça palpites: qual barco ganha? Por trás: detecção de objetos, planejamento de rota e falso positivo, tudo o que se estuda no BIA. No mundo real, já há barcos e barreiras recolhendo lixo de rios em vários países.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que eu levei uma tarde para fazer, vocês podem fazer no Ideathon (amanhã, se a palestra for no dia 29). Antes, a ideia terminava numa cartolina. Hoje termina num protótipo navegável, em horas. O passo mais importante é o último: levar a ideia para quem pode ajudá-la a crescer, PampaTec, Sebrae e Startup Pampa. Se a palestra for depois da premiação, ajuste a fala.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Peça que cada pessoa pense num nome desta sala com quem ainda não conversou e que poderia ajudar no seu problema. Se der tempo, peça uma ou duas respostas em voz alta. É a passagem para a frase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Leia as duas linhas devagar, com uma pausa entre elas. Não diga mais nada por dois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Agradeça e abra para perguntas. Aponte os quatro QR Codes: o site do Summit, com as músicas, os clipes e a fábula, as palestras com as fontes, o AI Horizon Labs e o Bacharelado em 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talks4all.github.io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hyperlink" Target="https://alegrete-summit.github.io" TargetMode="Externa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alegrete-summit.github.io/fabula-kaua.html" TargetMode="Externa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hyperlink" Target="https://alegrete-summit.github.io/musicas.html#destaque" TargetMode="Externa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0.png"/><Relationship Id="rId4" Type="http://schemas.openxmlformats.org/officeDocument/2006/relationships/hyperlink" Target="https://alegrete-summit.github.io/musicas.html#destaque" TargetMode="External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hyperlink" Target="https://en.globes.co.il/en/article-wix-acquires-israeli-vibe-coding-co-base44-1001513267" TargetMode="Externa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hyperlink" Target="https://techcrunch.com/2026/03/11/lovable-says-it-added-100m-in-revenue-last-month-alone-with-just-146-employees/" TargetMode="External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hyperlink" Target="https://www.bloomberglinea.com.br/startups/tractian-capta-us-130-milhoes-e-se-torna-o-mais-novo-unicornio-de-ia-brasileiro/" TargetMode="External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5.jpg"/><Relationship Id="rId5" Type="http://schemas.openxmlformats.org/officeDocument/2006/relationships/hyperlink" Target="https://alegrete-summit.github.io" TargetMode="External"/><Relationship Id="rId6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hyperlink" Target="https://alegrete.org" TargetMode="External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iotedu.org" TargetMode="Externa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hyperlink" Target="https://iotedu.org" TargetMode="External"/><Relationship Id="rId4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19.jpg"/><Relationship Id="rId5" Type="http://schemas.openxmlformats.org/officeDocument/2006/relationships/hyperlink" Target="https://alegrete-summit.github.io/clipe.html" TargetMode="External"/><Relationship Id="rId6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hyperlink" Target="https://mercadoeconsumo.com.br/29/09/2026/noticias-varejo/whatsapp-do-magalu-atrai-novos-consumidores-e-conversao-e-tres-vezes-maior-do-que-no-aplicativo/" TargetMode="External"/><Relationship Id="rId4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hyperlink" Target="https://www.futurefarming.com/crop-solutions/solinftec-expands-solix-fleet-after-85-average-chemical-reduction/" TargetMode="External"/><Relationship Id="rId4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gazetadopovo.com.br/agronegocio/nvidia-modelos-ia-agropecuaria-precisao/" TargetMode="External"/><Relationship Id="rId4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hyperlink" Target="https://alegrete-summit.github.io/casos-de-sucesso.html#cowmed" TargetMode="External"/><Relationship Id="rId5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23.jpg"/><Relationship Id="rId5" Type="http://schemas.openxmlformats.org/officeDocument/2006/relationships/hyperlink" Target="https://alegrete-summit.github.io/clipe.html" TargetMode="External"/><Relationship Id="rId6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jornaldocomercio.com/opiniao/2024/11/1180164-como-um-projeto-de-18-horas-ajudou-55-mil-pessoas-no-rs.html" TargetMode="External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hyperlink" Target="https://bia-unipampa.github.io" TargetMode="External"/><Relationship Id="rId4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hyperlink" Target="https://bia-unipampa.github.io/files/escolas-bia-v2.html" TargetMode="External"/><Relationship Id="rId5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hyperlink" Target="https://bia-unipampa.github.io/files/escolas-bia-v2.html#jogos" TargetMode="External"/><Relationship Id="rId5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hyperlink" Target="https://bia-unipampa.github.io/files/jogo-3d-barcos-ia-v1.html" TargetMode="External"/><Relationship Id="rId5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hyperlink" Target="https://alegrete-summit.github.io" TargetMode="External"/><Relationship Id="rId4" Type="http://schemas.openxmlformats.org/officeDocument/2006/relationships/image" Target="../media/image32.png"/><Relationship Id="rId5" Type="http://schemas.openxmlformats.org/officeDocument/2006/relationships/hyperlink" Target="https://talks4all.github.io" TargetMode="External"/><Relationship Id="rId6" Type="http://schemas.openxmlformats.org/officeDocument/2006/relationships/image" Target="../media/image33.png"/><Relationship Id="rId7" Type="http://schemas.openxmlformats.org/officeDocument/2006/relationships/hyperlink" Target="https://ai-horizon-labs.github.io" TargetMode="External"/><Relationship Id="rId8" Type="http://schemas.openxmlformats.org/officeDocument/2006/relationships/image" Target="../media/image25.png"/><Relationship Id="rId9" Type="http://schemas.openxmlformats.org/officeDocument/2006/relationships/hyperlink" Target="https://bia-unipampa.github.io" TargetMode="External"/><Relationship Id="rId10" Type="http://schemas.openxmlformats.org/officeDocument/2006/relationships/image" Target="../media/image2.png"/><Relationship Id="rId11" Type="http://schemas.openxmlformats.org/officeDocument/2006/relationships/image" Target="../media/image3.png"/><Relationship Id="rId12" Type="http://schemas.openxmlformats.org/officeDocument/2006/relationships/image" Target="../media/image4.png"/><Relationship Id="rId13" Type="http://schemas.openxmlformats.org/officeDocument/2006/relationships/image" Target="../media/image5.png"/><Relationship Id="rId14" Type="http://schemas.openxmlformats.org/officeDocument/2006/relationships/notesSlide" Target="../notesSlides/notesSlide5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EB4A2E"/>
                </a:solidFill>
                <a:latin typeface="Arial"/>
              </a:rPr>
              <a:t>ALEGRETE SUMMIT 2026  ·  INOVAR É CONSTRUIR PONTES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97280"/>
            <a:ext cx="813816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>
                <a:solidFill>
                  <a:srgbClr val="FFFFFF"/>
                </a:solidFill>
                <a:latin typeface="Arial"/>
              </a:rPr>
              <a:t>A IA acelera.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6600" b="1">
                <a:solidFill>
                  <a:srgbClr val="EB4A2E"/>
                </a:solidFill>
                <a:latin typeface="Arial"/>
              </a:rPr>
              <a:t>Quem constrói as pontes?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343400"/>
            <a:ext cx="81381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Prof. Dr. Diego Kreutz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2000" b="0">
                <a:solidFill>
                  <a:srgbClr val="B4B9C2"/>
                </a:solidFill>
                <a:latin typeface="Arial"/>
              </a:rPr>
              <a:t>29 e 30 de outubro de 2026  ·  Sicredi Essência, Alegrete/RS</a:t>
            </a:r>
          </a:p>
        </p:txBody>
      </p:sp>
      <p:pic>
        <p:nvPicPr>
          <p:cNvPr id="5" name="Picture 4" descr="qr_talks4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1234440"/>
            <a:ext cx="2194560" cy="2194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15400" y="352044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4B9C2"/>
                </a:solidFill>
                <a:latin typeface="Arial"/>
                <a:hlinkClick r:id="rId3"/>
              </a:rPr>
              <a:t>slides e materiais em</a:t>
            </a:r>
            <a:br/>
            <a:r>
              <a:rPr sz="1600" b="0">
                <a:solidFill>
                  <a:srgbClr val="B4B9C2"/>
                </a:solidFill>
                <a:latin typeface="Arial"/>
                <a:hlinkClick r:id="rId3"/>
              </a:rPr>
              <a:t>talks4all.github.io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669280"/>
            <a:ext cx="12191695" cy="11887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unipamp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888736"/>
            <a:ext cx="1202073" cy="749808"/>
          </a:xfrm>
          <a:prstGeom prst="rect">
            <a:avLst/>
          </a:prstGeom>
        </p:spPr>
      </p:pic>
      <p:pic>
        <p:nvPicPr>
          <p:cNvPr id="9" name="Picture 8" descr="logo_aihoriz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5494" y="5998464"/>
            <a:ext cx="2201967" cy="530352"/>
          </a:xfrm>
          <a:prstGeom prst="rect">
            <a:avLst/>
          </a:prstGeom>
        </p:spPr>
      </p:pic>
      <p:pic>
        <p:nvPicPr>
          <p:cNvPr id="10" name="Picture 9" descr="logo_ppg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3642" y="5888736"/>
            <a:ext cx="798708" cy="749808"/>
          </a:xfrm>
          <a:prstGeom prst="rect">
            <a:avLst/>
          </a:prstGeom>
        </p:spPr>
      </p:pic>
      <p:pic>
        <p:nvPicPr>
          <p:cNvPr id="11" name="Picture 10" descr="logo_bi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58532" y="6035040"/>
            <a:ext cx="1255922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7_site_summ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5540"/>
            <a:ext cx="5303520" cy="456691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1145540"/>
            <a:ext cx="5303520" cy="4566919"/>
          </a:xfrm>
          <a:prstGeom prst="rect">
            <a:avLst/>
          </a:prstGeom>
          <a:noFill/>
          <a:ln w="12700">
            <a:solidFill>
              <a:srgbClr val="2A2C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79" y="731520"/>
            <a:ext cx="5059375" cy="5120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Arial"/>
              </a:rPr>
              <a:t>Esta palestra tem um site.</a:t>
            </a:r>
          </a:p>
          <a:p>
            <a:pPr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</a:pPr>
            <a:r>
              <a:rPr sz="3000" b="0">
                <a:solidFill>
                  <a:srgbClr val="B4B9C2"/>
                </a:solidFill>
                <a:latin typeface="Arial"/>
              </a:rPr>
              <a:t>Casos, clipes, músicas, a fábula e um jogo. Tudo feito com IA.</a:t>
            </a:r>
          </a:p>
        </p:txBody>
      </p:sp>
      <p:pic>
        <p:nvPicPr>
          <p:cNvPr id="5" name="Picture 4" descr="qr_alegrete_summit_github_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79" y="4398010"/>
            <a:ext cx="1325880" cy="1325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59" y="4580890"/>
            <a:ext cx="3504895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EB4A2E"/>
                </a:solidFill>
                <a:latin typeface="Arial"/>
                <a:hlinkClick r:id="rId4"/>
              </a:rPr>
              <a:t>alegrete-summit.github.io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79" y="6276848"/>
            <a:ext cx="5059375" cy="233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4B9C2"/>
                </a:solidFill>
                <a:latin typeface="Arial"/>
                <a:hlinkClick r:id="rId4"/>
              </a:rPr>
              <a:t>Fonte: alegrete-summit.github.io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6_kaua_poster_6.60x7.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" y="0"/>
            <a:ext cx="603271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79" y="731520"/>
            <a:ext cx="5059375" cy="5120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Arial"/>
              </a:rPr>
              <a:t>A fábula de Kauã.</a:t>
            </a:r>
          </a:p>
          <a:p>
            <a:pPr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</a:pPr>
            <a:r>
              <a:rPr sz="3000" b="0">
                <a:solidFill>
                  <a:srgbClr val="B4B9C2"/>
                </a:solidFill>
                <a:latin typeface="Arial"/>
              </a:rPr>
              <a:t>Internet e IA democratizam o poder de criar. O problema local é o diferencial.</a:t>
            </a:r>
          </a:p>
        </p:txBody>
      </p:sp>
      <p:pic>
        <p:nvPicPr>
          <p:cNvPr id="4" name="Picture 3" descr="qr_alegrete_summit_github_io_fabula_kaua_htm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79" y="4398010"/>
            <a:ext cx="1325880" cy="1325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8159" y="4580890"/>
            <a:ext cx="3504895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EB4A2E"/>
                </a:solidFill>
                <a:latin typeface="Arial"/>
                <a:hlinkClick r:id="rId4"/>
              </a:rPr>
              <a:t>a fábula, o clipe</a:t>
            </a:r>
            <a:br/>
            <a:r>
              <a:rPr sz="2400" b="1">
                <a:solidFill>
                  <a:srgbClr val="EB4A2E"/>
                </a:solidFill>
                <a:latin typeface="Arial"/>
                <a:hlinkClick r:id="rId4"/>
              </a:rPr>
              <a:t>e um jogo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79" y="6043168"/>
            <a:ext cx="5059375" cy="467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4B9C2"/>
                </a:solidFill>
                <a:latin typeface="Arial"/>
                <a:hlinkClick r:id="rId4"/>
              </a:rPr>
              <a:t>Fábula com personagem e produto fictícios  ·  site do Alegrete Summit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822960"/>
            <a:ext cx="7863840" cy="4937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>
                <a:solidFill>
                  <a:srgbClr val="FFFFFF"/>
                </a:solidFill>
                <a:latin typeface="Arial"/>
              </a:rPr>
              <a:t>A música que tocou quando vocês entraram</a:t>
            </a:r>
          </a:p>
          <a:p>
            <a:pPr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</a:pPr>
            <a:r>
              <a:rPr sz="6400" b="1">
                <a:solidFill>
                  <a:srgbClr val="EB4A2E"/>
                </a:solidFill>
                <a:latin typeface="Arial"/>
              </a:rPr>
              <a:t>foi feita com IA.</a:t>
            </a:r>
          </a:p>
        </p:txBody>
      </p:sp>
      <p:pic>
        <p:nvPicPr>
          <p:cNvPr id="3" name="Picture 2" descr="qr_musica_summit_v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1737360"/>
            <a:ext cx="2286000" cy="228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41080" y="416052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B4A2E"/>
                </a:solidFill>
                <a:latin typeface="Arial"/>
                <a:hlinkClick r:id="rId3"/>
              </a:rPr>
              <a:t>Alegrete Summit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800" b="0">
                <a:solidFill>
                  <a:srgbClr val="B4B9C2"/>
                </a:solidFill>
                <a:latin typeface="Arial"/>
              </a:rPr>
              <a:t>versão 4, a favorita</a:t>
            </a:r>
            <a:br/>
            <a:r>
              <a:rPr sz="1800" b="0">
                <a:solidFill>
                  <a:srgbClr val="B4B9C2"/>
                </a:solidFill>
                <a:latin typeface="Arial"/>
              </a:rPr>
              <a:t>no site do Summit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7_music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92662"/>
            <a:ext cx="5303520" cy="307267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1892662"/>
            <a:ext cx="5303520" cy="3072674"/>
          </a:xfrm>
          <a:prstGeom prst="rect">
            <a:avLst/>
          </a:prstGeom>
          <a:noFill/>
          <a:ln w="12700">
            <a:solidFill>
              <a:srgbClr val="2A2C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79" y="731520"/>
            <a:ext cx="5059375" cy="5120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Arial"/>
              </a:rPr>
              <a:t>12 versões.</a:t>
            </a:r>
          </a:p>
          <a:p>
            <a:pPr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</a:pPr>
            <a:r>
              <a:rPr sz="3000" b="0">
                <a:solidFill>
                  <a:srgbClr val="B4B9C2"/>
                </a:solidFill>
                <a:latin typeface="Arial"/>
              </a:rPr>
              <a:t>A música do Summit em três estilos. A versão 4 é a favorita.</a:t>
            </a:r>
          </a:p>
        </p:txBody>
      </p:sp>
      <p:pic>
        <p:nvPicPr>
          <p:cNvPr id="5" name="Picture 4" descr="qr_musica_summit_v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79" y="3521710"/>
            <a:ext cx="1325880" cy="1325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59" y="3704590"/>
            <a:ext cx="3504895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EB4A2E"/>
                </a:solidFill>
                <a:latin typeface="Arial"/>
                <a:hlinkClick r:id="rId4"/>
              </a:rPr>
              <a:t>ouça a versão 4</a:t>
            </a:r>
            <a:br/>
            <a:r>
              <a:rPr sz="2400" b="1">
                <a:solidFill>
                  <a:srgbClr val="EB4A2E"/>
                </a:solidFill>
                <a:latin typeface="Arial"/>
                <a:hlinkClick r:id="rId4"/>
              </a:rPr>
              <a:t>no celular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79" y="6276848"/>
            <a:ext cx="5059375" cy="233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4B9C2"/>
                </a:solidFill>
                <a:latin typeface="Arial"/>
                <a:hlinkClick r:id="rId4"/>
              </a:rPr>
              <a:t>Fonte: alegrete-summit.github.io/musicas.html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-822960"/>
            <a:ext cx="4572000" cy="786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0" b="1">
                <a:solidFill>
                  <a:srgbClr val="1F2024"/>
                </a:solidFill>
                <a:latin typeface="Arial"/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B4A2E"/>
                </a:solidFill>
                <a:latin typeface="Arial"/>
              </a:rPr>
              <a:t>PERGUNTA 1  ·  PARA A SALA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088575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>
                <a:solidFill>
                  <a:srgbClr val="FFFFFF"/>
                </a:solidFill>
                <a:latin typeface="Arial"/>
              </a:rPr>
              <a:t>Quem aqui usou IA nesta semana?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074920"/>
            <a:ext cx="1008857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B4B9C2"/>
                </a:solidFill>
                <a:latin typeface="Arial"/>
              </a:rPr>
              <a:t>Levante a mão.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-822960"/>
            <a:ext cx="4572000" cy="786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0" b="1">
                <a:solidFill>
                  <a:srgbClr val="1F2024"/>
                </a:solidFill>
                <a:latin typeface="Arial"/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B4A2E"/>
                </a:solidFill>
                <a:latin typeface="Arial"/>
              </a:rPr>
              <a:t>PERGUNTA 2  ·  PARA A SALA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088575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>
                <a:solidFill>
                  <a:srgbClr val="FFFFFF"/>
                </a:solidFill>
                <a:latin typeface="Arial"/>
              </a:rPr>
              <a:t>E quem usou para algo que trouxe cliente ou dinheiro?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074920"/>
            <a:ext cx="1008857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B4B9C2"/>
                </a:solidFill>
                <a:latin typeface="Arial"/>
              </a:rPr>
              <a:t>Mantenha a mão no ar só se a resposta for sim.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85800"/>
            <a:ext cx="91440" cy="3291840"/>
          </a:xfrm>
          <a:prstGeom prst="rect">
            <a:avLst/>
          </a:prstGeom>
          <a:solidFill>
            <a:srgbClr val="EB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548640"/>
            <a:ext cx="4587087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0" b="1">
                <a:solidFill>
                  <a:srgbClr val="EB4A2E"/>
                </a:solidFill>
                <a:latin typeface="Arial"/>
              </a:rPr>
              <a:t>51%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3000" b="0">
                <a:solidFill>
                  <a:srgbClr val="B4B9C2"/>
                </a:solidFill>
                <a:latin typeface="Arial"/>
              </a:rPr>
              <a:t>dos donos de pequenos negócios já usaram ChatGPT, Gemini e afins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15887" y="685800"/>
            <a:ext cx="9144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27367" y="548640"/>
            <a:ext cx="4587087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0" b="1">
                <a:solidFill>
                  <a:srgbClr val="FFFFFF"/>
                </a:solidFill>
                <a:latin typeface="Arial"/>
              </a:rPr>
              <a:t>30%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3000" b="0">
                <a:solidFill>
                  <a:srgbClr val="B4B9C2"/>
                </a:solidFill>
                <a:latin typeface="Arial"/>
              </a:rPr>
              <a:t>já usaram IA para vender ou atender clientes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572000"/>
            <a:ext cx="1063721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EB4A2E"/>
                </a:solidFill>
                <a:latin typeface="Arial"/>
              </a:rPr>
              <a:t>As mãos de vocês contaram a mesma história.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6848"/>
            <a:ext cx="10637215" cy="233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4B9C2"/>
                </a:solidFill>
                <a:latin typeface="Arial"/>
              </a:rPr>
              <a:t>Sebrae, Transformação Digital nos Pequenos Negócios, 2025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822960"/>
            <a:ext cx="10637215" cy="4937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>
                <a:solidFill>
                  <a:srgbClr val="FFFFFF"/>
                </a:solidFill>
                <a:latin typeface="Arial"/>
              </a:rPr>
              <a:t>Usar ficou fácil.</a:t>
            </a:r>
          </a:p>
          <a:p>
            <a:pPr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</a:pPr>
            <a:r>
              <a:rPr sz="7200" b="1">
                <a:solidFill>
                  <a:srgbClr val="EB4A2E"/>
                </a:solidFill>
                <a:latin typeface="Arial"/>
              </a:rPr>
              <a:t>Transformar em valor, não.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822960"/>
            <a:ext cx="10637215" cy="4937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>
                <a:solidFill>
                  <a:srgbClr val="FFFFFF"/>
                </a:solidFill>
                <a:latin typeface="Arial"/>
              </a:rPr>
              <a:t>Israel, 2025.</a:t>
            </a:r>
          </a:p>
          <a:p>
            <a:pPr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</a:pPr>
            <a:r>
              <a:rPr sz="7200" b="1">
                <a:solidFill>
                  <a:srgbClr val="EB4A2E"/>
                </a:solidFill>
                <a:latin typeface="Arial"/>
              </a:rPr>
              <a:t>Um programador. Sozinho. Um projeto paralelo.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m_base44_6.60x7.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3"/>
            <a:ext cx="6035040" cy="685461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79" y="731520"/>
            <a:ext cx="5059375" cy="5120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Arial"/>
              </a:rPr>
              <a:t>Seis meses depois: US$ 80 milhões.</a:t>
            </a:r>
          </a:p>
          <a:p>
            <a:pPr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</a:pPr>
            <a:r>
              <a:rPr sz="3000" b="0">
                <a:solidFill>
                  <a:srgbClr val="B4B9C2"/>
                </a:solidFill>
                <a:latin typeface="Arial"/>
              </a:rPr>
              <a:t>A Wix comprou a Base44 à vista, em junho de 2025.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79" y="6276848"/>
            <a:ext cx="5059375" cy="233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4B9C2"/>
                </a:solidFill>
                <a:latin typeface="Arial"/>
                <a:hlinkClick r:id="rId3"/>
              </a:rPr>
              <a:t>Fonte: Globes, 2025  ·  Imagem: Calcalist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822960"/>
            <a:ext cx="10637215" cy="4937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>
                <a:solidFill>
                  <a:srgbClr val="FFFFFF"/>
                </a:solidFill>
                <a:latin typeface="Arial"/>
              </a:rPr>
              <a:t>Construir ficou barato.</a:t>
            </a:r>
          </a:p>
          <a:p>
            <a:pPr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</a:pPr>
            <a:r>
              <a:rPr sz="7200" b="1">
                <a:solidFill>
                  <a:srgbClr val="EB4A2E"/>
                </a:solidFill>
                <a:latin typeface="Arial"/>
              </a:rPr>
              <a:t>Então, o que ficou caro?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73736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B4A2E"/>
                </a:solidFill>
                <a:latin typeface="Arial"/>
              </a:rPr>
              <a:t>ATO 1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331720"/>
            <a:ext cx="1097280" cy="73152"/>
          </a:xfrm>
          <a:prstGeom prst="rect">
            <a:avLst/>
          </a:prstGeom>
          <a:solidFill>
            <a:srgbClr val="EB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606040"/>
            <a:ext cx="1063721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0" b="1">
                <a:solidFill>
                  <a:srgbClr val="FFFFFF"/>
                </a:solidFill>
                <a:latin typeface="Arial"/>
              </a:rPr>
              <a:t>A velocidade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206240"/>
            <a:ext cx="1063721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B4B9C2"/>
                </a:solidFill>
                <a:latin typeface="Arial"/>
              </a:rPr>
              <a:t>Nenhuma tecnologia chegou tão rápido.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0" b="1">
                <a:solidFill>
                  <a:srgbClr val="EB4A2E"/>
                </a:solidFill>
                <a:latin typeface="Arial"/>
              </a:rPr>
              <a:t>53%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063240"/>
            <a:ext cx="1063721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Arial"/>
              </a:rPr>
              <a:t>de adoção da IA generativa em três anos.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663440"/>
            <a:ext cx="1063721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B4B9C2"/>
                </a:solidFill>
                <a:latin typeface="Arial"/>
              </a:rPr>
              <a:t>Mais rápido que o computador pessoal e a internet.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76848"/>
            <a:ext cx="10637215" cy="233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4B9C2"/>
                </a:solidFill>
                <a:latin typeface="Arial"/>
              </a:rPr>
              <a:t>Stanford AI Index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85800"/>
            <a:ext cx="91440" cy="3291840"/>
          </a:xfrm>
          <a:prstGeom prst="rect">
            <a:avLst/>
          </a:prstGeom>
          <a:solidFill>
            <a:srgbClr val="EB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548640"/>
            <a:ext cx="4587087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0" b="1">
                <a:solidFill>
                  <a:srgbClr val="EB4A2E"/>
                </a:solidFill>
                <a:latin typeface="Arial"/>
              </a:rPr>
              <a:t>88%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3000" b="0">
                <a:solidFill>
                  <a:srgbClr val="B4B9C2"/>
                </a:solidFill>
                <a:latin typeface="Arial"/>
              </a:rPr>
              <a:t>das empresas usam IA em alguma função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15887" y="685800"/>
            <a:ext cx="9144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27367" y="548640"/>
            <a:ext cx="4587087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0" b="1">
                <a:solidFill>
                  <a:srgbClr val="FFFFFF"/>
                </a:solidFill>
                <a:latin typeface="Arial"/>
              </a:rPr>
              <a:t>39%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3000" b="0">
                <a:solidFill>
                  <a:srgbClr val="B4B9C2"/>
                </a:solidFill>
                <a:latin typeface="Arial"/>
              </a:rPr>
              <a:t>veem algum efeito no lucro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572000"/>
            <a:ext cx="1063721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EB4A2E"/>
                </a:solidFill>
                <a:latin typeface="Arial"/>
              </a:rPr>
              <a:t>A vantagem não é ter IA. É saber aplicar.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6848"/>
            <a:ext cx="10637215" cy="233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4B9C2"/>
                </a:solidFill>
                <a:latin typeface="Arial"/>
              </a:rPr>
              <a:t>McKinsey, The State of AI, 2025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73736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B4A2E"/>
                </a:solidFill>
                <a:latin typeface="Arial"/>
              </a:rPr>
              <a:t>ATO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331720"/>
            <a:ext cx="1097280" cy="73152"/>
          </a:xfrm>
          <a:prstGeom prst="rect">
            <a:avLst/>
          </a:prstGeom>
          <a:solidFill>
            <a:srgbClr val="EB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606040"/>
            <a:ext cx="1063721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>
                <a:solidFill>
                  <a:srgbClr val="FFFFFF"/>
                </a:solidFill>
                <a:latin typeface="Arial"/>
              </a:rPr>
              <a:t>O que já dá para construir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206240"/>
            <a:ext cx="1063721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B4B9C2"/>
                </a:solidFill>
                <a:latin typeface="Arial"/>
              </a:rPr>
              <a:t>Muita receita, pouca gente. E coisas feitas aqui.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-822960"/>
            <a:ext cx="4572000" cy="786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0" b="1">
                <a:solidFill>
                  <a:srgbClr val="1F2024"/>
                </a:solidFill>
                <a:latin typeface="Arial"/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B4A2E"/>
                </a:solidFill>
                <a:latin typeface="Arial"/>
              </a:rPr>
              <a:t>PERGUNTA 3  ·  PARA A SALA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088575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FFFFFF"/>
                </a:solidFill>
                <a:latin typeface="Arial"/>
              </a:rPr>
              <a:t>De quantas pessoas precisa uma empresa que fatura US$ 400 milhões por ano?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074920"/>
            <a:ext cx="1008857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B4B9C2"/>
                </a:solidFill>
                <a:latin typeface="Arial"/>
              </a:rPr>
              <a:t>Pense numa empresa de software tradicional.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5_lovable_6.60x7.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3504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79" y="731520"/>
            <a:ext cx="5059375" cy="5120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Arial"/>
              </a:rPr>
              <a:t>146 pessoas.</a:t>
            </a:r>
          </a:p>
          <a:p>
            <a:pPr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</a:pPr>
            <a:r>
              <a:rPr sz="3000" b="0">
                <a:solidFill>
                  <a:srgbClr val="B4B9C2"/>
                </a:solidFill>
                <a:latin typeface="Arial"/>
              </a:rPr>
              <a:t>Lovable, Suécia: ritmo de US$ 400 milhões por ano em vendas, em fevereiro de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79" y="6043168"/>
            <a:ext cx="5059375" cy="467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4B9C2"/>
                </a:solidFill>
                <a:latin typeface="Arial"/>
                <a:hlinkClick r:id="rId3"/>
              </a:rPr>
              <a:t>Fonte: TechCrunch, 2026  ·  Imagem: TechCrunch / Getty Images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5_tractian_6.60x7.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3504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79" y="731520"/>
            <a:ext cx="5059375" cy="5120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Arial"/>
              </a:rPr>
              <a:t>Feito no Brasil.</a:t>
            </a:r>
          </a:p>
          <a:p>
            <a:pPr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</a:pPr>
            <a:r>
              <a:rPr sz="3000" b="0">
                <a:solidFill>
                  <a:srgbClr val="B4B9C2"/>
                </a:solidFill>
                <a:latin typeface="Arial"/>
              </a:rPr>
              <a:t>Tractian: sensores e IA avisam antes de a máquina quebrar. Passou a valer mais de US$ 1 bilhão na semana passada.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79" y="6043168"/>
            <a:ext cx="5059375" cy="467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4B9C2"/>
                </a:solidFill>
                <a:latin typeface="Arial"/>
                <a:hlinkClick r:id="rId3"/>
              </a:rPr>
              <a:t>Fonte: Bloomberg Línea, 2026  ·  Imagem: Bloomberg Línea / Tractian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822960"/>
            <a:ext cx="5333695" cy="4937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Arial"/>
              </a:rPr>
              <a:t>O clipe de chamada deste Summit.</a:t>
            </a:r>
          </a:p>
          <a:p>
            <a:pPr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</a:pPr>
            <a:r>
              <a:rPr sz="4400" b="1">
                <a:solidFill>
                  <a:srgbClr val="EB4A2E"/>
                </a:solidFill>
                <a:latin typeface="Arial"/>
              </a:rPr>
              <a:t>Feito com IA. Narração com voz sintética.</a:t>
            </a:r>
          </a:p>
        </p:txBody>
      </p:sp>
      <p:pic>
        <p:nvPicPr>
          <p:cNvPr id="3" name="alegrete-summit-2026-narrado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659575" y="457200"/>
            <a:ext cx="4754880" cy="59436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659575" y="457200"/>
            <a:ext cx="4754880" cy="5943600"/>
          </a:xfrm>
          <a:prstGeom prst="rect">
            <a:avLst/>
          </a:prstGeom>
          <a:noFill/>
          <a:ln w="12700">
            <a:solidFill>
              <a:srgbClr val="2A2C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76848"/>
            <a:ext cx="5333695" cy="233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4B9C2"/>
                </a:solidFill>
                <a:latin typeface="Arial"/>
                <a:hlinkClick r:id="rId5"/>
              </a:rPr>
              <a:t>50 s  ·  alegrete-summit.github.io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5_alegrete_or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71650"/>
            <a:ext cx="5303520" cy="331469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1771650"/>
            <a:ext cx="5303520" cy="3314699"/>
          </a:xfrm>
          <a:prstGeom prst="rect">
            <a:avLst/>
          </a:prstGeom>
          <a:noFill/>
          <a:ln w="12700">
            <a:solidFill>
              <a:srgbClr val="2A2C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79" y="731520"/>
            <a:ext cx="5059375" cy="5120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Arial"/>
              </a:rPr>
              <a:t>Uma cidade num site.</a:t>
            </a:r>
          </a:p>
          <a:p>
            <a:pPr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</a:pPr>
            <a:r>
              <a:rPr sz="3000" b="0">
                <a:solidFill>
                  <a:srgbClr val="B4B9C2"/>
                </a:solidFill>
                <a:latin typeface="Arial"/>
              </a:rPr>
              <a:t>alegrete.org: atrativos, história, sabores e eventos, organizados com 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79" y="6276848"/>
            <a:ext cx="5059375" cy="233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4B9C2"/>
                </a:solidFill>
                <a:latin typeface="Arial"/>
                <a:hlinkClick r:id="rId3"/>
              </a:rPr>
              <a:t>Fonte: alegrete.org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73736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B4A2E"/>
                </a:solidFill>
                <a:latin typeface="Arial"/>
              </a:rPr>
              <a:t>ATO 3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331720"/>
            <a:ext cx="1097280" cy="73152"/>
          </a:xfrm>
          <a:prstGeom prst="rect">
            <a:avLst/>
          </a:prstGeom>
          <a:solidFill>
            <a:srgbClr val="EB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606040"/>
            <a:ext cx="1063721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A diferença está em quem usa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206240"/>
            <a:ext cx="1063721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B4B9C2"/>
                </a:solidFill>
                <a:latin typeface="Arial"/>
              </a:rPr>
              <a:t>A mesma ferramenta, resultados muito diferentes.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-822960"/>
            <a:ext cx="4572000" cy="786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0" b="1">
                <a:solidFill>
                  <a:srgbClr val="1F2024"/>
                </a:solidFill>
                <a:latin typeface="Arial"/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B4A2E"/>
                </a:solidFill>
                <a:latin typeface="Arial"/>
              </a:rPr>
              <a:t>PERGUNTA 4  ·  PARA A SALA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088575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>
                <a:solidFill>
                  <a:srgbClr val="FFFFFF"/>
                </a:solidFill>
                <a:latin typeface="Arial"/>
              </a:rPr>
              <a:t>A IA deixa todo mundo mais produtivo?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074920"/>
            <a:ext cx="1008857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B4B9C2"/>
                </a:solidFill>
                <a:latin typeface="Arial"/>
              </a:rPr>
              <a:t>Sim ou não?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85800"/>
            <a:ext cx="91440" cy="3291840"/>
          </a:xfrm>
          <a:prstGeom prst="rect">
            <a:avLst/>
          </a:prstGeom>
          <a:solidFill>
            <a:srgbClr val="EB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548640"/>
            <a:ext cx="4587087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0" b="1">
                <a:solidFill>
                  <a:srgbClr val="EB4A2E"/>
                </a:solidFill>
                <a:latin typeface="Arial"/>
              </a:rPr>
              <a:t>+34%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3000" b="0">
                <a:solidFill>
                  <a:srgbClr val="B4B9C2"/>
                </a:solidFill>
                <a:latin typeface="Arial"/>
              </a:rPr>
              <a:t>de produtividade para atendentes novatos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15887" y="685800"/>
            <a:ext cx="9144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27367" y="548640"/>
            <a:ext cx="4587087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0" b="1">
                <a:solidFill>
                  <a:srgbClr val="FFFFFF"/>
                </a:solidFill>
                <a:latin typeface="Arial"/>
              </a:rPr>
              <a:t>19%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3000" b="0">
                <a:solidFill>
                  <a:srgbClr val="B4B9C2"/>
                </a:solidFill>
                <a:latin typeface="Arial"/>
              </a:rPr>
              <a:t>mais lentos: programadores experientes, achando que estavam 20% mais rápidos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572000"/>
            <a:ext cx="1063721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EB4A2E"/>
                </a:solidFill>
                <a:latin typeface="Arial"/>
              </a:rPr>
              <a:t>Depende de quem usa, e para quê.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6848"/>
            <a:ext cx="10637215" cy="233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4B9C2"/>
                </a:solidFill>
                <a:latin typeface="Arial"/>
              </a:rPr>
              <a:t>NBER, 2023  ·  METR, 2025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-822960"/>
            <a:ext cx="4572000" cy="786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0" b="1">
                <a:solidFill>
                  <a:srgbClr val="1F2024"/>
                </a:solidFill>
                <a:latin typeface="Arial"/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B4A2E"/>
                </a:solidFill>
                <a:latin typeface="Arial"/>
              </a:rPr>
              <a:t>PERGUNTA 5  ·  IOTEDU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088575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FFFFFF"/>
                </a:solidFill>
                <a:latin typeface="Arial"/>
              </a:rPr>
              <a:t>Seis alunos ótimos levaram sete dias numa tarefa. Quanto tempo leva um aluno só, usando IA em alto nível?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074920"/>
            <a:ext cx="1008857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B4B9C2"/>
                </a:solidFill>
                <a:latin typeface="Arial"/>
              </a:rPr>
              <a:t>Um caso real, de poucos meses atrás, num projeto que eu coordeno.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85800"/>
            <a:ext cx="91440" cy="3291840"/>
          </a:xfrm>
          <a:prstGeom prst="rect">
            <a:avLst/>
          </a:prstGeom>
          <a:solidFill>
            <a:srgbClr val="EB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548640"/>
            <a:ext cx="4587087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0" b="1">
                <a:solidFill>
                  <a:srgbClr val="EB4A2E"/>
                </a:solidFill>
                <a:latin typeface="Arial"/>
              </a:rPr>
              <a:t>7 dias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3000" b="0">
                <a:solidFill>
                  <a:srgbClr val="B4B9C2"/>
                </a:solidFill>
                <a:latin typeface="Arial"/>
              </a:rPr>
              <a:t>6 alunos: 2 graduandos, 3 mestrandos e 1 mestre. Cerca de 256 horas de trabalho somadas.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15887" y="685800"/>
            <a:ext cx="9144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27367" y="548640"/>
            <a:ext cx="4587087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0" b="1">
                <a:solidFill>
                  <a:srgbClr val="FFFFFF"/>
                </a:solidFill>
                <a:latin typeface="Arial"/>
              </a:rPr>
              <a:t>2 horas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3000" b="0">
                <a:solidFill>
                  <a:srgbClr val="B4B9C2"/>
                </a:solidFill>
                <a:latin typeface="Arial"/>
              </a:rPr>
              <a:t>1 aluno de graduação, o reserva da equipe, usando IA em alto nível.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572000"/>
            <a:ext cx="1063721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EB4A2E"/>
                </a:solidFill>
                <a:latin typeface="Arial"/>
              </a:rPr>
              <a:t>O reserva entregou mais, e melhor, que os seis.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6848"/>
            <a:ext cx="10637215" cy="233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4B9C2"/>
                </a:solidFill>
                <a:latin typeface="Arial"/>
                <a:hlinkClick r:id="rId2"/>
              </a:rPr>
              <a:t>IoTEdu, projeto nacional de inovação  ·  iotedu.org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7894015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0" b="1">
                <a:solidFill>
                  <a:srgbClr val="EB4A2E"/>
                </a:solidFill>
                <a:latin typeface="Arial"/>
              </a:rPr>
              <a:t>128×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063240"/>
            <a:ext cx="789401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Arial"/>
              </a:rPr>
              <a:t>menos horas para entregar mais.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663440"/>
            <a:ext cx="789401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B4B9C2"/>
                </a:solidFill>
                <a:latin typeface="Arial"/>
              </a:rPr>
              <a:t>Não é o dobro. São 256 horas de trabalho contra 2.</a:t>
            </a:r>
          </a:p>
        </p:txBody>
      </p:sp>
      <p:pic>
        <p:nvPicPr>
          <p:cNvPr id="5" name="Picture 4" descr="qr_iotedu_or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1335" y="822960"/>
            <a:ext cx="2103120" cy="2103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91295" y="30632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B4A2E"/>
                </a:solidFill>
                <a:latin typeface="Arial"/>
                <a:hlinkClick r:id="rId3"/>
              </a:rPr>
              <a:t>iotedu.org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6848"/>
            <a:ext cx="10637215" cy="233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4B9C2"/>
                </a:solidFill>
                <a:latin typeface="Arial"/>
                <a:hlinkClick r:id="rId3"/>
              </a:rPr>
              <a:t>IoTEdu, projeto nacional de inovação  ·  iotedu.org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822960"/>
            <a:ext cx="10637215" cy="3840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>
                <a:solidFill>
                  <a:srgbClr val="FFFFFF"/>
                </a:solidFill>
                <a:latin typeface="Arial"/>
              </a:rPr>
              <a:t>A IA não nivela.</a:t>
            </a:r>
          </a:p>
          <a:p>
            <a:pPr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</a:pPr>
            <a:r>
              <a:rPr sz="7200" b="1">
                <a:solidFill>
                  <a:srgbClr val="EB4A2E"/>
                </a:solidFill>
                <a:latin typeface="Arial"/>
              </a:rPr>
              <a:t>Ela amplia a diferença.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4892040"/>
            <a:ext cx="1063721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B4B9C2"/>
                </a:solidFill>
                <a:latin typeface="Arial"/>
              </a:rPr>
              <a:t>Experiência em problemas reais + IA em alto nível = uma velocidade sem precedente.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3152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B4A2E"/>
                </a:solidFill>
                <a:latin typeface="Arial"/>
              </a:rPr>
              <a:t>PARA PENSAR  ·  EMPRESAS E UNIVERSIDADES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36192"/>
            <a:ext cx="91440" cy="1905761"/>
          </a:xfrm>
          <a:prstGeom prst="rect">
            <a:avLst/>
          </a:prstGeom>
          <a:solidFill>
            <a:srgbClr val="EB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1463040"/>
            <a:ext cx="10180015" cy="2015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Arial"/>
              </a:rPr>
              <a:t>A sua empresa proíbe júnior de usar IA? Para onde vão os melhores?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100322"/>
            <a:ext cx="91440" cy="1905761"/>
          </a:xfrm>
          <a:prstGeom prst="rect">
            <a:avLst/>
          </a:prstGeom>
          <a:solidFill>
            <a:srgbClr val="EB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4027170"/>
            <a:ext cx="10180015" cy="2015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Arial"/>
              </a:rPr>
              <a:t>A sua avaliação separa quem usa IA superficialmente de quem usa IA em alto nível?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0" b="1">
                <a:solidFill>
                  <a:srgbClr val="EB4A2E"/>
                </a:solidFill>
                <a:latin typeface="Arial"/>
              </a:rPr>
              <a:t>19 perguntas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063240"/>
            <a:ext cx="1063721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Arial"/>
              </a:rPr>
              <a:t>antes de sugerir qualquer coisa.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663440"/>
            <a:ext cx="1063721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B4B9C2"/>
                </a:solidFill>
                <a:latin typeface="Arial"/>
              </a:rPr>
              <a:t>Eu pedi: “antes de sugerir, me faça as perguntas que você precisa”. Respondi em quatro linhas.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822960"/>
            <a:ext cx="10637215" cy="4937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>
                <a:solidFill>
                  <a:srgbClr val="FFFFFF"/>
                </a:solidFill>
                <a:latin typeface="Arial"/>
              </a:rPr>
              <a:t>Mas a mesma alavanca</a:t>
            </a:r>
          </a:p>
          <a:p>
            <a:pPr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</a:pPr>
            <a:r>
              <a:rPr sz="7200" b="1">
                <a:solidFill>
                  <a:srgbClr val="EB4A2E"/>
                </a:solidFill>
                <a:latin typeface="Arial"/>
              </a:rPr>
              <a:t>está na mão do seu concorrente.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73736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B4A2E"/>
                </a:solidFill>
                <a:latin typeface="Arial"/>
              </a:rPr>
              <a:t>ATO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331720"/>
            <a:ext cx="1097280" cy="73152"/>
          </a:xfrm>
          <a:prstGeom prst="rect">
            <a:avLst/>
          </a:prstGeom>
          <a:solidFill>
            <a:srgbClr val="EB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606040"/>
            <a:ext cx="1063721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0" b="1">
                <a:solidFill>
                  <a:srgbClr val="FFFFFF"/>
                </a:solidFill>
                <a:latin typeface="Arial"/>
              </a:rPr>
              <a:t>Onde ela engana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206240"/>
            <a:ext cx="1063721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B4B9C2"/>
                </a:solidFill>
                <a:latin typeface="Arial"/>
              </a:rPr>
              <a:t>Ninguém deveria sair daqui achando que a IA só acerta.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5_padar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71650"/>
            <a:ext cx="5303520" cy="331469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1771650"/>
            <a:ext cx="5303520" cy="3314699"/>
          </a:xfrm>
          <a:prstGeom prst="rect">
            <a:avLst/>
          </a:prstGeom>
          <a:noFill/>
          <a:ln w="12700">
            <a:solidFill>
              <a:srgbClr val="2A2C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79" y="731520"/>
            <a:ext cx="5059375" cy="5120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Arial"/>
              </a:rPr>
              <a:t>Bonito. E não funcionava.</a:t>
            </a:r>
          </a:p>
          <a:p>
            <a:pPr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</a:pPr>
            <a:r>
              <a:rPr sz="3000" b="0">
                <a:solidFill>
                  <a:srgbClr val="B4B9C2"/>
                </a:solidFill>
                <a:latin typeface="Arial"/>
              </a:rPr>
              <a:t>Sem a cidade, sem WhatsApp, e o formulário não enviava nada. Ela avisou, lá no fim.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79" y="6276848"/>
            <a:ext cx="5059375" cy="233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4B9C2"/>
                </a:solidFill>
                <a:latin typeface="Arial"/>
              </a:rPr>
              <a:t>Fonte: pedido real ao Claude Sonnet, 19/10/2026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822960"/>
            <a:ext cx="10637215" cy="4937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>
                <a:solidFill>
                  <a:srgbClr val="FFFFFF"/>
                </a:solidFill>
                <a:latin typeface="Arial"/>
              </a:rPr>
              <a:t>A IA não erra com cara de erro.</a:t>
            </a:r>
          </a:p>
          <a:p>
            <a:pPr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</a:pPr>
            <a:r>
              <a:rPr sz="7200" b="1">
                <a:solidFill>
                  <a:srgbClr val="EB4A2E"/>
                </a:solidFill>
                <a:latin typeface="Arial"/>
              </a:rPr>
              <a:t>Erra com cara de resposta pronta.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40080"/>
            <a:ext cx="91440" cy="729996"/>
          </a:xfrm>
          <a:prstGeom prst="rect">
            <a:avLst/>
          </a:prstGeom>
          <a:solidFill>
            <a:srgbClr val="EB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548640"/>
            <a:ext cx="10225735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Um agente de IA apagou o banco de dados de um cliente.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882140"/>
            <a:ext cx="91440" cy="291846"/>
          </a:xfrm>
          <a:prstGeom prst="rect">
            <a:avLst/>
          </a:prstGeom>
          <a:solidFill>
            <a:srgbClr val="EB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790700"/>
            <a:ext cx="1022573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170 apps feitos com IA expunham dados de usuários.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686050"/>
            <a:ext cx="91440" cy="729996"/>
          </a:xfrm>
          <a:prstGeom prst="rect">
            <a:avLst/>
          </a:prstGeom>
          <a:solidFill>
            <a:srgbClr val="EB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594610"/>
            <a:ext cx="10225735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Uma companhia aérea foi condenada pelo que o chatbot prometeu.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928110"/>
            <a:ext cx="91440" cy="729996"/>
          </a:xfrm>
          <a:prstGeom prst="rect">
            <a:avLst/>
          </a:prstGeom>
          <a:solidFill>
            <a:srgbClr val="EB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836670"/>
            <a:ext cx="10225735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Um advogado foi a um tribunal com jurisprudência inventada.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353050"/>
            <a:ext cx="10637215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B4A2E"/>
                </a:solidFill>
                <a:latin typeface="Arial"/>
              </a:rPr>
              <a:t>Velocidade sem conferência vira prejuízo.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-822960"/>
            <a:ext cx="4572000" cy="786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0" b="1">
                <a:solidFill>
                  <a:srgbClr val="1F2024"/>
                </a:solidFill>
                <a:latin typeface="Arial"/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B4A2E"/>
                </a:solidFill>
                <a:latin typeface="Arial"/>
              </a:rPr>
              <a:t>PERGUNTA 6  ·  TODO MUNDO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088575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>
                <a:solidFill>
                  <a:srgbClr val="FFFFFF"/>
                </a:solidFill>
                <a:latin typeface="Arial"/>
              </a:rPr>
              <a:t>No seu projeto, quem confere o que a IA entrega?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074920"/>
            <a:ext cx="1008857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B4B9C2"/>
                </a:solidFill>
                <a:latin typeface="Arial"/>
              </a:rPr>
              <a:t>Tem nome e sobrenome?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73736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B4A2E"/>
                </a:solidFill>
                <a:latin typeface="Arial"/>
              </a:rPr>
              <a:t>ATO 5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331720"/>
            <a:ext cx="1097280" cy="73152"/>
          </a:xfrm>
          <a:prstGeom prst="rect">
            <a:avLst/>
          </a:prstGeom>
          <a:solidFill>
            <a:srgbClr val="EB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606040"/>
            <a:ext cx="1063721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0" b="1">
                <a:solidFill>
                  <a:srgbClr val="FFFFFF"/>
                </a:solidFill>
                <a:latin typeface="Arial"/>
              </a:rPr>
              <a:t>As pontes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206240"/>
            <a:ext cx="1063721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B4B9C2"/>
                </a:solidFill>
                <a:latin typeface="Arial"/>
              </a:rPr>
              <a:t>O que ficou caro, e o que a IA não constrói sozinha.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822960"/>
            <a:ext cx="10637215" cy="4937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>
                <a:solidFill>
                  <a:srgbClr val="FFFFFF"/>
                </a:solidFill>
                <a:latin typeface="Arial"/>
              </a:rPr>
              <a:t>IA sem inovação perde o sentido.</a:t>
            </a:r>
          </a:p>
          <a:p>
            <a:pPr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</a:pPr>
            <a:r>
              <a:rPr sz="7200" b="1">
                <a:solidFill>
                  <a:srgbClr val="EB4A2E"/>
                </a:solidFill>
                <a:latin typeface="Arial"/>
              </a:rPr>
              <a:t>Inovação sem IA perde a velocidade.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a-inovacao-simbios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34567" y="274320"/>
            <a:ext cx="10322559" cy="58064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34567" y="274320"/>
            <a:ext cx="10322559" cy="5806440"/>
          </a:xfrm>
          <a:prstGeom prst="rect">
            <a:avLst/>
          </a:prstGeom>
          <a:noFill/>
          <a:ln w="12700">
            <a:solidFill>
              <a:srgbClr val="2A2C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4567" y="6190488"/>
            <a:ext cx="10322559" cy="233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4B9C2"/>
                </a:solidFill>
                <a:latin typeface="Arial"/>
                <a:hlinkClick r:id="rId5"/>
              </a:rPr>
              <a:t>IA + Inovação: a simbiose indissolúvel, 72 s, feito com IA  ·  alegrete-summit.github.io/clipe.html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40080"/>
            <a:ext cx="91440" cy="5486400"/>
          </a:xfrm>
          <a:prstGeom prst="rect">
            <a:avLst/>
          </a:prstGeom>
          <a:solidFill>
            <a:srgbClr val="B4B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640080"/>
            <a:ext cx="4587087" cy="54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B4B9C2"/>
                </a:solidFill>
                <a:latin typeface="Arial"/>
              </a:rPr>
              <a:t>O que ficou barato</a:t>
            </a:r>
          </a:p>
          <a:p>
            <a:pPr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</a:pPr>
            <a:r>
              <a:rPr sz="3400" b="0">
                <a:solidFill>
                  <a:srgbClr val="B4B9C2"/>
                </a:solidFill>
                <a:latin typeface="Arial"/>
              </a:rPr>
              <a:t>Compor as músicas</a:t>
            </a:r>
          </a:p>
          <a:p>
            <a:pPr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</a:pPr>
            <a:r>
              <a:rPr sz="3400" b="0">
                <a:solidFill>
                  <a:srgbClr val="B4B9C2"/>
                </a:solidFill>
                <a:latin typeface="Arial"/>
              </a:rPr>
              <a:t>Montar os clipes e os sites</a:t>
            </a:r>
          </a:p>
          <a:p>
            <a:pPr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</a:pPr>
            <a:r>
              <a:rPr sz="3400" b="0">
                <a:solidFill>
                  <a:srgbClr val="B4B9C2"/>
                </a:solidFill>
                <a:latin typeface="Arial"/>
              </a:rPr>
              <a:t>Escrever os slides</a:t>
            </a:r>
          </a:p>
          <a:p>
            <a:pPr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</a:pPr>
            <a:r>
              <a:rPr sz="3400" b="0">
                <a:solidFill>
                  <a:srgbClr val="B4B9C2"/>
                </a:solidFill>
                <a:latin typeface="Arial"/>
              </a:rPr>
              <a:t>Escrever o código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15887" y="640080"/>
            <a:ext cx="91440" cy="5486400"/>
          </a:xfrm>
          <a:prstGeom prst="rect">
            <a:avLst/>
          </a:prstGeom>
          <a:solidFill>
            <a:srgbClr val="EB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27367" y="640080"/>
            <a:ext cx="4587087" cy="54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EB4A2E"/>
                </a:solidFill>
                <a:latin typeface="Arial"/>
              </a:rPr>
              <a:t>O que ficou caro</a:t>
            </a:r>
          </a:p>
          <a:p>
            <a:pPr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Escolher o problema</a:t>
            </a:r>
          </a:p>
          <a:p>
            <a:pPr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Saber o que Alegrete tem</a:t>
            </a:r>
          </a:p>
          <a:p>
            <a:pPr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Conferir cada número</a:t>
            </a:r>
          </a:p>
          <a:p>
            <a:pPr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Responder pelo resultado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-822960"/>
            <a:ext cx="4572000" cy="786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0" b="1">
                <a:solidFill>
                  <a:srgbClr val="1F2024"/>
                </a:solidFill>
                <a:latin typeface="Arial"/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B4A2E"/>
                </a:solidFill>
                <a:latin typeface="Arial"/>
              </a:rPr>
              <a:t>PERGUNTA 7  ·  PARA A SALA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088575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FFFFFF"/>
                </a:solidFill>
                <a:latin typeface="Arial"/>
              </a:rPr>
              <a:t>Qual dado só você tem? Qual problema você conhece melhor do que qualquer IA?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5_magalu_6.60x7.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32"/>
            <a:ext cx="6035040" cy="68525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79" y="731520"/>
            <a:ext cx="5059375" cy="5120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Arial"/>
              </a:rPr>
              <a:t>Conversar vende mais.</a:t>
            </a:r>
          </a:p>
          <a:p>
            <a:pPr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</a:pPr>
            <a:r>
              <a:rPr sz="3000" b="0">
                <a:solidFill>
                  <a:srgbClr val="B4B9C2"/>
                </a:solidFill>
                <a:latin typeface="Arial"/>
              </a:rPr>
              <a:t>Quem fala com a Lu, no WhatsApp, compra três vezes mais do que quem busca no aplicativo da Magalu.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79" y="6043168"/>
            <a:ext cx="5059375" cy="467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4B9C2"/>
                </a:solidFill>
                <a:latin typeface="Arial"/>
                <a:hlinkClick r:id="rId3"/>
              </a:rPr>
              <a:t>Fonte: Mercado&amp;Consumo, 2026  ·  Imagem: Magalu / Mercado&amp;Consumo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m_solix_6.60x7.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" y="0"/>
            <a:ext cx="603452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79" y="731520"/>
            <a:ext cx="5059375" cy="5120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Arial"/>
              </a:rPr>
              <a:t>85% menos herbicida.</a:t>
            </a:r>
          </a:p>
          <a:p>
            <a:pPr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</a:pPr>
            <a:r>
              <a:rPr sz="3000" b="0">
                <a:solidFill>
                  <a:srgbClr val="B4B9C2"/>
                </a:solidFill>
                <a:latin typeface="Arial"/>
              </a:rPr>
              <a:t>Robô solar brasileiro acha a planta daninha por imagem.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79" y="6043168"/>
            <a:ext cx="5059375" cy="467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4B9C2"/>
                </a:solidFill>
                <a:latin typeface="Arial"/>
                <a:hlinkClick r:id="rId3"/>
              </a:rPr>
              <a:t>Fonte: Future Farming, 2026  ·  Imagem: Future Farming / Solinftec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5_terrapampa_6.60x7.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3504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79" y="731520"/>
            <a:ext cx="5059375" cy="5120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Arial"/>
              </a:rPr>
              <a:t>No corredor ao lado.</a:t>
            </a:r>
          </a:p>
          <a:p>
            <a:pPr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</a:pPr>
            <a:r>
              <a:rPr sz="3000" b="0">
                <a:solidFill>
                  <a:srgbClr val="B4B9C2"/>
                </a:solidFill>
                <a:latin typeface="Arial"/>
              </a:rPr>
              <a:t>IA da Unipampa acerta 88% do capim-annoni no campo e 94% dos carrapatos no gado.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79" y="6043168"/>
            <a:ext cx="5059375" cy="467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4B9C2"/>
                </a:solidFill>
                <a:latin typeface="Arial"/>
                <a:hlinkClick r:id="rId3"/>
              </a:rPr>
              <a:t>Fonte: Gazeta do Povo, 2025  ·  Imagem: Gazeta do Povo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6_cowm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37385"/>
            <a:ext cx="5303520" cy="298323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1937385"/>
            <a:ext cx="5303520" cy="2983230"/>
          </a:xfrm>
          <a:prstGeom prst="rect">
            <a:avLst/>
          </a:prstGeom>
          <a:noFill/>
          <a:ln w="12700">
            <a:solidFill>
              <a:srgbClr val="2A2C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79" y="731520"/>
            <a:ext cx="5059375" cy="5120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Arial"/>
              </a:rPr>
              <a:t>100 mil animais.</a:t>
            </a:r>
          </a:p>
          <a:p>
            <a:pPr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</a:pPr>
            <a:r>
              <a:rPr sz="3000" b="0">
                <a:solidFill>
                  <a:srgbClr val="B4B9C2"/>
                </a:solidFill>
                <a:latin typeface="Arial"/>
              </a:rPr>
              <a:t>Cowmed: da incubadora da UFSM a quatro países, com coleiras e IA própria.</a:t>
            </a:r>
          </a:p>
        </p:txBody>
      </p:sp>
      <p:pic>
        <p:nvPicPr>
          <p:cNvPr id="5" name="Picture 4" descr="qr_alegrete_summit_github_io_casos_de_sucesso_html_cowm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79" y="4398010"/>
            <a:ext cx="1325880" cy="1325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59" y="4580890"/>
            <a:ext cx="3504895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EB4A2E"/>
                </a:solidFill>
                <a:latin typeface="Arial"/>
                <a:hlinkClick r:id="rId4"/>
              </a:rPr>
              <a:t>o caso completo</a:t>
            </a:r>
            <a:br/>
            <a:r>
              <a:rPr sz="2400" b="1">
                <a:solidFill>
                  <a:srgbClr val="EB4A2E"/>
                </a:solidFill>
                <a:latin typeface="Arial"/>
                <a:hlinkClick r:id="rId4"/>
              </a:rPr>
              <a:t>no site do Summit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79" y="6276848"/>
            <a:ext cx="5059375" cy="233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4B9C2"/>
                </a:solidFill>
                <a:latin typeface="Arial"/>
                <a:hlinkClick r:id="rId4"/>
              </a:rPr>
              <a:t>Fontes: UFSM  ·  Forbes, 2022  ·  CNN Brasil, 2026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cowmed-ia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34567" y="274320"/>
            <a:ext cx="10322559" cy="58064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34567" y="274320"/>
            <a:ext cx="10322559" cy="5806440"/>
          </a:xfrm>
          <a:prstGeom prst="rect">
            <a:avLst/>
          </a:prstGeom>
          <a:noFill/>
          <a:ln w="12700">
            <a:solidFill>
              <a:srgbClr val="2A2C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4567" y="6190488"/>
            <a:ext cx="10322559" cy="233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4B9C2"/>
                </a:solidFill>
                <a:latin typeface="Arial"/>
                <a:hlinkClick r:id="rId5"/>
              </a:rPr>
              <a:t>Cowmed: a IA que escuta o rebanho, 75 s, feito com IA  ·  alegrete-summit.github.io/clipe.html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822960"/>
            <a:ext cx="10637215" cy="4937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>
                <a:solidFill>
                  <a:srgbClr val="FFFFFF"/>
                </a:solidFill>
                <a:latin typeface="Arial"/>
              </a:rPr>
              <a:t>Maio de 2024.</a:t>
            </a:r>
          </a:p>
          <a:p>
            <a:pPr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</a:pPr>
            <a:r>
              <a:rPr sz="7200" b="1">
                <a:solidFill>
                  <a:srgbClr val="EB4A2E"/>
                </a:solidFill>
                <a:latin typeface="Arial"/>
              </a:rPr>
              <a:t>O Rio Grande do Sul debaixo d'água.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0" b="1">
                <a:solidFill>
                  <a:srgbClr val="EB4A2E"/>
                </a:solidFill>
                <a:latin typeface="Arial"/>
              </a:rPr>
              <a:t>18 horas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063240"/>
            <a:ext cx="1063721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Arial"/>
              </a:rPr>
              <a:t>para 9 voluntários criarem o app que organizou 800 abrigos.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663440"/>
            <a:ext cx="1063721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B4B9C2"/>
                </a:solidFill>
                <a:latin typeface="Arial"/>
              </a:rPr>
              <a:t>Cerca de 55 mil pessoas atendidas. E sem IA nenhuma.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76848"/>
            <a:ext cx="10637215" cy="233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4B9C2"/>
                </a:solidFill>
                <a:latin typeface="Arial"/>
                <a:hlinkClick r:id="rId2"/>
              </a:rPr>
              <a:t>Jornal do Comércio (artigo), 2024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822960"/>
            <a:ext cx="10637215" cy="4937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>
                <a:solidFill>
                  <a:srgbClr val="FFFFFF"/>
                </a:solidFill>
                <a:latin typeface="Arial"/>
              </a:rPr>
              <a:t>A ferramenta acelera.</a:t>
            </a:r>
          </a:p>
          <a:p>
            <a:pPr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</a:pPr>
            <a:r>
              <a:rPr sz="7200" b="1">
                <a:solidFill>
                  <a:srgbClr val="EB4A2E"/>
                </a:solidFill>
                <a:latin typeface="Arial"/>
              </a:rPr>
              <a:t>Quem salva é a comunidade pronta.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822960"/>
            <a:ext cx="10637215" cy="3840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>
                <a:solidFill>
                  <a:srgbClr val="FFFFFF"/>
                </a:solidFill>
                <a:latin typeface="Arial"/>
              </a:rPr>
              <a:t>A base já existe.</a:t>
            </a:r>
          </a:p>
          <a:p>
            <a:pPr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</a:pPr>
            <a:r>
              <a:rPr sz="7200" b="1">
                <a:solidFill>
                  <a:srgbClr val="EB4A2E"/>
                </a:solidFill>
                <a:latin typeface="Arial"/>
              </a:rPr>
              <a:t>Falta atravessar.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4892040"/>
            <a:ext cx="1063721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B4B9C2"/>
                </a:solidFill>
                <a:latin typeface="Arial"/>
              </a:rPr>
              <a:t>Unipampa, IFFar, Urcamp, Embrapa Pecuária Sul, PampaTec, Startup Pampa, Sebrae, Inova RS, Sicredi, Prefeitura, Technovation Gurias, NoDUS e voluntários.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7894015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0" b="1">
                <a:solidFill>
                  <a:srgbClr val="EB4A2E"/>
                </a:solidFill>
                <a:latin typeface="Arial"/>
              </a:rPr>
              <a:t>2027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063240"/>
            <a:ext cx="789401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Bacharelado em IA da Unipampa, aqui no Campus Alegrete.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663440"/>
            <a:ext cx="789401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B4B9C2"/>
                </a:solidFill>
                <a:latin typeface="Arial"/>
              </a:rPr>
              <a:t>Formar aqui quem vai aplicar IA aqui.</a:t>
            </a:r>
          </a:p>
        </p:txBody>
      </p:sp>
      <p:pic>
        <p:nvPicPr>
          <p:cNvPr id="5" name="Picture 4" descr="qr_bia_unipampa_github_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1335" y="822960"/>
            <a:ext cx="2103120" cy="2103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91295" y="30632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B4A2E"/>
                </a:solidFill>
                <a:latin typeface="Arial"/>
                <a:hlinkClick r:id="rId3"/>
              </a:rPr>
              <a:t>bia-unipampa.github.io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6848"/>
            <a:ext cx="10637215" cy="233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4B9C2"/>
                </a:solidFill>
                <a:latin typeface="Arial"/>
                <a:hlinkClick r:id="rId3"/>
              </a:rPr>
              <a:t>Início previsto para meados de 2027, segundo o site do curso  ·  bia-unipampa.github.io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6_bia_escol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71650"/>
            <a:ext cx="5303520" cy="331469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1771650"/>
            <a:ext cx="5303520" cy="3314699"/>
          </a:xfrm>
          <a:prstGeom prst="rect">
            <a:avLst/>
          </a:prstGeom>
          <a:noFill/>
          <a:ln w="12700">
            <a:solidFill>
              <a:srgbClr val="2A2C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79" y="731520"/>
            <a:ext cx="5059375" cy="5120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Arial"/>
              </a:rPr>
              <a:t>O BIA vai às escolas.</a:t>
            </a:r>
          </a:p>
          <a:p>
            <a:pPr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</a:pPr>
            <a:r>
              <a:rPr sz="3000" b="0">
                <a:solidFill>
                  <a:srgbClr val="B4B9C2"/>
                </a:solidFill>
                <a:latin typeface="Arial"/>
              </a:rPr>
              <a:t>Para quem está no 3º ano: teste, vídeos, ENEM e jogos.</a:t>
            </a:r>
          </a:p>
        </p:txBody>
      </p:sp>
      <p:pic>
        <p:nvPicPr>
          <p:cNvPr id="5" name="Picture 4" descr="qr_bia_unipampa_github_io_files_escolas_bia_v2_htm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79" y="3959859"/>
            <a:ext cx="1325880" cy="1325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59" y="4142739"/>
            <a:ext cx="3504895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EB4A2E"/>
                </a:solidFill>
                <a:latin typeface="Arial"/>
                <a:hlinkClick r:id="rId4"/>
              </a:rPr>
              <a:t>BIA nas escolas</a:t>
            </a:r>
            <a:br/>
            <a:r>
              <a:rPr sz="2400" b="1">
                <a:solidFill>
                  <a:srgbClr val="EB4A2E"/>
                </a:solidFill>
                <a:latin typeface="Arial"/>
                <a:hlinkClick r:id="rId4"/>
              </a:rPr>
              <a:t>mande para a turma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79" y="6276848"/>
            <a:ext cx="5059375" cy="233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4B9C2"/>
                </a:solidFill>
                <a:latin typeface="Arial"/>
                <a:hlinkClick r:id="rId4"/>
              </a:rPr>
              <a:t>Fonte: bia-unipampa.github.io  ·  BIA nas escolas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6_bia_jog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5303520" cy="48463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1005840"/>
            <a:ext cx="5303520" cy="4846320"/>
          </a:xfrm>
          <a:prstGeom prst="rect">
            <a:avLst/>
          </a:prstGeom>
          <a:noFill/>
          <a:ln w="12700">
            <a:solidFill>
              <a:srgbClr val="2A2C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79" y="731520"/>
            <a:ext cx="5059375" cy="5120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Arial"/>
              </a:rPr>
              <a:t>Jogue e veja a IA.</a:t>
            </a:r>
          </a:p>
          <a:p>
            <a:pPr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</a:pPr>
            <a:r>
              <a:rPr sz="3000" b="0">
                <a:solidFill>
                  <a:srgbClr val="B4B9C2"/>
                </a:solidFill>
                <a:latin typeface="Arial"/>
              </a:rPr>
              <a:t>Quatro jogos no celular. Cada um usa IA de verdade.</a:t>
            </a:r>
          </a:p>
        </p:txBody>
      </p:sp>
      <p:pic>
        <p:nvPicPr>
          <p:cNvPr id="5" name="Picture 4" descr="qr_bia_unipampa_github_io_files_escolas_bia_v2_html_jog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79" y="3959859"/>
            <a:ext cx="1325880" cy="1325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59" y="4142739"/>
            <a:ext cx="3504895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EB4A2E"/>
                </a:solidFill>
                <a:latin typeface="Arial"/>
                <a:hlinkClick r:id="rId4"/>
              </a:rPr>
              <a:t>jogue agora</a:t>
            </a:r>
            <a:br/>
            <a:r>
              <a:rPr sz="2400" b="1">
                <a:solidFill>
                  <a:srgbClr val="EB4A2E"/>
                </a:solidFill>
                <a:latin typeface="Arial"/>
                <a:hlinkClick r:id="rId4"/>
              </a:rPr>
              <a:t>no celular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79" y="6276848"/>
            <a:ext cx="5059375" cy="233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4B9C2"/>
                </a:solidFill>
                <a:latin typeface="Arial"/>
                <a:hlinkClick r:id="rId4"/>
              </a:rPr>
              <a:t>Fonte: BIA nas escolas, seção Jogos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6_rio_lim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71650"/>
            <a:ext cx="5303520" cy="331469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1771650"/>
            <a:ext cx="5303520" cy="3314699"/>
          </a:xfrm>
          <a:prstGeom prst="rect">
            <a:avLst/>
          </a:prstGeom>
          <a:noFill/>
          <a:ln w="12700">
            <a:solidFill>
              <a:srgbClr val="2A2C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79" y="731520"/>
            <a:ext cx="5059375" cy="5120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Arial"/>
              </a:rPr>
              <a:t>Rio Limpo: IA contra IA.</a:t>
            </a:r>
          </a:p>
          <a:p>
            <a:pPr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</a:pPr>
            <a:r>
              <a:rPr sz="3000" b="0">
                <a:solidFill>
                  <a:srgbClr val="B4B9C2"/>
                </a:solidFill>
                <a:latin typeface="Arial"/>
              </a:rPr>
              <a:t>Três barcos com IA disputam quem tira mais lixo do Ibirapuitã.</a:t>
            </a:r>
          </a:p>
        </p:txBody>
      </p:sp>
      <p:pic>
        <p:nvPicPr>
          <p:cNvPr id="5" name="Picture 4" descr="qr_bia_unipampa_github_io_files_jogo_3d_barcos_ia_v1_htm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79" y="4398010"/>
            <a:ext cx="1325880" cy="1325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59" y="4580890"/>
            <a:ext cx="3504895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EB4A2E"/>
                </a:solidFill>
                <a:latin typeface="Arial"/>
                <a:hlinkClick r:id="rId4"/>
              </a:rPr>
              <a:t>dê o play</a:t>
            </a:r>
            <a:br/>
            <a:r>
              <a:rPr sz="2400" b="1">
                <a:solidFill>
                  <a:srgbClr val="EB4A2E"/>
                </a:solidFill>
                <a:latin typeface="Arial"/>
                <a:hlinkClick r:id="rId4"/>
              </a:rPr>
              <a:t>e torça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79" y="6276848"/>
            <a:ext cx="5059375" cy="233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4B9C2"/>
                </a:solidFill>
                <a:latin typeface="Arial"/>
                <a:hlinkClick r:id="rId4"/>
              </a:rPr>
              <a:t>Fonte: BIA nas escolas, jogo Rio Limpo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>
                <a:solidFill>
                  <a:srgbClr val="FFFFFF"/>
                </a:solidFill>
                <a:latin typeface="Arial"/>
              </a:rPr>
              <a:t>Problema.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7200" b="1">
                <a:solidFill>
                  <a:srgbClr val="FFFFFF"/>
                </a:solidFill>
                <a:latin typeface="Arial"/>
              </a:rPr>
              <a:t>Protótipo.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7200" b="1">
                <a:solidFill>
                  <a:srgbClr val="FFFFFF"/>
                </a:solidFill>
                <a:latin typeface="Arial"/>
              </a:rPr>
              <a:t>Teste.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7200" b="1">
                <a:solidFill>
                  <a:srgbClr val="EB4A2E"/>
                </a:solidFill>
                <a:latin typeface="Arial"/>
              </a:rPr>
              <a:t>Ponte.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257800"/>
            <a:ext cx="1063721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B4B9C2"/>
                </a:solidFill>
                <a:latin typeface="Arial"/>
              </a:rPr>
              <a:t>Ideathon do Summit: sexta, 30/10, das 8h30 às 18h.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-822960"/>
            <a:ext cx="4572000" cy="786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0" b="1">
                <a:solidFill>
                  <a:srgbClr val="1F2024"/>
                </a:solidFill>
                <a:latin typeface="Arial"/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B4A2E"/>
                </a:solidFill>
                <a:latin typeface="Arial"/>
              </a:rPr>
              <a:t>PERGUNTA 8  ·  QUEM SAI DAQUI HOJE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088575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>
                <a:solidFill>
                  <a:srgbClr val="FFFFFF"/>
                </a:solidFill>
                <a:latin typeface="Arial"/>
              </a:rPr>
              <a:t>Que ponte você vai construir na segunda-feira?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074920"/>
            <a:ext cx="1008857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B4B9C2"/>
                </a:solidFill>
                <a:latin typeface="Arial"/>
              </a:rPr>
              <a:t>E com quem desta sala?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822960"/>
            <a:ext cx="10637215" cy="4937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>
                <a:solidFill>
                  <a:srgbClr val="FFFFFF"/>
                </a:solidFill>
                <a:latin typeface="Arial"/>
              </a:rPr>
              <a:t>A IA baixou o custo de construir.</a:t>
            </a:r>
          </a:p>
          <a:p>
            <a:pPr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</a:pPr>
            <a:r>
              <a:rPr sz="7200" b="1">
                <a:solidFill>
                  <a:srgbClr val="EB4A2E"/>
                </a:solidFill>
                <a:latin typeface="Arial"/>
              </a:rPr>
              <a:t>O território decide o que vale construir.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"/>
            <a:ext cx="53949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0" b="1">
                <a:solidFill>
                  <a:srgbClr val="FFFFFF"/>
                </a:solidFill>
                <a:latin typeface="Arial"/>
              </a:rPr>
              <a:t>Obrigado.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148840"/>
            <a:ext cx="53949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EB4A2E"/>
                </a:solidFill>
                <a:latin typeface="Arial"/>
              </a:rPr>
              <a:t>Inovar continua sendo construir pontes. Agora, mais rápido.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114800"/>
            <a:ext cx="5669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Prof. Dr. Diego Kreutz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2200" b="0">
                <a:solidFill>
                  <a:srgbClr val="B4B9C2"/>
                </a:solidFill>
                <a:latin typeface="Arial"/>
              </a:rPr>
              <a:t>UNIPAMPA  ·  AI Horizon Labs</a:t>
            </a:r>
          </a:p>
        </p:txBody>
      </p:sp>
      <p:pic>
        <p:nvPicPr>
          <p:cNvPr id="5" name="Picture 4" descr="qr_alegrete_summit_github_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685800"/>
            <a:ext cx="1417320" cy="1417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19088" y="2176272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4B9C2"/>
                </a:solidFill>
                <a:latin typeface="Arial"/>
                <a:hlinkClick r:id="rId3"/>
              </a:rPr>
              <a:t>site do Summit</a:t>
            </a:r>
            <a:br/>
            <a:r>
              <a:rPr sz="1600" b="0">
                <a:solidFill>
                  <a:srgbClr val="B4B9C2"/>
                </a:solidFill>
                <a:latin typeface="Arial"/>
                <a:hlinkClick r:id="rId3"/>
              </a:rPr>
              <a:t>músicas e clipes</a:t>
            </a:r>
          </a:p>
        </p:txBody>
      </p:sp>
      <p:pic>
        <p:nvPicPr>
          <p:cNvPr id="7" name="Picture 6" descr="qr_talks4all_github_i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0968" y="685800"/>
            <a:ext cx="1417320" cy="1417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65208" y="2176272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4B9C2"/>
                </a:solidFill>
                <a:latin typeface="Arial"/>
                <a:hlinkClick r:id="rId5"/>
              </a:rPr>
              <a:t>palestras e fontes</a:t>
            </a:r>
            <a:br/>
            <a:r>
              <a:rPr sz="1600" b="0">
                <a:solidFill>
                  <a:srgbClr val="B4B9C2"/>
                </a:solidFill>
                <a:latin typeface="Arial"/>
                <a:hlinkClick r:id="rId5"/>
              </a:rPr>
              <a:t>talks4all.github.io</a:t>
            </a:r>
          </a:p>
        </p:txBody>
      </p:sp>
      <p:pic>
        <p:nvPicPr>
          <p:cNvPr id="9" name="Picture 8" descr="qr_ai_horizon_labs_github_i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4848" y="3291839"/>
            <a:ext cx="1417320" cy="1417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19088" y="4782312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4B9C2"/>
                </a:solidFill>
                <a:latin typeface="Arial"/>
                <a:hlinkClick r:id="rId7"/>
              </a:rPr>
              <a:t>AI Horizon Labs</a:t>
            </a:r>
            <a:br/>
            <a:r>
              <a:rPr sz="1600" b="0">
                <a:solidFill>
                  <a:srgbClr val="B4B9C2"/>
                </a:solidFill>
                <a:latin typeface="Arial"/>
                <a:hlinkClick r:id="rId7"/>
              </a:rPr>
              <a:t>site do laboratório</a:t>
            </a:r>
          </a:p>
        </p:txBody>
      </p:sp>
      <p:pic>
        <p:nvPicPr>
          <p:cNvPr id="11" name="Picture 10" descr="qr_bia_unipampa_github_i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30968" y="3291839"/>
            <a:ext cx="1417320" cy="1417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65208" y="4782312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4B9C2"/>
                </a:solidFill>
                <a:latin typeface="Arial"/>
                <a:hlinkClick r:id="rId9"/>
              </a:rPr>
              <a:t>Bacharelado em IA</a:t>
            </a:r>
            <a:br/>
            <a:r>
              <a:rPr sz="1600" b="0">
                <a:solidFill>
                  <a:srgbClr val="B4B9C2"/>
                </a:solidFill>
                <a:latin typeface="Arial"/>
                <a:hlinkClick r:id="rId9"/>
              </a:rPr>
              <a:t>bia-unipampa.github.io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5669280"/>
            <a:ext cx="12191695" cy="11887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logo_unipamp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5888736"/>
            <a:ext cx="1202073" cy="749808"/>
          </a:xfrm>
          <a:prstGeom prst="rect">
            <a:avLst/>
          </a:prstGeom>
        </p:spPr>
      </p:pic>
      <p:pic>
        <p:nvPicPr>
          <p:cNvPr id="15" name="Picture 14" descr="logo_aihorizo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05494" y="5998464"/>
            <a:ext cx="2201967" cy="530352"/>
          </a:xfrm>
          <a:prstGeom prst="rect">
            <a:avLst/>
          </a:prstGeom>
        </p:spPr>
      </p:pic>
      <p:pic>
        <p:nvPicPr>
          <p:cNvPr id="16" name="Picture 15" descr="logo_ppge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33642" y="5888736"/>
            <a:ext cx="798708" cy="749808"/>
          </a:xfrm>
          <a:prstGeom prst="rect">
            <a:avLst/>
          </a:prstGeom>
        </p:spPr>
      </p:pic>
      <p:pic>
        <p:nvPicPr>
          <p:cNvPr id="17" name="Picture 16" descr="logo_bia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58532" y="6035040"/>
            <a:ext cx="1255922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IA acelera. Quem constrói as pontes?</dc:title>
  <dc:subject/>
  <dc:creator>Diego Kreutz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