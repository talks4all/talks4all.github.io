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  <p:sldId id="307" r:id="rId58"/>
    <p:sldId id="308" r:id="rId5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Relationship Id="rId58" Type="http://schemas.openxmlformats.org/officeDocument/2006/relationships/slide" Target="slides/slide52.xml"/><Relationship Id="rId59" Type="http://schemas.openxmlformats.org/officeDocument/2006/relationships/slide" Target="slides/slide5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png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9A6A00"/>
                </a:solidFill>
                <a:latin typeface="Roboto"/>
              </a:rPr>
              <a:t>PALESTRA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1325880"/>
            <a:ext cx="10637215" cy="2103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4800" b="1">
                <a:solidFill>
                  <a:srgbClr val="1E1E1E"/>
                </a:solidFill>
                <a:latin typeface="Roboto"/>
              </a:rPr>
              <a:t>A IA já está no seu dia.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4800" b="1">
                <a:solidFill>
                  <a:srgbClr val="1E1E1E"/>
                </a:solidFill>
                <a:latin typeface="Roboto"/>
              </a:rPr>
              <a:t>A pergunta é quem está no comando.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3291840"/>
            <a:ext cx="10637215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2600" b="0">
                <a:solidFill>
                  <a:srgbClr val="6E6E6E"/>
                </a:solidFill>
                <a:latin typeface="Roboto"/>
              </a:rPr>
              <a:t>Avanços, impactos e a transformação do trabalho de quem administra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4224528"/>
            <a:ext cx="2743200" cy="44450"/>
          </a:xfrm>
          <a:prstGeom prst="rect">
            <a:avLst/>
          </a:prstGeom>
          <a:solidFill>
            <a:srgbClr val="E0A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4617720"/>
            <a:ext cx="10637215" cy="1737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1E1E1E"/>
                </a:solidFill>
                <a:latin typeface="Roboto"/>
              </a:rPr>
              <a:t>Diego Kreutz  |  Pesquisador e professor da UNIPAMPA</a:t>
            </a:r>
          </a:p>
          <a:p>
            <a:pPr algn="l">
              <a:lnSpc>
                <a:spcPct val="105000"/>
              </a:lnSpc>
              <a:spcBef>
                <a:spcPts val="700"/>
              </a:spcBef>
              <a:spcAft>
                <a:spcPts val="0"/>
              </a:spcAft>
            </a:pPr>
            <a:r>
              <a:rPr sz="1900" b="0">
                <a:solidFill>
                  <a:srgbClr val="6E6E6E"/>
                </a:solidFill>
                <a:latin typeface="Roboto"/>
              </a:rPr>
              <a:t>Curso de Administração  |  URCAMP Campus Alegrete</a:t>
            </a:r>
          </a:p>
          <a:p>
            <a:pPr algn="l">
              <a:lnSpc>
                <a:spcPct val="105000"/>
              </a:lnSpc>
              <a:spcBef>
                <a:spcPts val="700"/>
              </a:spcBef>
              <a:spcAft>
                <a:spcPts val="0"/>
              </a:spcAft>
            </a:pPr>
            <a:r>
              <a:rPr sz="1900" b="0">
                <a:solidFill>
                  <a:srgbClr val="6E6E6E"/>
                </a:solidFill>
                <a:latin typeface="Roboto"/>
              </a:rPr>
              <a:t>Disciplina Tópicos Emergentes  |  Prof. Rafael Augusto Dill</a:t>
            </a:r>
          </a:p>
          <a:p>
            <a:pPr algn="l">
              <a:lnSpc>
                <a:spcPct val="105000"/>
              </a:lnSpc>
              <a:spcBef>
                <a:spcPts val="700"/>
              </a:spcBef>
              <a:spcAft>
                <a:spcPts val="0"/>
              </a:spcAft>
            </a:pPr>
            <a:r>
              <a:rPr sz="1900" b="0">
                <a:solidFill>
                  <a:srgbClr val="6E6E6E"/>
                </a:solidFill>
                <a:latin typeface="Roboto"/>
              </a:rPr>
              <a:t>14 de setembro de 2026  |  19h30  |  Sala 306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1051560"/>
            <a:ext cx="10637215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9A6A00"/>
                </a:solidFill>
                <a:latin typeface="Roboto"/>
              </a:rPr>
              <a:t>PERGUNTA 1 PARA A PLATEIA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627632"/>
            <a:ext cx="2743200" cy="44450"/>
          </a:xfrm>
          <a:prstGeom prst="rect">
            <a:avLst/>
          </a:prstGeom>
          <a:solidFill>
            <a:srgbClr val="E0A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2057400"/>
            <a:ext cx="10637215" cy="2743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4600" b="1">
                <a:solidFill>
                  <a:srgbClr val="1E1E1E"/>
                </a:solidFill>
                <a:latin typeface="Roboto"/>
              </a:rPr>
              <a:t>Quem aqui usou inteligência artificial nas últimas 24 horas?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4983480"/>
            <a:ext cx="10637215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2400" b="0">
                <a:solidFill>
                  <a:srgbClr val="6E6E6E"/>
                </a:solidFill>
                <a:latin typeface="Roboto"/>
              </a:rPr>
              <a:t>Levante a mão. Sem vergonha.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17175" y="6419088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E6E6E"/>
                </a:solidFill>
                <a:latin typeface="Roboto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411480"/>
            <a:ext cx="10637215" cy="1325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4000" b="1">
                <a:solidFill>
                  <a:srgbClr val="1E1E1E"/>
                </a:solidFill>
                <a:latin typeface="Roboto"/>
              </a:rPr>
              <a:t>Todo mundo levantou a mão. Nem todo mundo sabia.</a:t>
            </a:r>
          </a:p>
        </p:txBody>
      </p:sp>
      <p:pic>
        <p:nvPicPr>
          <p:cNvPr id="3" name="Picture 2" descr="07_dia_invisive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1920240"/>
            <a:ext cx="10637215" cy="3840479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777240" y="5907024"/>
            <a:ext cx="10637215" cy="9525"/>
          </a:xfrm>
          <a:prstGeom prst="rect">
            <a:avLst/>
          </a:prstGeom>
          <a:solidFill>
            <a:srgbClr val="D6D6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6016752"/>
            <a:ext cx="10637215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9A6A00"/>
                </a:solidFill>
                <a:latin typeface="Roboto"/>
              </a:rPr>
              <a:t>IA deixou de ser assunto de TI. Virou infraestrutura da decisão.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17175" y="6419088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E6E6E"/>
                </a:solidFill>
                <a:latin typeface="Roboto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411480"/>
            <a:ext cx="10637215" cy="1325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4000" b="1">
                <a:solidFill>
                  <a:srgbClr val="1E1E1E"/>
                </a:solidFill>
                <a:latin typeface="Roboto"/>
              </a:rPr>
              <a:t>O que você leva desta noite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783080"/>
            <a:ext cx="10637215" cy="9525"/>
          </a:xfrm>
          <a:prstGeom prst="rect">
            <a:avLst/>
          </a:prstGeom>
          <a:solidFill>
            <a:srgbClr val="D6D6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920240"/>
            <a:ext cx="1051560" cy="118871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400" b="1">
                <a:solidFill>
                  <a:srgbClr val="E0A100"/>
                </a:solidFill>
                <a:latin typeface="Roboto"/>
              </a:rPr>
              <a:t>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920240" y="1983232"/>
            <a:ext cx="9494215" cy="1125727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2600" b="0">
                <a:solidFill>
                  <a:srgbClr val="1E1E1E"/>
                </a:solidFill>
                <a:latin typeface="Roboto"/>
              </a:rPr>
              <a:t>O que a IA realmente é, e o que ela definitivamente não é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3200400"/>
            <a:ext cx="1051560" cy="118871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400" b="1">
                <a:solidFill>
                  <a:srgbClr val="E0A100"/>
                </a:solidFill>
                <a:latin typeface="Roboto"/>
              </a:rPr>
              <a:t>02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920240" y="3263392"/>
            <a:ext cx="9494215" cy="1125727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2600" b="0">
                <a:solidFill>
                  <a:srgbClr val="1E1E1E"/>
                </a:solidFill>
                <a:latin typeface="Roboto"/>
              </a:rPr>
              <a:t>O que muda em cada função da Administração, e o que não muda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4480559"/>
            <a:ext cx="1051560" cy="118871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400" b="1">
                <a:solidFill>
                  <a:srgbClr val="E0A100"/>
                </a:solidFill>
                <a:latin typeface="Roboto"/>
              </a:rPr>
              <a:t>03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920240" y="4543552"/>
            <a:ext cx="9494215" cy="1125727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2600" b="0">
                <a:solidFill>
                  <a:srgbClr val="1E1E1E"/>
                </a:solidFill>
                <a:latin typeface="Roboto"/>
              </a:rPr>
              <a:t>O que fazer com isso a partir de amanhã de manhã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" y="5907024"/>
            <a:ext cx="10637215" cy="9525"/>
          </a:xfrm>
          <a:prstGeom prst="rect">
            <a:avLst/>
          </a:prstGeom>
          <a:solidFill>
            <a:srgbClr val="D6D6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6016752"/>
            <a:ext cx="10637215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>
                <a:solidFill>
                  <a:srgbClr val="6E6E6E"/>
                </a:solidFill>
                <a:latin typeface="Roboto"/>
              </a:rPr>
              <a:t>Nenhuma linha desta palestra exige que você saiba programar.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317175" y="6419088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E6E6E"/>
                </a:solidFill>
                <a:latin typeface="Roboto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411480"/>
            <a:ext cx="10637215" cy="1325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4000" b="1">
                <a:solidFill>
                  <a:srgbClr val="1E1E1E"/>
                </a:solidFill>
                <a:latin typeface="Roboto"/>
              </a:rPr>
              <a:t>O que ela é, e o que ela não é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920240"/>
            <a:ext cx="5067147" cy="57150"/>
          </a:xfrm>
          <a:prstGeom prst="rect">
            <a:avLst/>
          </a:prstGeom>
          <a:solidFill>
            <a:srgbClr val="E0A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2121408"/>
            <a:ext cx="5067147" cy="37865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>
                <a:solidFill>
                  <a:srgbClr val="1E1E1E"/>
                </a:solidFill>
                <a:latin typeface="Roboto"/>
              </a:rPr>
              <a:t>O que a IA é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737811"/>
            <a:ext cx="5067147" cy="30229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>
                <a:solidFill>
                  <a:srgbClr val="1E1E1E"/>
                </a:solidFill>
                <a:latin typeface="Roboto"/>
              </a:rPr>
              <a:t>Software que </a:t>
            </a:r>
            <a:r>
              <a:rPr sz="2000" b="1">
                <a:solidFill>
                  <a:srgbClr val="1E1E1E"/>
                </a:solidFill>
                <a:latin typeface="Roboto"/>
              </a:rPr>
              <a:t>aprende padrões</a:t>
            </a:r>
            <a:r>
              <a:rPr sz="2000" b="0">
                <a:solidFill>
                  <a:srgbClr val="1E1E1E"/>
                </a:solidFill>
                <a:latin typeface="Roboto"/>
              </a:rPr>
              <a:t> em dados</a:t>
            </a:r>
          </a:p>
          <a:p>
            <a:pPr algn="l">
              <a:lnSpc>
                <a:spcPct val="105000"/>
              </a:lnSpc>
              <a:spcBef>
                <a:spcPts val="1600"/>
              </a:spcBef>
              <a:spcAft>
                <a:spcPts val="0"/>
              </a:spcAft>
            </a:pPr>
            <a:r>
              <a:rPr sz="2000" b="0">
                <a:solidFill>
                  <a:srgbClr val="1E1E1E"/>
                </a:solidFill>
                <a:latin typeface="Roboto"/>
              </a:rPr>
              <a:t>Leu </a:t>
            </a:r>
            <a:r>
              <a:rPr sz="2000" b="1">
                <a:solidFill>
                  <a:srgbClr val="1E1E1E"/>
                </a:solidFill>
                <a:latin typeface="Roboto"/>
              </a:rPr>
              <a:t>praticamente tudo</a:t>
            </a:r>
            <a:r>
              <a:rPr sz="2000" b="0">
                <a:solidFill>
                  <a:srgbClr val="1E1E1E"/>
                </a:solidFill>
                <a:latin typeface="Roboto"/>
              </a:rPr>
              <a:t> que já foi publicado</a:t>
            </a:r>
          </a:p>
          <a:p>
            <a:pPr algn="l">
              <a:lnSpc>
                <a:spcPct val="105000"/>
              </a:lnSpc>
              <a:spcBef>
                <a:spcPts val="1600"/>
              </a:spcBef>
              <a:spcAft>
                <a:spcPts val="0"/>
              </a:spcAft>
            </a:pPr>
            <a:r>
              <a:rPr sz="2000" b="1">
                <a:solidFill>
                  <a:srgbClr val="1E1E1E"/>
                </a:solidFill>
                <a:latin typeface="Roboto"/>
              </a:rPr>
              <a:t>Não cansa</a:t>
            </a:r>
            <a:r>
              <a:rPr sz="2000" b="0">
                <a:solidFill>
                  <a:srgbClr val="1E1E1E"/>
                </a:solidFill>
                <a:latin typeface="Roboto"/>
              </a:rPr>
              <a:t>, não esquece, não tira férias</a:t>
            </a:r>
          </a:p>
          <a:p>
            <a:pPr algn="l">
              <a:lnSpc>
                <a:spcPct val="105000"/>
              </a:lnSpc>
              <a:spcBef>
                <a:spcPts val="1600"/>
              </a:spcBef>
              <a:spcAft>
                <a:spcPts val="0"/>
              </a:spcAft>
            </a:pPr>
            <a:r>
              <a:rPr sz="2000" b="0">
                <a:solidFill>
                  <a:srgbClr val="1E1E1E"/>
                </a:solidFill>
                <a:latin typeface="Roboto"/>
              </a:rPr>
              <a:t>Custa </a:t>
            </a:r>
            <a:r>
              <a:rPr sz="2000" b="1">
                <a:solidFill>
                  <a:srgbClr val="1E1E1E"/>
                </a:solidFill>
                <a:latin typeface="Roboto"/>
              </a:rPr>
              <a:t>centavos</a:t>
            </a:r>
            <a:r>
              <a:rPr sz="2000" b="0">
                <a:solidFill>
                  <a:srgbClr val="1E1E1E"/>
                </a:solidFill>
                <a:latin typeface="Roboto"/>
              </a:rPr>
              <a:t> por tarefa</a:t>
            </a:r>
          </a:p>
        </p:txBody>
      </p:sp>
      <p:sp>
        <p:nvSpPr>
          <p:cNvPr id="6" name="Rectangle 5"/>
          <p:cNvSpPr/>
          <p:nvPr/>
        </p:nvSpPr>
        <p:spPr>
          <a:xfrm>
            <a:off x="6347307" y="1920240"/>
            <a:ext cx="5067147" cy="57150"/>
          </a:xfrm>
          <a:prstGeom prst="rect">
            <a:avLst/>
          </a:prstGeom>
          <a:solidFill>
            <a:srgbClr val="1E1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347307" y="2121408"/>
            <a:ext cx="5067147" cy="37865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>
                <a:solidFill>
                  <a:srgbClr val="1E1E1E"/>
                </a:solidFill>
                <a:latin typeface="Roboto"/>
              </a:rPr>
              <a:t>O que a IA não é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47307" y="2737811"/>
            <a:ext cx="5067147" cy="30229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1E1E1E"/>
                </a:solidFill>
                <a:latin typeface="Roboto"/>
              </a:rPr>
              <a:t>Não pode ser responsabilizada</a:t>
            </a:r>
            <a:r>
              <a:rPr sz="2000" b="0">
                <a:solidFill>
                  <a:srgbClr val="1E1E1E"/>
                </a:solidFill>
                <a:latin typeface="Roboto"/>
              </a:rPr>
              <a:t> por nada que faz</a:t>
            </a:r>
          </a:p>
          <a:p>
            <a:pPr algn="l">
              <a:lnSpc>
                <a:spcPct val="105000"/>
              </a:lnSpc>
              <a:spcBef>
                <a:spcPts val="1600"/>
              </a:spcBef>
              <a:spcAft>
                <a:spcPts val="0"/>
              </a:spcAft>
            </a:pPr>
            <a:r>
              <a:rPr sz="2000" b="0">
                <a:solidFill>
                  <a:srgbClr val="1E1E1E"/>
                </a:solidFill>
                <a:latin typeface="Roboto"/>
              </a:rPr>
              <a:t>Erra com </a:t>
            </a:r>
            <a:r>
              <a:rPr sz="2000" b="1">
                <a:solidFill>
                  <a:srgbClr val="1E1E1E"/>
                </a:solidFill>
                <a:latin typeface="Roboto"/>
              </a:rPr>
              <a:t>confiança total</a:t>
            </a:r>
            <a:r>
              <a:rPr sz="2000" b="0">
                <a:solidFill>
                  <a:srgbClr val="1E1E1E"/>
                </a:solidFill>
                <a:latin typeface="Roboto"/>
              </a:rPr>
              <a:t>: é o que chamam de </a:t>
            </a:r>
            <a:r>
              <a:rPr sz="2000" b="1">
                <a:solidFill>
                  <a:srgbClr val="1E1E1E"/>
                </a:solidFill>
                <a:latin typeface="Roboto"/>
              </a:rPr>
              <a:t>alucinação</a:t>
            </a:r>
          </a:p>
          <a:p>
            <a:pPr algn="l">
              <a:lnSpc>
                <a:spcPct val="105000"/>
              </a:lnSpc>
              <a:spcBef>
                <a:spcPts val="1600"/>
              </a:spcBef>
              <a:spcAft>
                <a:spcPts val="0"/>
              </a:spcAft>
            </a:pPr>
            <a:r>
              <a:rPr sz="2000" b="1">
                <a:solidFill>
                  <a:srgbClr val="1E1E1E"/>
                </a:solidFill>
                <a:latin typeface="Roboto"/>
              </a:rPr>
              <a:t>Não conhece</a:t>
            </a:r>
            <a:r>
              <a:rPr sz="2000" b="0">
                <a:solidFill>
                  <a:srgbClr val="1E1E1E"/>
                </a:solidFill>
                <a:latin typeface="Roboto"/>
              </a:rPr>
              <a:t> a sua empresa nem a sua cidade</a:t>
            </a:r>
          </a:p>
          <a:p>
            <a:pPr algn="l">
              <a:lnSpc>
                <a:spcPct val="105000"/>
              </a:lnSpc>
              <a:spcBef>
                <a:spcPts val="1600"/>
              </a:spcBef>
              <a:spcAft>
                <a:spcPts val="0"/>
              </a:spcAft>
            </a:pPr>
            <a:r>
              <a:rPr sz="2000" b="0">
                <a:solidFill>
                  <a:srgbClr val="1E1E1E"/>
                </a:solidFill>
                <a:latin typeface="Roboto"/>
              </a:rPr>
              <a:t>Não é o </a:t>
            </a:r>
            <a:r>
              <a:rPr sz="2000" b="1">
                <a:solidFill>
                  <a:srgbClr val="1E1E1E"/>
                </a:solidFill>
                <a:latin typeface="Roboto"/>
              </a:rPr>
              <a:t>robô humanoide</a:t>
            </a:r>
            <a:r>
              <a:rPr sz="2000" b="0">
                <a:solidFill>
                  <a:srgbClr val="1E1E1E"/>
                </a:solidFill>
                <a:latin typeface="Roboto"/>
              </a:rPr>
              <a:t> do cinema</a:t>
            </a:r>
          </a:p>
        </p:txBody>
      </p:sp>
      <p:sp>
        <p:nvSpPr>
          <p:cNvPr id="9" name="Rectangle 8"/>
          <p:cNvSpPr/>
          <p:nvPr/>
        </p:nvSpPr>
        <p:spPr>
          <a:xfrm>
            <a:off x="777240" y="5907024"/>
            <a:ext cx="10637215" cy="9525"/>
          </a:xfrm>
          <a:prstGeom prst="rect">
            <a:avLst/>
          </a:prstGeom>
          <a:solidFill>
            <a:srgbClr val="D6D6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6016752"/>
            <a:ext cx="10637215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>
                <a:solidFill>
                  <a:srgbClr val="6E6E6E"/>
                </a:solidFill>
                <a:latin typeface="Roboto"/>
              </a:rPr>
              <a:t>Você já usa: Face ID, recomendação do Mercado Livre, drone agrícola, ChatGPT.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317175" y="6419088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E6E6E"/>
                </a:solidFill>
                <a:latin typeface="Roboto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411480"/>
            <a:ext cx="10637215" cy="1325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4000" b="1">
                <a:solidFill>
                  <a:srgbClr val="1E1E1E"/>
                </a:solidFill>
                <a:latin typeface="Roboto"/>
              </a:rPr>
              <a:t>A virada: parar de programar regras, começar a mostrar exemplos</a:t>
            </a:r>
          </a:p>
        </p:txBody>
      </p:sp>
      <p:pic>
        <p:nvPicPr>
          <p:cNvPr id="3" name="Picture 2" descr="02_regra_vs_dad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1920240"/>
            <a:ext cx="10637215" cy="3840479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777240" y="5907024"/>
            <a:ext cx="10637215" cy="9525"/>
          </a:xfrm>
          <a:prstGeom prst="rect">
            <a:avLst/>
          </a:prstGeom>
          <a:solidFill>
            <a:srgbClr val="D6D6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6016752"/>
            <a:ext cx="10637215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9A6A00"/>
                </a:solidFill>
                <a:latin typeface="Roboto"/>
              </a:rPr>
              <a:t>Foi essa virada que tirou a IA do laboratório e colocou no seu celular.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17175" y="6419088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E6E6E"/>
                </a:solidFill>
                <a:latin typeface="Roboto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411480"/>
            <a:ext cx="10637215" cy="1325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4000" b="1">
                <a:solidFill>
                  <a:srgbClr val="1E1E1E"/>
                </a:solidFill>
                <a:latin typeface="Roboto"/>
              </a:rPr>
              <a:t>Na prática: onde a regra fixa quebra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1920240"/>
            <a:ext cx="5120640" cy="1170431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2300" b="0">
                <a:solidFill>
                  <a:srgbClr val="1E1E1E"/>
                </a:solidFill>
                <a:latin typeface="Roboto"/>
              </a:rPr>
              <a:t>Antifraude </a:t>
            </a:r>
            <a:r>
              <a:rPr sz="2300" b="1">
                <a:solidFill>
                  <a:srgbClr val="1E1E1E"/>
                </a:solidFill>
                <a:latin typeface="Roboto"/>
              </a:rPr>
              <a:t>por regra</a:t>
            </a:r>
            <a:r>
              <a:rPr sz="2300" b="0">
                <a:solidFill>
                  <a:srgbClr val="1E1E1E"/>
                </a:solidFill>
                <a:latin typeface="Roboto"/>
              </a:rPr>
              <a:t>: bloqueia o cliente em viagem e libera dez compras pequenas do golpista</a:t>
            </a:r>
          </a:p>
        </p:txBody>
      </p:sp>
      <p:sp>
        <p:nvSpPr>
          <p:cNvPr id="4" name="Rectangle 3"/>
          <p:cNvSpPr/>
          <p:nvPr/>
        </p:nvSpPr>
        <p:spPr>
          <a:xfrm>
            <a:off x="576072" y="1975104"/>
            <a:ext cx="91440" cy="57150"/>
          </a:xfrm>
          <a:prstGeom prst="rect">
            <a:avLst/>
          </a:prstGeom>
          <a:solidFill>
            <a:srgbClr val="E0A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13_ex_antifraude_regr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91071" y="2148840"/>
            <a:ext cx="5120640" cy="3017520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777240" y="5907024"/>
            <a:ext cx="10637215" cy="9525"/>
          </a:xfrm>
          <a:prstGeom prst="rect">
            <a:avLst/>
          </a:prstGeom>
          <a:solidFill>
            <a:srgbClr val="D6D6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6016752"/>
            <a:ext cx="10637215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9A6A00"/>
                </a:solidFill>
                <a:latin typeface="Roboto"/>
              </a:rPr>
              <a:t>A regra só enxerga o que alguém já tinha imaginado.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317175" y="6419088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E6E6E"/>
                </a:solidFill>
                <a:latin typeface="Roboto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411480"/>
            <a:ext cx="10637215" cy="1325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4000" b="1">
                <a:solidFill>
                  <a:srgbClr val="1E1E1E"/>
                </a:solidFill>
                <a:latin typeface="Roboto"/>
              </a:rPr>
              <a:t>Na prática: onde a regra fixa quebra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1920240"/>
            <a:ext cx="5120640" cy="1170431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2300" b="0">
                <a:solidFill>
                  <a:srgbClr val="6E6E6E"/>
                </a:solidFill>
                <a:latin typeface="Roboto"/>
              </a:rPr>
              <a:t>Antifraude </a:t>
            </a:r>
            <a:r>
              <a:rPr sz="2300" b="1">
                <a:solidFill>
                  <a:srgbClr val="6E6E6E"/>
                </a:solidFill>
                <a:latin typeface="Roboto"/>
              </a:rPr>
              <a:t>por regra</a:t>
            </a:r>
            <a:r>
              <a:rPr sz="2300" b="0">
                <a:solidFill>
                  <a:srgbClr val="6E6E6E"/>
                </a:solidFill>
                <a:latin typeface="Roboto"/>
              </a:rPr>
              <a:t>: bloqueia o cliente em viagem e libera dez compras pequenas do golpista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3200400"/>
            <a:ext cx="5120640" cy="1170431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2300" b="1">
                <a:solidFill>
                  <a:srgbClr val="1E1E1E"/>
                </a:solidFill>
                <a:latin typeface="Roboto"/>
              </a:rPr>
              <a:t>Filtro de spam</a:t>
            </a:r>
            <a:r>
              <a:rPr sz="2300" b="0">
                <a:solidFill>
                  <a:srgbClr val="1E1E1E"/>
                </a:solidFill>
                <a:latin typeface="Roboto"/>
              </a:rPr>
              <a:t> por lista de palavras: bastava trocar uma letra por um número</a:t>
            </a:r>
          </a:p>
        </p:txBody>
      </p:sp>
      <p:sp>
        <p:nvSpPr>
          <p:cNvPr id="5" name="Rectangle 4"/>
          <p:cNvSpPr/>
          <p:nvPr/>
        </p:nvSpPr>
        <p:spPr>
          <a:xfrm>
            <a:off x="576072" y="3255264"/>
            <a:ext cx="91440" cy="57150"/>
          </a:xfrm>
          <a:prstGeom prst="rect">
            <a:avLst/>
          </a:prstGeom>
          <a:solidFill>
            <a:srgbClr val="E0A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14_ex_spa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91071" y="2148840"/>
            <a:ext cx="5120640" cy="301752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777240" y="5907024"/>
            <a:ext cx="10637215" cy="9525"/>
          </a:xfrm>
          <a:prstGeom prst="rect">
            <a:avLst/>
          </a:prstGeom>
          <a:solidFill>
            <a:srgbClr val="D6D6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6016752"/>
            <a:ext cx="10637215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9A6A00"/>
                </a:solidFill>
                <a:latin typeface="Roboto"/>
              </a:rPr>
              <a:t>A regra só enxerga o que alguém já tinha imaginado.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17175" y="6419088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E6E6E"/>
                </a:solidFill>
                <a:latin typeface="Roboto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411480"/>
            <a:ext cx="10637215" cy="1325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4000" b="1">
                <a:solidFill>
                  <a:srgbClr val="1E1E1E"/>
                </a:solidFill>
                <a:latin typeface="Roboto"/>
              </a:rPr>
              <a:t>Na prática: onde a regra fixa quebra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1920240"/>
            <a:ext cx="5120640" cy="1170431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2300" b="0">
                <a:solidFill>
                  <a:srgbClr val="6E6E6E"/>
                </a:solidFill>
                <a:latin typeface="Roboto"/>
              </a:rPr>
              <a:t>Antifraude </a:t>
            </a:r>
            <a:r>
              <a:rPr sz="2300" b="1">
                <a:solidFill>
                  <a:srgbClr val="6E6E6E"/>
                </a:solidFill>
                <a:latin typeface="Roboto"/>
              </a:rPr>
              <a:t>por regra</a:t>
            </a:r>
            <a:r>
              <a:rPr sz="2300" b="0">
                <a:solidFill>
                  <a:srgbClr val="6E6E6E"/>
                </a:solidFill>
                <a:latin typeface="Roboto"/>
              </a:rPr>
              <a:t>: bloqueia o cliente em viagem e libera dez compras pequenas do golpista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3200400"/>
            <a:ext cx="5120640" cy="1170431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2300" b="1">
                <a:solidFill>
                  <a:srgbClr val="6E6E6E"/>
                </a:solidFill>
                <a:latin typeface="Roboto"/>
              </a:rPr>
              <a:t>Filtro de spam</a:t>
            </a:r>
            <a:r>
              <a:rPr sz="2300" b="0">
                <a:solidFill>
                  <a:srgbClr val="6E6E6E"/>
                </a:solidFill>
                <a:latin typeface="Roboto"/>
              </a:rPr>
              <a:t> por lista de palavras: bastava trocar uma letra por um número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4480559"/>
            <a:ext cx="5120640" cy="1170431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2300" b="1">
                <a:solidFill>
                  <a:srgbClr val="1E1E1E"/>
                </a:solidFill>
                <a:latin typeface="Roboto"/>
              </a:rPr>
              <a:t>Corte de score</a:t>
            </a:r>
            <a:r>
              <a:rPr sz="2300" b="0">
                <a:solidFill>
                  <a:srgbClr val="1E1E1E"/>
                </a:solidFill>
                <a:latin typeface="Roboto"/>
              </a:rPr>
              <a:t> no crédito: nega o bom pagador que nunca teve conta em banco</a:t>
            </a:r>
          </a:p>
        </p:txBody>
      </p:sp>
      <p:sp>
        <p:nvSpPr>
          <p:cNvPr id="6" name="Rectangle 5"/>
          <p:cNvSpPr/>
          <p:nvPr/>
        </p:nvSpPr>
        <p:spPr>
          <a:xfrm>
            <a:off x="576072" y="4535423"/>
            <a:ext cx="91440" cy="57150"/>
          </a:xfrm>
          <a:prstGeom prst="rect">
            <a:avLst/>
          </a:prstGeom>
          <a:solidFill>
            <a:srgbClr val="E0A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15_ex_sco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91071" y="2148840"/>
            <a:ext cx="5120640" cy="301752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777240" y="5907024"/>
            <a:ext cx="10637215" cy="9525"/>
          </a:xfrm>
          <a:prstGeom prst="rect">
            <a:avLst/>
          </a:prstGeom>
          <a:solidFill>
            <a:srgbClr val="D6D6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6016752"/>
            <a:ext cx="10637215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9A6A00"/>
                </a:solidFill>
                <a:latin typeface="Roboto"/>
              </a:rPr>
              <a:t>A regra só enxerga o que alguém já tinha imaginado.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317175" y="6419088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E6E6E"/>
                </a:solidFill>
                <a:latin typeface="Roboto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411480"/>
            <a:ext cx="10637215" cy="1325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4000" b="1">
                <a:solidFill>
                  <a:srgbClr val="1E1E1E"/>
                </a:solidFill>
                <a:latin typeface="Roboto"/>
              </a:rPr>
              <a:t>Na prática: onde aprender com dados ganhou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1920240"/>
            <a:ext cx="5120640" cy="1170431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2300" b="0">
                <a:solidFill>
                  <a:srgbClr val="1E1E1E"/>
                </a:solidFill>
                <a:latin typeface="Roboto"/>
              </a:rPr>
              <a:t>Antifraude </a:t>
            </a:r>
            <a:r>
              <a:rPr sz="2300" b="1">
                <a:solidFill>
                  <a:srgbClr val="1E1E1E"/>
                </a:solidFill>
                <a:latin typeface="Roboto"/>
              </a:rPr>
              <a:t>que aprende</a:t>
            </a:r>
            <a:r>
              <a:rPr sz="2300" b="0">
                <a:solidFill>
                  <a:srgbClr val="1E1E1E"/>
                </a:solidFill>
                <a:latin typeface="Roboto"/>
              </a:rPr>
              <a:t>: conhece o padrão de cada cliente, não uma regra para todos</a:t>
            </a:r>
          </a:p>
        </p:txBody>
      </p:sp>
      <p:sp>
        <p:nvSpPr>
          <p:cNvPr id="4" name="Rectangle 3"/>
          <p:cNvSpPr/>
          <p:nvPr/>
        </p:nvSpPr>
        <p:spPr>
          <a:xfrm>
            <a:off x="576072" y="1975104"/>
            <a:ext cx="91440" cy="57150"/>
          </a:xfrm>
          <a:prstGeom prst="rect">
            <a:avLst/>
          </a:prstGeom>
          <a:solidFill>
            <a:srgbClr val="E0A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16_ex_antifraude_i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91071" y="2148840"/>
            <a:ext cx="5120640" cy="3017520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777240" y="5907024"/>
            <a:ext cx="10637215" cy="9525"/>
          </a:xfrm>
          <a:prstGeom prst="rect">
            <a:avLst/>
          </a:prstGeom>
          <a:solidFill>
            <a:srgbClr val="D6D6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6016752"/>
            <a:ext cx="10637215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9A6A00"/>
                </a:solidFill>
                <a:latin typeface="Roboto"/>
              </a:rPr>
              <a:t>O modelo vê o que ninguém imaginou. E também o preconceito que estava no histórico.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317175" y="6419088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E6E6E"/>
                </a:solidFill>
                <a:latin typeface="Roboto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411480"/>
            <a:ext cx="10637215" cy="1325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4000" b="1">
                <a:solidFill>
                  <a:srgbClr val="1E1E1E"/>
                </a:solidFill>
                <a:latin typeface="Roboto"/>
              </a:rPr>
              <a:t>Na prática: onde aprender com dados ganhou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1920240"/>
            <a:ext cx="5120640" cy="1170431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2300" b="0">
                <a:solidFill>
                  <a:srgbClr val="6E6E6E"/>
                </a:solidFill>
                <a:latin typeface="Roboto"/>
              </a:rPr>
              <a:t>Antifraude </a:t>
            </a:r>
            <a:r>
              <a:rPr sz="2300" b="1">
                <a:solidFill>
                  <a:srgbClr val="6E6E6E"/>
                </a:solidFill>
                <a:latin typeface="Roboto"/>
              </a:rPr>
              <a:t>que aprende</a:t>
            </a:r>
            <a:r>
              <a:rPr sz="2300" b="0">
                <a:solidFill>
                  <a:srgbClr val="6E6E6E"/>
                </a:solidFill>
                <a:latin typeface="Roboto"/>
              </a:rPr>
              <a:t>: conhece o padrão de cada cliente, não uma regra para todos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3200400"/>
            <a:ext cx="5120640" cy="1170431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2300" b="1">
                <a:solidFill>
                  <a:srgbClr val="1E1E1E"/>
                </a:solidFill>
                <a:latin typeface="Roboto"/>
              </a:rPr>
              <a:t>Tradução automática</a:t>
            </a:r>
            <a:r>
              <a:rPr sz="2300" b="0">
                <a:solidFill>
                  <a:srgbClr val="1E1E1E"/>
                </a:solidFill>
                <a:latin typeface="Roboto"/>
              </a:rPr>
              <a:t>: virou útil para trabalho quando trocou gramática por aprendizado</a:t>
            </a:r>
          </a:p>
        </p:txBody>
      </p:sp>
      <p:sp>
        <p:nvSpPr>
          <p:cNvPr id="5" name="Rectangle 4"/>
          <p:cNvSpPr/>
          <p:nvPr/>
        </p:nvSpPr>
        <p:spPr>
          <a:xfrm>
            <a:off x="576072" y="3255264"/>
            <a:ext cx="91440" cy="57150"/>
          </a:xfrm>
          <a:prstGeom prst="rect">
            <a:avLst/>
          </a:prstGeom>
          <a:solidFill>
            <a:srgbClr val="E0A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17_ex_traduca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91071" y="2148840"/>
            <a:ext cx="5120640" cy="301752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777240" y="5907024"/>
            <a:ext cx="10637215" cy="9525"/>
          </a:xfrm>
          <a:prstGeom prst="rect">
            <a:avLst/>
          </a:prstGeom>
          <a:solidFill>
            <a:srgbClr val="D6D6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6016752"/>
            <a:ext cx="10637215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9A6A00"/>
                </a:solidFill>
                <a:latin typeface="Roboto"/>
              </a:rPr>
              <a:t>O modelo vê o que ninguém imaginou. E também o preconceito que estava no histórico.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17175" y="6419088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E6E6E"/>
                </a:solidFill>
                <a:latin typeface="Roboto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411480"/>
            <a:ext cx="10637215" cy="1325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4000" b="1">
                <a:solidFill>
                  <a:srgbClr val="1E1E1E"/>
                </a:solidFill>
                <a:latin typeface="Roboto"/>
              </a:rPr>
              <a:t>Na prática: onde aprender com dados ganhou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1920240"/>
            <a:ext cx="5120640" cy="1170431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2300" b="0">
                <a:solidFill>
                  <a:srgbClr val="6E6E6E"/>
                </a:solidFill>
                <a:latin typeface="Roboto"/>
              </a:rPr>
              <a:t>Antifraude </a:t>
            </a:r>
            <a:r>
              <a:rPr sz="2300" b="1">
                <a:solidFill>
                  <a:srgbClr val="6E6E6E"/>
                </a:solidFill>
                <a:latin typeface="Roboto"/>
              </a:rPr>
              <a:t>que aprende</a:t>
            </a:r>
            <a:r>
              <a:rPr sz="2300" b="0">
                <a:solidFill>
                  <a:srgbClr val="6E6E6E"/>
                </a:solidFill>
                <a:latin typeface="Roboto"/>
              </a:rPr>
              <a:t>: conhece o padrão de cada cliente, não uma regra para todos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3200400"/>
            <a:ext cx="5120640" cy="1170431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2300" b="1">
                <a:solidFill>
                  <a:srgbClr val="6E6E6E"/>
                </a:solidFill>
                <a:latin typeface="Roboto"/>
              </a:rPr>
              <a:t>Tradução automática</a:t>
            </a:r>
            <a:r>
              <a:rPr sz="2300" b="0">
                <a:solidFill>
                  <a:srgbClr val="6E6E6E"/>
                </a:solidFill>
                <a:latin typeface="Roboto"/>
              </a:rPr>
              <a:t>: virou útil para trabalho quando trocou gramática por aprendizado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4480559"/>
            <a:ext cx="5120640" cy="1170431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2300" b="1">
                <a:solidFill>
                  <a:srgbClr val="1E1E1E"/>
                </a:solidFill>
                <a:latin typeface="Roboto"/>
              </a:rPr>
              <a:t>Previsão de demanda</a:t>
            </a:r>
            <a:r>
              <a:rPr sz="2300" b="0">
                <a:solidFill>
                  <a:srgbClr val="1E1E1E"/>
                </a:solidFill>
                <a:latin typeface="Roboto"/>
              </a:rPr>
              <a:t>: menos ruptura na prateleira e menos capital parado</a:t>
            </a:r>
          </a:p>
        </p:txBody>
      </p:sp>
      <p:sp>
        <p:nvSpPr>
          <p:cNvPr id="6" name="Rectangle 5"/>
          <p:cNvSpPr/>
          <p:nvPr/>
        </p:nvSpPr>
        <p:spPr>
          <a:xfrm>
            <a:off x="576072" y="4535423"/>
            <a:ext cx="91440" cy="57150"/>
          </a:xfrm>
          <a:prstGeom prst="rect">
            <a:avLst/>
          </a:prstGeom>
          <a:solidFill>
            <a:srgbClr val="E0A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18_ex_demand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91071" y="2148840"/>
            <a:ext cx="5120640" cy="301752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777240" y="5907024"/>
            <a:ext cx="10637215" cy="9525"/>
          </a:xfrm>
          <a:prstGeom prst="rect">
            <a:avLst/>
          </a:prstGeom>
          <a:solidFill>
            <a:srgbClr val="D6D6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6016752"/>
            <a:ext cx="10637215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9A6A00"/>
                </a:solidFill>
                <a:latin typeface="Roboto"/>
              </a:rPr>
              <a:t>O modelo vê o que ninguém imaginou. E também o preconceito que estava no histórico.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317175" y="6419088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E6E6E"/>
                </a:solidFill>
                <a:latin typeface="Roboto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1051560"/>
            <a:ext cx="10637215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9A6A00"/>
                </a:solidFill>
                <a:latin typeface="Roboto"/>
              </a:rPr>
              <a:t>PERGUNTA 2 PARA A PLATEIA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627632"/>
            <a:ext cx="2743200" cy="44450"/>
          </a:xfrm>
          <a:prstGeom prst="rect">
            <a:avLst/>
          </a:prstGeom>
          <a:solidFill>
            <a:srgbClr val="E0A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2057400"/>
            <a:ext cx="10637215" cy="2743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4600" b="1">
                <a:solidFill>
                  <a:srgbClr val="1E1E1E"/>
                </a:solidFill>
                <a:latin typeface="Roboto"/>
              </a:rPr>
              <a:t>Quanto tempo o ChatGPT levou para chegar a 100 milhões de usuários?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4983480"/>
            <a:ext cx="10637215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2400" b="0">
                <a:solidFill>
                  <a:srgbClr val="6E6E6E"/>
                </a:solidFill>
                <a:latin typeface="Roboto"/>
              </a:rPr>
              <a:t>Chute em voz alta. Quem chegar mais perto ganha o meu respeito.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17175" y="6419088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E6E6E"/>
                </a:solidFill>
                <a:latin typeface="Roboto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411480"/>
            <a:ext cx="10637215" cy="1325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4000" b="1">
                <a:solidFill>
                  <a:srgbClr val="1E1E1E"/>
                </a:solidFill>
                <a:latin typeface="Roboto"/>
              </a:rPr>
              <a:t>Tempo para chegar a 100 milhões de usuários</a:t>
            </a:r>
          </a:p>
        </p:txBody>
      </p:sp>
      <p:pic>
        <p:nvPicPr>
          <p:cNvPr id="3" name="Picture 2" descr="01_adoca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1920240"/>
            <a:ext cx="10637215" cy="3840479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777240" y="5907024"/>
            <a:ext cx="10637215" cy="9525"/>
          </a:xfrm>
          <a:prstGeom prst="rect">
            <a:avLst/>
          </a:prstGeom>
          <a:solidFill>
            <a:srgbClr val="D6D6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6016752"/>
            <a:ext cx="10637215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>
                <a:solidFill>
                  <a:srgbClr val="6E6E6E"/>
                </a:solidFill>
                <a:latin typeface="Roboto"/>
              </a:rPr>
              <a:t>Fonte: estimativas UBS e Reuters, 2023. Nenhuma geração teve tão pouco tempo para se adaptar.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17175" y="6419088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E6E6E"/>
                </a:solidFill>
                <a:latin typeface="Roboto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411480"/>
            <a:ext cx="10637215" cy="1325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4000" b="1">
                <a:solidFill>
                  <a:srgbClr val="1E1E1E"/>
                </a:solidFill>
                <a:latin typeface="Roboto"/>
              </a:rPr>
              <a:t>Onde ela acerta com folga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1920240"/>
            <a:ext cx="5120640" cy="850391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2600" b="0">
                <a:solidFill>
                  <a:srgbClr val="1E1E1E"/>
                </a:solidFill>
                <a:latin typeface="Roboto"/>
              </a:rPr>
              <a:t>Redigir, resumir, traduzir, reescrever</a:t>
            </a:r>
          </a:p>
        </p:txBody>
      </p:sp>
      <p:sp>
        <p:nvSpPr>
          <p:cNvPr id="4" name="Rectangle 3"/>
          <p:cNvSpPr/>
          <p:nvPr/>
        </p:nvSpPr>
        <p:spPr>
          <a:xfrm>
            <a:off x="576072" y="1975104"/>
            <a:ext cx="91440" cy="57150"/>
          </a:xfrm>
          <a:prstGeom prst="rect">
            <a:avLst/>
          </a:prstGeom>
          <a:solidFill>
            <a:srgbClr val="E0A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19_acert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91071" y="2148840"/>
            <a:ext cx="5120640" cy="3017520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777240" y="5907024"/>
            <a:ext cx="10637215" cy="9525"/>
          </a:xfrm>
          <a:prstGeom prst="rect">
            <a:avLst/>
          </a:prstGeom>
          <a:solidFill>
            <a:srgbClr val="D6D6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6016752"/>
            <a:ext cx="10637215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9A6A00"/>
                </a:solidFill>
                <a:latin typeface="Roboto"/>
              </a:rPr>
              <a:t>Tarefa de texto, resultado imediato, custo perto de zero.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317175" y="6419088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E6E6E"/>
                </a:solidFill>
                <a:latin typeface="Roboto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411480"/>
            <a:ext cx="10637215" cy="1325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4000" b="1">
                <a:solidFill>
                  <a:srgbClr val="1E1E1E"/>
                </a:solidFill>
                <a:latin typeface="Roboto"/>
              </a:rPr>
              <a:t>Onde ela acerta com folga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1920240"/>
            <a:ext cx="5120640" cy="850391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2600" b="0">
                <a:solidFill>
                  <a:srgbClr val="6E6E6E"/>
                </a:solidFill>
                <a:latin typeface="Roboto"/>
              </a:rPr>
              <a:t>Redigir, resumir, traduzir, reescrever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2880360"/>
            <a:ext cx="5120640" cy="850391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2600" b="0">
                <a:solidFill>
                  <a:srgbClr val="1E1E1E"/>
                </a:solidFill>
                <a:latin typeface="Roboto"/>
              </a:rPr>
              <a:t>Achar </a:t>
            </a:r>
            <a:r>
              <a:rPr sz="2600" b="1">
                <a:solidFill>
                  <a:srgbClr val="1E1E1E"/>
                </a:solidFill>
                <a:latin typeface="Roboto"/>
              </a:rPr>
              <a:t>padrão</a:t>
            </a:r>
            <a:r>
              <a:rPr sz="2600" b="0">
                <a:solidFill>
                  <a:srgbClr val="1E1E1E"/>
                </a:solidFill>
                <a:latin typeface="Roboto"/>
              </a:rPr>
              <a:t> em planilha grande</a:t>
            </a:r>
          </a:p>
        </p:txBody>
      </p:sp>
      <p:sp>
        <p:nvSpPr>
          <p:cNvPr id="5" name="Rectangle 4"/>
          <p:cNvSpPr/>
          <p:nvPr/>
        </p:nvSpPr>
        <p:spPr>
          <a:xfrm>
            <a:off x="576072" y="2935224"/>
            <a:ext cx="91440" cy="57150"/>
          </a:xfrm>
          <a:prstGeom prst="rect">
            <a:avLst/>
          </a:prstGeom>
          <a:solidFill>
            <a:srgbClr val="E0A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19_acert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91071" y="2148840"/>
            <a:ext cx="5120640" cy="301752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777240" y="5907024"/>
            <a:ext cx="10637215" cy="9525"/>
          </a:xfrm>
          <a:prstGeom prst="rect">
            <a:avLst/>
          </a:prstGeom>
          <a:solidFill>
            <a:srgbClr val="D6D6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6016752"/>
            <a:ext cx="10637215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9A6A00"/>
                </a:solidFill>
                <a:latin typeface="Roboto"/>
              </a:rPr>
              <a:t>Tarefa de texto, resultado imediato, custo perto de zero.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17175" y="6419088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E6E6E"/>
                </a:solidFill>
                <a:latin typeface="Roboto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411480"/>
            <a:ext cx="10637215" cy="1325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4000" b="1">
                <a:solidFill>
                  <a:srgbClr val="1E1E1E"/>
                </a:solidFill>
                <a:latin typeface="Roboto"/>
              </a:rPr>
              <a:t>Onde ela acerta com folga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1920240"/>
            <a:ext cx="5120640" cy="850391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2600" b="0">
                <a:solidFill>
                  <a:srgbClr val="6E6E6E"/>
                </a:solidFill>
                <a:latin typeface="Roboto"/>
              </a:rPr>
              <a:t>Redigir, resumir, traduzir, reescrever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2880360"/>
            <a:ext cx="5120640" cy="850391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2600" b="0">
                <a:solidFill>
                  <a:srgbClr val="6E6E6E"/>
                </a:solidFill>
                <a:latin typeface="Roboto"/>
              </a:rPr>
              <a:t>Achar </a:t>
            </a:r>
            <a:r>
              <a:rPr sz="2600" b="1">
                <a:solidFill>
                  <a:srgbClr val="6E6E6E"/>
                </a:solidFill>
                <a:latin typeface="Roboto"/>
              </a:rPr>
              <a:t>padrão</a:t>
            </a:r>
            <a:r>
              <a:rPr sz="2600" b="0">
                <a:solidFill>
                  <a:srgbClr val="6E6E6E"/>
                </a:solidFill>
                <a:latin typeface="Roboto"/>
              </a:rPr>
              <a:t> em planilha grande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3840479"/>
            <a:ext cx="5120640" cy="850391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2600" b="0">
                <a:solidFill>
                  <a:srgbClr val="1E1E1E"/>
                </a:solidFill>
                <a:latin typeface="Roboto"/>
              </a:rPr>
              <a:t>Gerar a </a:t>
            </a:r>
            <a:r>
              <a:rPr sz="2600" b="1">
                <a:solidFill>
                  <a:srgbClr val="1E1E1E"/>
                </a:solidFill>
                <a:latin typeface="Roboto"/>
              </a:rPr>
              <a:t>primeira versão</a:t>
            </a:r>
            <a:r>
              <a:rPr sz="2600" b="0">
                <a:solidFill>
                  <a:srgbClr val="1E1E1E"/>
                </a:solidFill>
                <a:latin typeface="Roboto"/>
              </a:rPr>
              <a:t> de qualquer coisa</a:t>
            </a:r>
          </a:p>
        </p:txBody>
      </p:sp>
      <p:sp>
        <p:nvSpPr>
          <p:cNvPr id="6" name="Rectangle 5"/>
          <p:cNvSpPr/>
          <p:nvPr/>
        </p:nvSpPr>
        <p:spPr>
          <a:xfrm>
            <a:off x="576072" y="3895343"/>
            <a:ext cx="91440" cy="57150"/>
          </a:xfrm>
          <a:prstGeom prst="rect">
            <a:avLst/>
          </a:prstGeom>
          <a:solidFill>
            <a:srgbClr val="E0A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19_acert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91071" y="2148840"/>
            <a:ext cx="5120640" cy="301752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777240" y="5907024"/>
            <a:ext cx="10637215" cy="9525"/>
          </a:xfrm>
          <a:prstGeom prst="rect">
            <a:avLst/>
          </a:prstGeom>
          <a:solidFill>
            <a:srgbClr val="D6D6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6016752"/>
            <a:ext cx="10637215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9A6A00"/>
                </a:solidFill>
                <a:latin typeface="Roboto"/>
              </a:rPr>
              <a:t>Tarefa de texto, resultado imediato, custo perto de zero.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317175" y="6419088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E6E6E"/>
                </a:solidFill>
                <a:latin typeface="Roboto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411480"/>
            <a:ext cx="10637215" cy="1325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4000" b="1">
                <a:solidFill>
                  <a:srgbClr val="1E1E1E"/>
                </a:solidFill>
                <a:latin typeface="Roboto"/>
              </a:rPr>
              <a:t>Onde ela acerta com folga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1920240"/>
            <a:ext cx="5120640" cy="850391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2600" b="0">
                <a:solidFill>
                  <a:srgbClr val="6E6E6E"/>
                </a:solidFill>
                <a:latin typeface="Roboto"/>
              </a:rPr>
              <a:t>Redigir, resumir, traduzir, reescrever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2880360"/>
            <a:ext cx="5120640" cy="850391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2600" b="0">
                <a:solidFill>
                  <a:srgbClr val="6E6E6E"/>
                </a:solidFill>
                <a:latin typeface="Roboto"/>
              </a:rPr>
              <a:t>Achar </a:t>
            </a:r>
            <a:r>
              <a:rPr sz="2600" b="1">
                <a:solidFill>
                  <a:srgbClr val="6E6E6E"/>
                </a:solidFill>
                <a:latin typeface="Roboto"/>
              </a:rPr>
              <a:t>padrão</a:t>
            </a:r>
            <a:r>
              <a:rPr sz="2600" b="0">
                <a:solidFill>
                  <a:srgbClr val="6E6E6E"/>
                </a:solidFill>
                <a:latin typeface="Roboto"/>
              </a:rPr>
              <a:t> em planilha grande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3840479"/>
            <a:ext cx="5120640" cy="850391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2600" b="0">
                <a:solidFill>
                  <a:srgbClr val="6E6E6E"/>
                </a:solidFill>
                <a:latin typeface="Roboto"/>
              </a:rPr>
              <a:t>Gerar a </a:t>
            </a:r>
            <a:r>
              <a:rPr sz="2600" b="1">
                <a:solidFill>
                  <a:srgbClr val="6E6E6E"/>
                </a:solidFill>
                <a:latin typeface="Roboto"/>
              </a:rPr>
              <a:t>primeira versão</a:t>
            </a:r>
            <a:r>
              <a:rPr sz="2600" b="0">
                <a:solidFill>
                  <a:srgbClr val="6E6E6E"/>
                </a:solidFill>
                <a:latin typeface="Roboto"/>
              </a:rPr>
              <a:t> de qualquer coisa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4800600"/>
            <a:ext cx="5120640" cy="850391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2600" b="0">
                <a:solidFill>
                  <a:srgbClr val="1E1E1E"/>
                </a:solidFill>
                <a:latin typeface="Roboto"/>
              </a:rPr>
              <a:t>Explicar assunto difícil </a:t>
            </a:r>
            <a:r>
              <a:rPr sz="2600" b="1">
                <a:solidFill>
                  <a:srgbClr val="1E1E1E"/>
                </a:solidFill>
                <a:latin typeface="Roboto"/>
              </a:rPr>
              <a:t>no seu nível</a:t>
            </a:r>
          </a:p>
        </p:txBody>
      </p:sp>
      <p:sp>
        <p:nvSpPr>
          <p:cNvPr id="7" name="Rectangle 6"/>
          <p:cNvSpPr/>
          <p:nvPr/>
        </p:nvSpPr>
        <p:spPr>
          <a:xfrm>
            <a:off x="576072" y="4855464"/>
            <a:ext cx="91440" cy="57150"/>
          </a:xfrm>
          <a:prstGeom prst="rect">
            <a:avLst/>
          </a:prstGeom>
          <a:solidFill>
            <a:srgbClr val="E0A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19_acert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91071" y="2148840"/>
            <a:ext cx="5120640" cy="3017520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777240" y="5907024"/>
            <a:ext cx="10637215" cy="9525"/>
          </a:xfrm>
          <a:prstGeom prst="rect">
            <a:avLst/>
          </a:prstGeom>
          <a:solidFill>
            <a:srgbClr val="D6D6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6016752"/>
            <a:ext cx="10637215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9A6A00"/>
                </a:solidFill>
                <a:latin typeface="Roboto"/>
              </a:rPr>
              <a:t>Tarefa de texto, resultado imediato, custo perto de zero.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317175" y="6419088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E6E6E"/>
                </a:solidFill>
                <a:latin typeface="Roboto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411480"/>
            <a:ext cx="10637215" cy="1325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4000" b="1">
                <a:solidFill>
                  <a:srgbClr val="1E1E1E"/>
                </a:solidFill>
                <a:latin typeface="Roboto"/>
              </a:rPr>
              <a:t>Onde ela erra feio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1920240"/>
            <a:ext cx="5120640" cy="850391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1E1E1E"/>
                </a:solidFill>
                <a:latin typeface="Roboto"/>
              </a:rPr>
              <a:t>Inventa</a:t>
            </a:r>
            <a:r>
              <a:rPr sz="2600" b="0">
                <a:solidFill>
                  <a:srgbClr val="1E1E1E"/>
                </a:solidFill>
                <a:latin typeface="Roboto"/>
              </a:rPr>
              <a:t> fonte, número e citação</a:t>
            </a:r>
          </a:p>
        </p:txBody>
      </p:sp>
      <p:sp>
        <p:nvSpPr>
          <p:cNvPr id="4" name="Rectangle 3"/>
          <p:cNvSpPr/>
          <p:nvPr/>
        </p:nvSpPr>
        <p:spPr>
          <a:xfrm>
            <a:off x="576072" y="1975104"/>
            <a:ext cx="91440" cy="57150"/>
          </a:xfrm>
          <a:prstGeom prst="rect">
            <a:avLst/>
          </a:prstGeom>
          <a:solidFill>
            <a:srgbClr val="E0A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20_err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91071" y="2148840"/>
            <a:ext cx="5120640" cy="3017520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777240" y="5907024"/>
            <a:ext cx="10637215" cy="9525"/>
          </a:xfrm>
          <a:prstGeom prst="rect">
            <a:avLst/>
          </a:prstGeom>
          <a:solidFill>
            <a:srgbClr val="D6D6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6016752"/>
            <a:ext cx="10637215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9A6A00"/>
                </a:solidFill>
                <a:latin typeface="Roboto"/>
              </a:rPr>
              <a:t>A IA não erra menos que você. Erra diferente, e em outra velocidade.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317175" y="6419088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E6E6E"/>
                </a:solidFill>
                <a:latin typeface="Roboto"/>
              </a:rP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411480"/>
            <a:ext cx="10637215" cy="1325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4000" b="1">
                <a:solidFill>
                  <a:srgbClr val="1E1E1E"/>
                </a:solidFill>
                <a:latin typeface="Roboto"/>
              </a:rPr>
              <a:t>Onde ela erra feio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1920240"/>
            <a:ext cx="5120640" cy="850391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6E6E6E"/>
                </a:solidFill>
                <a:latin typeface="Roboto"/>
              </a:rPr>
              <a:t>Inventa</a:t>
            </a:r>
            <a:r>
              <a:rPr sz="2600" b="0">
                <a:solidFill>
                  <a:srgbClr val="6E6E6E"/>
                </a:solidFill>
                <a:latin typeface="Roboto"/>
              </a:rPr>
              <a:t> fonte, número e citação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2880360"/>
            <a:ext cx="5120640" cy="850391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2600" b="0">
                <a:solidFill>
                  <a:srgbClr val="1E1E1E"/>
                </a:solidFill>
                <a:latin typeface="Roboto"/>
              </a:rPr>
              <a:t>Reproduz o </a:t>
            </a:r>
            <a:r>
              <a:rPr sz="2600" b="1">
                <a:solidFill>
                  <a:srgbClr val="1E1E1E"/>
                </a:solidFill>
                <a:latin typeface="Roboto"/>
              </a:rPr>
              <a:t>viés</a:t>
            </a:r>
            <a:r>
              <a:rPr sz="2600" b="0">
                <a:solidFill>
                  <a:srgbClr val="1E1E1E"/>
                </a:solidFill>
                <a:latin typeface="Roboto"/>
              </a:rPr>
              <a:t> de quem gerou o dado</a:t>
            </a:r>
          </a:p>
        </p:txBody>
      </p:sp>
      <p:sp>
        <p:nvSpPr>
          <p:cNvPr id="5" name="Rectangle 4"/>
          <p:cNvSpPr/>
          <p:nvPr/>
        </p:nvSpPr>
        <p:spPr>
          <a:xfrm>
            <a:off x="576072" y="2935224"/>
            <a:ext cx="91440" cy="57150"/>
          </a:xfrm>
          <a:prstGeom prst="rect">
            <a:avLst/>
          </a:prstGeom>
          <a:solidFill>
            <a:srgbClr val="E0A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20_err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91071" y="2148840"/>
            <a:ext cx="5120640" cy="301752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777240" y="5907024"/>
            <a:ext cx="10637215" cy="9525"/>
          </a:xfrm>
          <a:prstGeom prst="rect">
            <a:avLst/>
          </a:prstGeom>
          <a:solidFill>
            <a:srgbClr val="D6D6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6016752"/>
            <a:ext cx="10637215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9A6A00"/>
                </a:solidFill>
                <a:latin typeface="Roboto"/>
              </a:rPr>
              <a:t>A IA não erra menos que você. Erra diferente, e em outra velocidade.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17175" y="6419088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E6E6E"/>
                </a:solidFill>
                <a:latin typeface="Roboto"/>
              </a:rP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411480"/>
            <a:ext cx="10637215" cy="1325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4000" b="1">
                <a:solidFill>
                  <a:srgbClr val="1E1E1E"/>
                </a:solidFill>
                <a:latin typeface="Roboto"/>
              </a:rPr>
              <a:t>Onde ela erra feio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1920240"/>
            <a:ext cx="5120640" cy="850391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6E6E6E"/>
                </a:solidFill>
                <a:latin typeface="Roboto"/>
              </a:rPr>
              <a:t>Inventa</a:t>
            </a:r>
            <a:r>
              <a:rPr sz="2600" b="0">
                <a:solidFill>
                  <a:srgbClr val="6E6E6E"/>
                </a:solidFill>
                <a:latin typeface="Roboto"/>
              </a:rPr>
              <a:t> fonte, número e citação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2880360"/>
            <a:ext cx="5120640" cy="850391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2600" b="0">
                <a:solidFill>
                  <a:srgbClr val="6E6E6E"/>
                </a:solidFill>
                <a:latin typeface="Roboto"/>
              </a:rPr>
              <a:t>Reproduz o </a:t>
            </a:r>
            <a:r>
              <a:rPr sz="2600" b="1">
                <a:solidFill>
                  <a:srgbClr val="6E6E6E"/>
                </a:solidFill>
                <a:latin typeface="Roboto"/>
              </a:rPr>
              <a:t>viés</a:t>
            </a:r>
            <a:r>
              <a:rPr sz="2600" b="0">
                <a:solidFill>
                  <a:srgbClr val="6E6E6E"/>
                </a:solidFill>
                <a:latin typeface="Roboto"/>
              </a:rPr>
              <a:t> de quem gerou o dado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3840479"/>
            <a:ext cx="5120640" cy="850391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2600" b="0">
                <a:solidFill>
                  <a:srgbClr val="1E1E1E"/>
                </a:solidFill>
                <a:latin typeface="Roboto"/>
              </a:rPr>
              <a:t>Desconhece </a:t>
            </a:r>
            <a:r>
              <a:rPr sz="2600" b="1">
                <a:solidFill>
                  <a:srgbClr val="1E1E1E"/>
                </a:solidFill>
                <a:latin typeface="Roboto"/>
              </a:rPr>
              <a:t>o particular</a:t>
            </a:r>
            <a:r>
              <a:rPr sz="2600" b="0">
                <a:solidFill>
                  <a:srgbClr val="1E1E1E"/>
                </a:solidFill>
                <a:latin typeface="Roboto"/>
              </a:rPr>
              <a:t>: sua empresa, sua cidade</a:t>
            </a:r>
          </a:p>
        </p:txBody>
      </p:sp>
      <p:sp>
        <p:nvSpPr>
          <p:cNvPr id="6" name="Rectangle 5"/>
          <p:cNvSpPr/>
          <p:nvPr/>
        </p:nvSpPr>
        <p:spPr>
          <a:xfrm>
            <a:off x="576072" y="3895343"/>
            <a:ext cx="91440" cy="57150"/>
          </a:xfrm>
          <a:prstGeom prst="rect">
            <a:avLst/>
          </a:prstGeom>
          <a:solidFill>
            <a:srgbClr val="E0A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20_err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91071" y="2148840"/>
            <a:ext cx="5120640" cy="301752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777240" y="5907024"/>
            <a:ext cx="10637215" cy="9525"/>
          </a:xfrm>
          <a:prstGeom prst="rect">
            <a:avLst/>
          </a:prstGeom>
          <a:solidFill>
            <a:srgbClr val="D6D6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6016752"/>
            <a:ext cx="10637215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9A6A00"/>
                </a:solidFill>
                <a:latin typeface="Roboto"/>
              </a:rPr>
              <a:t>A IA não erra menos que você. Erra diferente, e em outra velocidade.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317175" y="6419088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E6E6E"/>
                </a:solidFill>
                <a:latin typeface="Roboto"/>
              </a:rPr>
              <a:t>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411480"/>
            <a:ext cx="10637215" cy="1325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4000" b="1">
                <a:solidFill>
                  <a:srgbClr val="1E1E1E"/>
                </a:solidFill>
                <a:latin typeface="Roboto"/>
              </a:rPr>
              <a:t>Onde ela erra feio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1920240"/>
            <a:ext cx="5120640" cy="850391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6E6E6E"/>
                </a:solidFill>
                <a:latin typeface="Roboto"/>
              </a:rPr>
              <a:t>Inventa</a:t>
            </a:r>
            <a:r>
              <a:rPr sz="2600" b="0">
                <a:solidFill>
                  <a:srgbClr val="6E6E6E"/>
                </a:solidFill>
                <a:latin typeface="Roboto"/>
              </a:rPr>
              <a:t> fonte, número e citação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2880360"/>
            <a:ext cx="5120640" cy="850391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2600" b="0">
                <a:solidFill>
                  <a:srgbClr val="6E6E6E"/>
                </a:solidFill>
                <a:latin typeface="Roboto"/>
              </a:rPr>
              <a:t>Reproduz o </a:t>
            </a:r>
            <a:r>
              <a:rPr sz="2600" b="1">
                <a:solidFill>
                  <a:srgbClr val="6E6E6E"/>
                </a:solidFill>
                <a:latin typeface="Roboto"/>
              </a:rPr>
              <a:t>viés</a:t>
            </a:r>
            <a:r>
              <a:rPr sz="2600" b="0">
                <a:solidFill>
                  <a:srgbClr val="6E6E6E"/>
                </a:solidFill>
                <a:latin typeface="Roboto"/>
              </a:rPr>
              <a:t> de quem gerou o dado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3840479"/>
            <a:ext cx="5120640" cy="850391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2600" b="0">
                <a:solidFill>
                  <a:srgbClr val="6E6E6E"/>
                </a:solidFill>
                <a:latin typeface="Roboto"/>
              </a:rPr>
              <a:t>Desconhece </a:t>
            </a:r>
            <a:r>
              <a:rPr sz="2600" b="1">
                <a:solidFill>
                  <a:srgbClr val="6E6E6E"/>
                </a:solidFill>
                <a:latin typeface="Roboto"/>
              </a:rPr>
              <a:t>o particular</a:t>
            </a:r>
            <a:r>
              <a:rPr sz="2600" b="0">
                <a:solidFill>
                  <a:srgbClr val="6E6E6E"/>
                </a:solidFill>
                <a:latin typeface="Roboto"/>
              </a:rPr>
              <a:t>: sua empresa, sua cidade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4800600"/>
            <a:ext cx="5120640" cy="850391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1E1E1E"/>
                </a:solidFill>
                <a:latin typeface="Roboto"/>
              </a:rPr>
              <a:t>Não sabe quando não sabe</a:t>
            </a:r>
          </a:p>
        </p:txBody>
      </p:sp>
      <p:sp>
        <p:nvSpPr>
          <p:cNvPr id="7" name="Rectangle 6"/>
          <p:cNvSpPr/>
          <p:nvPr/>
        </p:nvSpPr>
        <p:spPr>
          <a:xfrm>
            <a:off x="576072" y="4855464"/>
            <a:ext cx="91440" cy="57150"/>
          </a:xfrm>
          <a:prstGeom prst="rect">
            <a:avLst/>
          </a:prstGeom>
          <a:solidFill>
            <a:srgbClr val="E0A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20_err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91071" y="2148840"/>
            <a:ext cx="5120640" cy="3017520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777240" y="5907024"/>
            <a:ext cx="10637215" cy="9525"/>
          </a:xfrm>
          <a:prstGeom prst="rect">
            <a:avLst/>
          </a:prstGeom>
          <a:solidFill>
            <a:srgbClr val="D6D6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6016752"/>
            <a:ext cx="10637215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9A6A00"/>
                </a:solidFill>
                <a:latin typeface="Roboto"/>
              </a:rPr>
              <a:t>A IA não erra menos que você. Erra diferente, e em outra velocidade.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317175" y="6419088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E6E6E"/>
                </a:solidFill>
                <a:latin typeface="Roboto"/>
              </a:rPr>
              <a:t>22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411480"/>
            <a:ext cx="10637215" cy="1325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4000" b="1">
                <a:solidFill>
                  <a:srgbClr val="1E1E1E"/>
                </a:solidFill>
                <a:latin typeface="Roboto"/>
              </a:rPr>
              <a:t>Releia a coluna da direita pensando em gente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783080"/>
            <a:ext cx="10637215" cy="9525"/>
          </a:xfrm>
          <a:prstGeom prst="rect">
            <a:avLst/>
          </a:prstGeom>
          <a:solidFill>
            <a:srgbClr val="D6D6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920240"/>
            <a:ext cx="3931920" cy="86867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2100" b="1">
                <a:solidFill>
                  <a:srgbClr val="9A6A00"/>
                </a:solidFill>
                <a:latin typeface="Roboto"/>
              </a:rPr>
              <a:t>Inventa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199" y="1920240"/>
            <a:ext cx="6385255" cy="86867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2100" b="0">
                <a:solidFill>
                  <a:srgbClr val="1E1E1E"/>
                </a:solidFill>
                <a:latin typeface="Roboto"/>
              </a:rPr>
              <a:t>A gente cita de memória, arredonda para cima e lembra com convicção o que não foi bem assim.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5907024"/>
            <a:ext cx="10637215" cy="9525"/>
          </a:xfrm>
          <a:prstGeom prst="rect">
            <a:avLst/>
          </a:prstGeom>
          <a:solidFill>
            <a:srgbClr val="D6D6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6016752"/>
            <a:ext cx="10637215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9A6A00"/>
                </a:solidFill>
                <a:latin typeface="Roboto"/>
              </a:rPr>
              <a:t>Bom senso e responsabilidade não vêm de fábrica. São habilidades desenvolvidas.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317175" y="6419088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E6E6E"/>
                </a:solidFill>
                <a:latin typeface="Roboto"/>
              </a:rPr>
              <a:t>23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411480"/>
            <a:ext cx="10637215" cy="1325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4000" b="1">
                <a:solidFill>
                  <a:srgbClr val="1E1E1E"/>
                </a:solidFill>
                <a:latin typeface="Roboto"/>
              </a:rPr>
              <a:t>Releia a coluna da direita pensando em gente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783080"/>
            <a:ext cx="10637215" cy="9525"/>
          </a:xfrm>
          <a:prstGeom prst="rect">
            <a:avLst/>
          </a:prstGeom>
          <a:solidFill>
            <a:srgbClr val="D6D6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920240"/>
            <a:ext cx="3931920" cy="86867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2100" b="1">
                <a:solidFill>
                  <a:srgbClr val="6E6E6E"/>
                </a:solidFill>
                <a:latin typeface="Roboto"/>
              </a:rPr>
              <a:t>Inventa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199" y="1920240"/>
            <a:ext cx="6385255" cy="86867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2100" b="0">
                <a:solidFill>
                  <a:srgbClr val="6E6E6E"/>
                </a:solidFill>
                <a:latin typeface="Roboto"/>
              </a:rPr>
              <a:t>A gente cita de memória, arredonda para cima e lembra com convicção o que não foi bem assim.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2765145"/>
            <a:ext cx="10637215" cy="9525"/>
          </a:xfrm>
          <a:prstGeom prst="rect">
            <a:avLst/>
          </a:prstGeom>
          <a:solidFill>
            <a:srgbClr val="D6D6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2880360"/>
            <a:ext cx="3931920" cy="86867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2100" b="1">
                <a:solidFill>
                  <a:srgbClr val="9A6A00"/>
                </a:solidFill>
                <a:latin typeface="Roboto"/>
              </a:rPr>
              <a:t>Reproduz viés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199" y="2880360"/>
            <a:ext cx="6385255" cy="86867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2100" b="0">
                <a:solidFill>
                  <a:srgbClr val="1E1E1E"/>
                </a:solidFill>
                <a:latin typeface="Roboto"/>
              </a:rPr>
              <a:t>Viés de confirmação, ancoragem e rigidez cognitiva: aqui sempre foi assim, e aqui sempre vai ser.</a:t>
            </a:r>
          </a:p>
        </p:txBody>
      </p:sp>
      <p:sp>
        <p:nvSpPr>
          <p:cNvPr id="9" name="Rectangle 8"/>
          <p:cNvSpPr/>
          <p:nvPr/>
        </p:nvSpPr>
        <p:spPr>
          <a:xfrm>
            <a:off x="777240" y="5907024"/>
            <a:ext cx="10637215" cy="9525"/>
          </a:xfrm>
          <a:prstGeom prst="rect">
            <a:avLst/>
          </a:prstGeom>
          <a:solidFill>
            <a:srgbClr val="D6D6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6016752"/>
            <a:ext cx="10637215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9A6A00"/>
                </a:solidFill>
                <a:latin typeface="Roboto"/>
              </a:rPr>
              <a:t>Bom senso e responsabilidade não vêm de fábrica. São habilidades desenvolvidas.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317175" y="6419088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E6E6E"/>
                </a:solidFill>
                <a:latin typeface="Roboto"/>
              </a:rPr>
              <a:t>24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411480"/>
            <a:ext cx="10637215" cy="1325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4000" b="1">
                <a:solidFill>
                  <a:srgbClr val="1E1E1E"/>
                </a:solidFill>
                <a:latin typeface="Roboto"/>
              </a:rPr>
              <a:t>Releia a coluna da direita pensando em gente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783080"/>
            <a:ext cx="10637215" cy="9525"/>
          </a:xfrm>
          <a:prstGeom prst="rect">
            <a:avLst/>
          </a:prstGeom>
          <a:solidFill>
            <a:srgbClr val="D6D6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920240"/>
            <a:ext cx="3931920" cy="86867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2100" b="1">
                <a:solidFill>
                  <a:srgbClr val="6E6E6E"/>
                </a:solidFill>
                <a:latin typeface="Roboto"/>
              </a:rPr>
              <a:t>Inventa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199" y="1920240"/>
            <a:ext cx="6385255" cy="86867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2100" b="0">
                <a:solidFill>
                  <a:srgbClr val="6E6E6E"/>
                </a:solidFill>
                <a:latin typeface="Roboto"/>
              </a:rPr>
              <a:t>A gente cita de memória, arredonda para cima e lembra com convicção o que não foi bem assim.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2765145"/>
            <a:ext cx="10637215" cy="9525"/>
          </a:xfrm>
          <a:prstGeom prst="rect">
            <a:avLst/>
          </a:prstGeom>
          <a:solidFill>
            <a:srgbClr val="D6D6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2880360"/>
            <a:ext cx="3931920" cy="86867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2100" b="1">
                <a:solidFill>
                  <a:srgbClr val="6E6E6E"/>
                </a:solidFill>
                <a:latin typeface="Roboto"/>
              </a:rPr>
              <a:t>Reproduz viés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199" y="2880360"/>
            <a:ext cx="6385255" cy="86867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2100" b="0">
                <a:solidFill>
                  <a:srgbClr val="6E6E6E"/>
                </a:solidFill>
                <a:latin typeface="Roboto"/>
              </a:rPr>
              <a:t>Viés de confirmação, ancoragem e rigidez cognitiva: aqui sempre foi assim, e aqui sempre vai ser.</a:t>
            </a:r>
          </a:p>
        </p:txBody>
      </p:sp>
      <p:sp>
        <p:nvSpPr>
          <p:cNvPr id="9" name="Rectangle 8"/>
          <p:cNvSpPr/>
          <p:nvPr/>
        </p:nvSpPr>
        <p:spPr>
          <a:xfrm>
            <a:off x="777240" y="3725265"/>
            <a:ext cx="10637215" cy="9525"/>
          </a:xfrm>
          <a:prstGeom prst="rect">
            <a:avLst/>
          </a:prstGeom>
          <a:solidFill>
            <a:srgbClr val="D6D6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3840479"/>
            <a:ext cx="3931920" cy="86867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2100" b="1">
                <a:solidFill>
                  <a:srgbClr val="9A6A00"/>
                </a:solidFill>
                <a:latin typeface="Roboto"/>
              </a:rPr>
              <a:t>Não sabe quando não sabe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199" y="3840479"/>
            <a:ext cx="6385255" cy="86867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2100" b="0">
                <a:solidFill>
                  <a:srgbClr val="1E1E1E"/>
                </a:solidFill>
                <a:latin typeface="Roboto"/>
              </a:rPr>
              <a:t>Quanto menos a pessoa domina um assunto, mais certeza ela costuma demonstrar ao opinar.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77240" y="5907024"/>
            <a:ext cx="10637215" cy="9525"/>
          </a:xfrm>
          <a:prstGeom prst="rect">
            <a:avLst/>
          </a:prstGeom>
          <a:solidFill>
            <a:srgbClr val="D6D6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6016752"/>
            <a:ext cx="10637215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9A6A00"/>
                </a:solidFill>
                <a:latin typeface="Roboto"/>
              </a:rPr>
              <a:t>Bom senso e responsabilidade não vêm de fábrica. São habilidades desenvolvidas.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317175" y="6419088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E6E6E"/>
                </a:solidFill>
                <a:latin typeface="Roboto"/>
              </a:rPr>
              <a:t>25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411480"/>
            <a:ext cx="10637215" cy="1325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4000" b="1">
                <a:solidFill>
                  <a:srgbClr val="1E1E1E"/>
                </a:solidFill>
                <a:latin typeface="Roboto"/>
              </a:rPr>
              <a:t>Releia a coluna da direita pensando em gente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783080"/>
            <a:ext cx="10637215" cy="9525"/>
          </a:xfrm>
          <a:prstGeom prst="rect">
            <a:avLst/>
          </a:prstGeom>
          <a:solidFill>
            <a:srgbClr val="D6D6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920240"/>
            <a:ext cx="3931920" cy="86867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2100" b="1">
                <a:solidFill>
                  <a:srgbClr val="6E6E6E"/>
                </a:solidFill>
                <a:latin typeface="Roboto"/>
              </a:rPr>
              <a:t>Inventa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199" y="1920240"/>
            <a:ext cx="6385255" cy="86867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2100" b="0">
                <a:solidFill>
                  <a:srgbClr val="6E6E6E"/>
                </a:solidFill>
                <a:latin typeface="Roboto"/>
              </a:rPr>
              <a:t>A gente cita de memória, arredonda para cima e lembra com convicção o que não foi bem assim.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2765145"/>
            <a:ext cx="10637215" cy="9525"/>
          </a:xfrm>
          <a:prstGeom prst="rect">
            <a:avLst/>
          </a:prstGeom>
          <a:solidFill>
            <a:srgbClr val="D6D6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2880360"/>
            <a:ext cx="3931920" cy="86867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2100" b="1">
                <a:solidFill>
                  <a:srgbClr val="6E6E6E"/>
                </a:solidFill>
                <a:latin typeface="Roboto"/>
              </a:rPr>
              <a:t>Reproduz viés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199" y="2880360"/>
            <a:ext cx="6385255" cy="86867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2100" b="0">
                <a:solidFill>
                  <a:srgbClr val="6E6E6E"/>
                </a:solidFill>
                <a:latin typeface="Roboto"/>
              </a:rPr>
              <a:t>Viés de confirmação, ancoragem e rigidez cognitiva: aqui sempre foi assim, e aqui sempre vai ser.</a:t>
            </a:r>
          </a:p>
        </p:txBody>
      </p:sp>
      <p:sp>
        <p:nvSpPr>
          <p:cNvPr id="9" name="Rectangle 8"/>
          <p:cNvSpPr/>
          <p:nvPr/>
        </p:nvSpPr>
        <p:spPr>
          <a:xfrm>
            <a:off x="777240" y="3725265"/>
            <a:ext cx="10637215" cy="9525"/>
          </a:xfrm>
          <a:prstGeom prst="rect">
            <a:avLst/>
          </a:prstGeom>
          <a:solidFill>
            <a:srgbClr val="D6D6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3840479"/>
            <a:ext cx="3931920" cy="86867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2100" b="1">
                <a:solidFill>
                  <a:srgbClr val="6E6E6E"/>
                </a:solidFill>
                <a:latin typeface="Roboto"/>
              </a:rPr>
              <a:t>Não sabe quando não sabe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199" y="3840479"/>
            <a:ext cx="6385255" cy="86867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2100" b="0">
                <a:solidFill>
                  <a:srgbClr val="6E6E6E"/>
                </a:solidFill>
                <a:latin typeface="Roboto"/>
              </a:rPr>
              <a:t>Quanto menos a pessoa domina um assunto, mais certeza ela costuma demonstrar ao opinar.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77240" y="4685385"/>
            <a:ext cx="10637215" cy="9525"/>
          </a:xfrm>
          <a:prstGeom prst="rect">
            <a:avLst/>
          </a:prstGeom>
          <a:solidFill>
            <a:srgbClr val="D6D6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4800599"/>
            <a:ext cx="3931920" cy="86867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2100" b="1">
                <a:solidFill>
                  <a:srgbClr val="9A6A00"/>
                </a:solidFill>
                <a:latin typeface="Roboto"/>
              </a:rPr>
              <a:t>E o inverso também vale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29199" y="4800599"/>
            <a:ext cx="6385255" cy="86867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2100" b="0">
                <a:solidFill>
                  <a:srgbClr val="1E1E1E"/>
                </a:solidFill>
                <a:latin typeface="Roboto"/>
              </a:rPr>
              <a:t>Mostre o dado e a máquina muda de posição na hora. A gente muda devagar, e às vezes nem assim.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77240" y="5907024"/>
            <a:ext cx="10637215" cy="9525"/>
          </a:xfrm>
          <a:prstGeom prst="rect">
            <a:avLst/>
          </a:prstGeom>
          <a:solidFill>
            <a:srgbClr val="D6D6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77240" y="6016752"/>
            <a:ext cx="10637215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9A6A00"/>
                </a:solidFill>
                <a:latin typeface="Roboto"/>
              </a:rPr>
              <a:t>Bom senso e responsabilidade não vêm de fábrica. São habilidades desenvolvidas.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317175" y="6419088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E6E6E"/>
                </a:solidFill>
                <a:latin typeface="Roboto"/>
              </a:rPr>
              <a:t>26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1051560"/>
            <a:ext cx="10637215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9A6A00"/>
                </a:solidFill>
                <a:latin typeface="Roboto"/>
              </a:rPr>
              <a:t>PERGUNTA 3 PARA A PLATEIA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627632"/>
            <a:ext cx="2743200" cy="44450"/>
          </a:xfrm>
          <a:prstGeom prst="rect">
            <a:avLst/>
          </a:prstGeom>
          <a:solidFill>
            <a:srgbClr val="E0A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2057400"/>
            <a:ext cx="10637215" cy="2743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4600" b="1">
                <a:solidFill>
                  <a:srgbClr val="1E1E1E"/>
                </a:solidFill>
                <a:latin typeface="Roboto"/>
              </a:rPr>
              <a:t>Você deixaria a IA tomar sozinha uma decisão da sua empresa?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4983480"/>
            <a:ext cx="10637215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2400" b="0">
                <a:solidFill>
                  <a:srgbClr val="6E6E6E"/>
                </a:solidFill>
                <a:latin typeface="Roboto"/>
              </a:rPr>
              <a:t>Em qual decisão sim? Em qual decisão jamais?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17175" y="6419088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E6E6E"/>
                </a:solidFill>
                <a:latin typeface="Roboto"/>
              </a:rPr>
              <a:t>27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411480"/>
            <a:ext cx="10637215" cy="1325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4000" b="1">
                <a:solidFill>
                  <a:srgbClr val="1E1E1E"/>
                </a:solidFill>
                <a:latin typeface="Roboto"/>
              </a:rPr>
              <a:t>A régua não é a tarefa. É o custo do erro.</a:t>
            </a:r>
          </a:p>
        </p:txBody>
      </p:sp>
      <p:pic>
        <p:nvPicPr>
          <p:cNvPr id="3" name="Picture 2" descr="03_regu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1920240"/>
            <a:ext cx="10637215" cy="3840479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777240" y="5907024"/>
            <a:ext cx="10637215" cy="9525"/>
          </a:xfrm>
          <a:prstGeom prst="rect">
            <a:avLst/>
          </a:prstGeom>
          <a:solidFill>
            <a:srgbClr val="D6D6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6016752"/>
            <a:ext cx="10637215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>
                <a:solidFill>
                  <a:srgbClr val="6E6E6E"/>
                </a:solidFill>
                <a:latin typeface="Roboto"/>
              </a:rPr>
              <a:t>A LGPD, no artigo 20, garante ao cidadão pedir revisão de decisão automatizada.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17175" y="6419088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E6E6E"/>
                </a:solidFill>
                <a:latin typeface="Roboto"/>
              </a:rPr>
              <a:t>28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411480"/>
            <a:ext cx="10637215" cy="1325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4000" b="1">
                <a:solidFill>
                  <a:srgbClr val="1E1E1E"/>
                </a:solidFill>
                <a:latin typeface="Roboto"/>
              </a:rPr>
              <a:t>Um dia comum de quem administra, em Alegrete</a:t>
            </a:r>
          </a:p>
        </p:txBody>
      </p:sp>
      <p:pic>
        <p:nvPicPr>
          <p:cNvPr id="3" name="Picture 2" descr="04_di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1920240"/>
            <a:ext cx="10637215" cy="3840479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777240" y="5907024"/>
            <a:ext cx="10637215" cy="9525"/>
          </a:xfrm>
          <a:prstGeom prst="rect">
            <a:avLst/>
          </a:prstGeom>
          <a:solidFill>
            <a:srgbClr val="D6D6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6016752"/>
            <a:ext cx="10637215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9A6A00"/>
                </a:solidFill>
                <a:latin typeface="Roboto"/>
              </a:rPr>
              <a:t>O ganho não é fazer mais coisas. É finalmente fazer o que só você pode fazer.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17175" y="6419088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E6E6E"/>
                </a:solidFill>
                <a:latin typeface="Roboto"/>
              </a:rPr>
              <a:t>29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411480"/>
            <a:ext cx="10637215" cy="1325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4000" b="1">
                <a:solidFill>
                  <a:srgbClr val="1E1E1E"/>
                </a:solidFill>
                <a:latin typeface="Roboto"/>
              </a:rPr>
              <a:t>O que muda em cada função da Administração</a:t>
            </a:r>
          </a:p>
        </p:txBody>
      </p:sp>
      <p:pic>
        <p:nvPicPr>
          <p:cNvPr id="3" name="Picture 2" descr="08_funco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1920240"/>
            <a:ext cx="10637215" cy="3840479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777240" y="5907024"/>
            <a:ext cx="10637215" cy="9525"/>
          </a:xfrm>
          <a:prstGeom prst="rect">
            <a:avLst/>
          </a:prstGeom>
          <a:solidFill>
            <a:srgbClr val="D6D6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6016752"/>
            <a:ext cx="10637215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9A6A00"/>
                </a:solidFill>
                <a:latin typeface="Roboto"/>
              </a:rPr>
              <a:t>A IA assumiu a execução. Não assumiu a responsabilidade pela escolha.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17175" y="6419088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E6E6E"/>
                </a:solidFill>
                <a:latin typeface="Roboto"/>
              </a:rPr>
              <a:t>30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411480"/>
            <a:ext cx="10637215" cy="1325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4000" b="1">
                <a:solidFill>
                  <a:srgbClr val="1E1E1E"/>
                </a:solidFill>
                <a:latin typeface="Roboto"/>
              </a:rPr>
              <a:t>Decisão baseada em dados, e o risco que veio junto</a:t>
            </a:r>
          </a:p>
        </p:txBody>
      </p:sp>
      <p:pic>
        <p:nvPicPr>
          <p:cNvPr id="3" name="Picture 2" descr="09_funi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1920240"/>
            <a:ext cx="10637215" cy="3840479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777240" y="5907024"/>
            <a:ext cx="10637215" cy="9525"/>
          </a:xfrm>
          <a:prstGeom prst="rect">
            <a:avLst/>
          </a:prstGeom>
          <a:solidFill>
            <a:srgbClr val="D6D6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6016752"/>
            <a:ext cx="10637215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9A6A00"/>
                </a:solidFill>
                <a:latin typeface="Roboto"/>
              </a:rPr>
              <a:t>Com IA dá para errar mais rápido, em escala, e com um gráfico bonito provando.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17175" y="6419088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E6E6E"/>
                </a:solidFill>
                <a:latin typeface="Roboto"/>
              </a:rPr>
              <a:t>31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411480"/>
            <a:ext cx="10637215" cy="1325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4000" b="1">
                <a:solidFill>
                  <a:srgbClr val="1E1E1E"/>
                </a:solidFill>
                <a:latin typeface="Roboto"/>
              </a:rPr>
              <a:t>Fronteira Oeste: o agro já é usuário pesado de IA</a:t>
            </a:r>
          </a:p>
        </p:txBody>
      </p:sp>
      <p:pic>
        <p:nvPicPr>
          <p:cNvPr id="3" name="Picture 2" descr="10_agr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1920240"/>
            <a:ext cx="10637215" cy="3840479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777240" y="5907024"/>
            <a:ext cx="10637215" cy="9525"/>
          </a:xfrm>
          <a:prstGeom prst="rect">
            <a:avLst/>
          </a:prstGeom>
          <a:solidFill>
            <a:srgbClr val="D6D6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6016752"/>
            <a:ext cx="10637215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9A6A00"/>
                </a:solidFill>
                <a:latin typeface="Roboto"/>
              </a:rPr>
              <a:t>A pergunta do administrador: quem lê esse painel, e quem assina a decisão?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17175" y="6419088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E6E6E"/>
                </a:solidFill>
                <a:latin typeface="Roboto"/>
              </a:rPr>
              <a:t>32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411480"/>
            <a:ext cx="10637215" cy="1325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4000" b="1">
                <a:solidFill>
                  <a:srgbClr val="1E1E1E"/>
                </a:solidFill>
                <a:latin typeface="Roboto"/>
              </a:rPr>
              <a:t>Comércio e serviços de Alegrete: o ganho está no básico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783080"/>
            <a:ext cx="10637215" cy="9525"/>
          </a:xfrm>
          <a:prstGeom prst="rect">
            <a:avLst/>
          </a:prstGeom>
          <a:solidFill>
            <a:srgbClr val="D6D6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920240"/>
            <a:ext cx="3383280" cy="86867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2100" b="1">
                <a:solidFill>
                  <a:srgbClr val="1E1E1E"/>
                </a:solidFill>
                <a:latin typeface="Roboto"/>
              </a:rPr>
              <a:t>Atendimento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480559" y="1920240"/>
            <a:ext cx="6933895" cy="86867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2100" b="0">
                <a:solidFill>
                  <a:srgbClr val="1E1E1E"/>
                </a:solidFill>
                <a:latin typeface="Roboto"/>
              </a:rPr>
              <a:t>Responder no WhatsApp fora do horário sem perder a venda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2765145"/>
            <a:ext cx="10637215" cy="9525"/>
          </a:xfrm>
          <a:prstGeom prst="rect">
            <a:avLst/>
          </a:prstGeom>
          <a:solidFill>
            <a:srgbClr val="D6D6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2880360"/>
            <a:ext cx="3383280" cy="86867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2100" b="1">
                <a:solidFill>
                  <a:srgbClr val="1E1E1E"/>
                </a:solidFill>
                <a:latin typeface="Roboto"/>
              </a:rPr>
              <a:t>Divulgação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480559" y="2880360"/>
            <a:ext cx="6933895" cy="86867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2100" b="0">
                <a:solidFill>
                  <a:srgbClr val="1E1E1E"/>
                </a:solidFill>
                <a:latin typeface="Roboto"/>
              </a:rPr>
              <a:t>Descrição de produto e anúncio em minutos, não em tardes inteiras</a:t>
            </a:r>
          </a:p>
        </p:txBody>
      </p:sp>
      <p:sp>
        <p:nvSpPr>
          <p:cNvPr id="9" name="Rectangle 8"/>
          <p:cNvSpPr/>
          <p:nvPr/>
        </p:nvSpPr>
        <p:spPr>
          <a:xfrm>
            <a:off x="777240" y="3725265"/>
            <a:ext cx="10637215" cy="9525"/>
          </a:xfrm>
          <a:prstGeom prst="rect">
            <a:avLst/>
          </a:prstGeom>
          <a:solidFill>
            <a:srgbClr val="D6D6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3840479"/>
            <a:ext cx="3383280" cy="86867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2100" b="1">
                <a:solidFill>
                  <a:srgbClr val="1E1E1E"/>
                </a:solidFill>
                <a:latin typeface="Roboto"/>
              </a:rPr>
              <a:t>Estoque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80559" y="3840479"/>
            <a:ext cx="6933895" cy="86867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2100" b="0">
                <a:solidFill>
                  <a:srgbClr val="1E1E1E"/>
                </a:solidFill>
                <a:latin typeface="Roboto"/>
              </a:rPr>
              <a:t>Prever a reposição e parar de deixar capital parado na prateleira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77240" y="4685385"/>
            <a:ext cx="10637215" cy="9525"/>
          </a:xfrm>
          <a:prstGeom prst="rect">
            <a:avLst/>
          </a:prstGeom>
          <a:solidFill>
            <a:srgbClr val="D6D6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4800599"/>
            <a:ext cx="3383280" cy="86867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2100" b="1">
                <a:solidFill>
                  <a:srgbClr val="1E1E1E"/>
                </a:solidFill>
                <a:latin typeface="Roboto"/>
              </a:rPr>
              <a:t>Inadimplência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80559" y="4800599"/>
            <a:ext cx="6933895" cy="86867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2100" b="0">
                <a:solidFill>
                  <a:srgbClr val="1E1E1E"/>
                </a:solidFill>
                <a:latin typeface="Roboto"/>
              </a:rPr>
              <a:t>Identificar quem tende a atrasar antes que o atraso aconteça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77240" y="5907024"/>
            <a:ext cx="10637215" cy="9525"/>
          </a:xfrm>
          <a:prstGeom prst="rect">
            <a:avLst/>
          </a:prstGeom>
          <a:solidFill>
            <a:srgbClr val="D6D6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77240" y="6016752"/>
            <a:ext cx="10637215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9A6A00"/>
                </a:solidFill>
                <a:latin typeface="Roboto"/>
              </a:rPr>
              <a:t>Nada disso exige um time de TI. Exige alguém que saiba o que perguntar.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317175" y="6419088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E6E6E"/>
                </a:solidFill>
                <a:latin typeface="Roboto"/>
              </a:rPr>
              <a:t>33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411480"/>
            <a:ext cx="10637215" cy="1325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4000" b="1">
                <a:solidFill>
                  <a:srgbClr val="1E1E1E"/>
                </a:solidFill>
                <a:latin typeface="Roboto"/>
              </a:rPr>
              <a:t>Gestão pública e cooperativas: escala sem contratar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783080"/>
            <a:ext cx="10637215" cy="9525"/>
          </a:xfrm>
          <a:prstGeom prst="rect">
            <a:avLst/>
          </a:prstGeom>
          <a:solidFill>
            <a:srgbClr val="D6D6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920240"/>
            <a:ext cx="3383280" cy="86867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2100" b="1">
                <a:solidFill>
                  <a:srgbClr val="1E1E1E"/>
                </a:solidFill>
                <a:latin typeface="Roboto"/>
              </a:rPr>
              <a:t>Cidadão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480559" y="1920240"/>
            <a:ext cx="6933895" cy="86867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2100" b="0">
                <a:solidFill>
                  <a:srgbClr val="1E1E1E"/>
                </a:solidFill>
                <a:latin typeface="Roboto"/>
              </a:rPr>
              <a:t>Triagem e resposta de demanda repetitiva, com registro de tudo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2765145"/>
            <a:ext cx="10637215" cy="9525"/>
          </a:xfrm>
          <a:prstGeom prst="rect">
            <a:avLst/>
          </a:prstGeom>
          <a:solidFill>
            <a:srgbClr val="D6D6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2880360"/>
            <a:ext cx="3383280" cy="86867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2100" b="1">
                <a:solidFill>
                  <a:srgbClr val="1E1E1E"/>
                </a:solidFill>
                <a:latin typeface="Roboto"/>
              </a:rPr>
              <a:t>Contratos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480559" y="2880360"/>
            <a:ext cx="6933895" cy="86867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2100" b="0">
                <a:solidFill>
                  <a:srgbClr val="1E1E1E"/>
                </a:solidFill>
                <a:latin typeface="Roboto"/>
              </a:rPr>
              <a:t>Leitura de edital e de contrato longo em minutos</a:t>
            </a:r>
          </a:p>
        </p:txBody>
      </p:sp>
      <p:sp>
        <p:nvSpPr>
          <p:cNvPr id="9" name="Rectangle 8"/>
          <p:cNvSpPr/>
          <p:nvPr/>
        </p:nvSpPr>
        <p:spPr>
          <a:xfrm>
            <a:off x="777240" y="3725265"/>
            <a:ext cx="10637215" cy="9525"/>
          </a:xfrm>
          <a:prstGeom prst="rect">
            <a:avLst/>
          </a:prstGeom>
          <a:solidFill>
            <a:srgbClr val="D6D6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3840479"/>
            <a:ext cx="3383280" cy="86867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2100" b="1">
                <a:solidFill>
                  <a:srgbClr val="1E1E1E"/>
                </a:solidFill>
                <a:latin typeface="Roboto"/>
              </a:rPr>
              <a:t>Transparência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80559" y="3840479"/>
            <a:ext cx="6933895" cy="86867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2100" b="0">
                <a:solidFill>
                  <a:srgbClr val="1E1E1E"/>
                </a:solidFill>
                <a:latin typeface="Roboto"/>
              </a:rPr>
              <a:t>Transformar planilha pública em explicação que qualquer um lê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77240" y="4685385"/>
            <a:ext cx="10637215" cy="9525"/>
          </a:xfrm>
          <a:prstGeom prst="rect">
            <a:avLst/>
          </a:prstGeom>
          <a:solidFill>
            <a:srgbClr val="D6D6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4800599"/>
            <a:ext cx="3383280" cy="86867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2100" b="1">
                <a:solidFill>
                  <a:srgbClr val="1E1E1E"/>
                </a:solidFill>
                <a:latin typeface="Roboto"/>
              </a:rPr>
              <a:t>Controle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80559" y="4800599"/>
            <a:ext cx="6933895" cy="86867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2100" b="0">
                <a:solidFill>
                  <a:srgbClr val="1E1E1E"/>
                </a:solidFill>
                <a:latin typeface="Roboto"/>
              </a:rPr>
              <a:t>Achar a inconsistência antes que o auditor ache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77240" y="5907024"/>
            <a:ext cx="10637215" cy="9525"/>
          </a:xfrm>
          <a:prstGeom prst="rect">
            <a:avLst/>
          </a:prstGeom>
          <a:solidFill>
            <a:srgbClr val="D6D6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77240" y="6016752"/>
            <a:ext cx="10637215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9A6A00"/>
                </a:solidFill>
                <a:latin typeface="Roboto"/>
              </a:rPr>
              <a:t>Aqui o dado é sensível e a regra é mais dura. A oportunidade continua a mesma.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317175" y="6419088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E6E6E"/>
                </a:solidFill>
                <a:latin typeface="Roboto"/>
              </a:rPr>
              <a:t>34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1051560"/>
            <a:ext cx="10637215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9A6A00"/>
                </a:solidFill>
                <a:latin typeface="Roboto"/>
              </a:rPr>
              <a:t>PERGUNTA 4 PARA A PLATEIA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627632"/>
            <a:ext cx="2743200" cy="44450"/>
          </a:xfrm>
          <a:prstGeom prst="rect">
            <a:avLst/>
          </a:prstGeom>
          <a:solidFill>
            <a:srgbClr val="E0A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2057400"/>
            <a:ext cx="10637215" cy="2743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4600" b="1">
                <a:solidFill>
                  <a:srgbClr val="1E1E1E"/>
                </a:solidFill>
                <a:latin typeface="Roboto"/>
              </a:rPr>
              <a:t>Qual tarefa do seu trabalho ou do seu estágio você repete toda semana e detesta?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4983480"/>
            <a:ext cx="10637215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2400" b="0">
                <a:solidFill>
                  <a:srgbClr val="6E6E6E"/>
                </a:solidFill>
                <a:latin typeface="Roboto"/>
              </a:rPr>
              <a:t>Guarde a resposta. Vamos voltar nela no final.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17175" y="6419088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E6E6E"/>
                </a:solidFill>
                <a:latin typeface="Roboto"/>
              </a:rPr>
              <a:t>35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713232"/>
            <a:ext cx="10637215" cy="2103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4400" b="1">
                <a:solidFill>
                  <a:srgbClr val="1E1E1E"/>
                </a:solidFill>
                <a:latin typeface="Roboto"/>
              </a:rPr>
              <a:t>Não é a profissão que some.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4400" b="1">
                <a:solidFill>
                  <a:srgbClr val="1E1E1E"/>
                </a:solidFill>
                <a:latin typeface="Roboto"/>
              </a:rPr>
              <a:t>É a tarefa que muda de mão.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2944368"/>
            <a:ext cx="2743200" cy="44450"/>
          </a:xfrm>
          <a:prstGeom prst="rect">
            <a:avLst/>
          </a:prstGeom>
          <a:solidFill>
            <a:srgbClr val="E0A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3310128"/>
            <a:ext cx="10637215" cy="2450591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2400" b="0">
                <a:solidFill>
                  <a:srgbClr val="1E1E1E"/>
                </a:solidFill>
                <a:latin typeface="Roboto"/>
              </a:rPr>
              <a:t>Toda profissão é um pacote de tarefas, e boa parte delas é repetitiva.</a:t>
            </a:r>
          </a:p>
          <a:p>
            <a:pPr algn="l">
              <a:lnSpc>
                <a:spcPct val="105000"/>
              </a:lnSpc>
              <a:spcBef>
                <a:spcPts val="1800"/>
              </a:spcBef>
              <a:spcAft>
                <a:spcPts val="0"/>
              </a:spcAft>
            </a:pPr>
            <a:r>
              <a:rPr sz="2400" b="0">
                <a:solidFill>
                  <a:srgbClr val="1E1E1E"/>
                </a:solidFill>
                <a:latin typeface="Roboto"/>
              </a:rPr>
              <a:t>A IA pega primeiro as tarefas textuais e repetitivas desse pacote.</a:t>
            </a:r>
          </a:p>
          <a:p>
            <a:pPr algn="l">
              <a:lnSpc>
                <a:spcPct val="105000"/>
              </a:lnSpc>
              <a:spcBef>
                <a:spcPts val="1800"/>
              </a:spcBef>
              <a:spcAft>
                <a:spcPts val="0"/>
              </a:spcAft>
            </a:pPr>
            <a:r>
              <a:rPr sz="2400" b="0">
                <a:solidFill>
                  <a:srgbClr val="1E1E1E"/>
                </a:solidFill>
                <a:latin typeface="Roboto"/>
              </a:rPr>
              <a:t>Quem redesenha o próprio pacote segue no jogo. Quem espera ser redesenhado, não.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5907024"/>
            <a:ext cx="10637215" cy="9525"/>
          </a:xfrm>
          <a:prstGeom prst="rect">
            <a:avLst/>
          </a:prstGeom>
          <a:solidFill>
            <a:srgbClr val="D6D6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6016752"/>
            <a:ext cx="10637215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>
                <a:solidFill>
                  <a:srgbClr val="6E6E6E"/>
                </a:solidFill>
                <a:latin typeface="Roboto"/>
              </a:rPr>
              <a:t>Funções administrativas concentram muita tarefa textual. É por ali que a IA entra primeiro.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317175" y="6419088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E6E6E"/>
                </a:solidFill>
                <a:latin typeface="Roboto"/>
              </a:rPr>
              <a:t>36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411480"/>
            <a:ext cx="10637215" cy="1325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4000" b="1">
                <a:solidFill>
                  <a:srgbClr val="1E1E1E"/>
                </a:solidFill>
                <a:latin typeface="Roboto"/>
              </a:rPr>
              <a:t>A sua profissão é um pacote, e ele está sendo redividido</a:t>
            </a:r>
          </a:p>
        </p:txBody>
      </p:sp>
      <p:pic>
        <p:nvPicPr>
          <p:cNvPr id="3" name="Picture 2" descr="05_paco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1920240"/>
            <a:ext cx="10637215" cy="3840479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777240" y="5907024"/>
            <a:ext cx="10637215" cy="9525"/>
          </a:xfrm>
          <a:prstGeom prst="rect">
            <a:avLst/>
          </a:prstGeom>
          <a:solidFill>
            <a:srgbClr val="D6D6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6016752"/>
            <a:ext cx="10637215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9A6A00"/>
                </a:solidFill>
                <a:latin typeface="Roboto"/>
              </a:rPr>
              <a:t>Sua carreira vale o quanto você opera na segunda e na terceira faixa.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17175" y="6419088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E6E6E"/>
                </a:solidFill>
                <a:latin typeface="Roboto"/>
              </a:rPr>
              <a:t>37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1051560"/>
            <a:ext cx="10637215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9A6A00"/>
                </a:solidFill>
                <a:latin typeface="Roboto"/>
              </a:rPr>
              <a:t>PERGUNTA 5 PARA A PLATEIA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627632"/>
            <a:ext cx="2743200" cy="44450"/>
          </a:xfrm>
          <a:prstGeom prst="rect">
            <a:avLst/>
          </a:prstGeom>
          <a:solidFill>
            <a:srgbClr val="E0A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2057400"/>
            <a:ext cx="10637215" cy="2743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4600" b="1">
                <a:solidFill>
                  <a:srgbClr val="1E1E1E"/>
                </a:solidFill>
                <a:latin typeface="Roboto"/>
              </a:rPr>
              <a:t>O que da sua futura profissão você tem certeza de que a IA nunca vai fazer?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4983480"/>
            <a:ext cx="10637215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2400" b="0">
                <a:solidFill>
                  <a:srgbClr val="6E6E6E"/>
                </a:solidFill>
                <a:latin typeface="Roboto"/>
              </a:rPr>
              <a:t>Diga em voz alta. Eu vou discordar de algumas.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17175" y="6419088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E6E6E"/>
                </a:solidFill>
                <a:latin typeface="Roboto"/>
              </a:rPr>
              <a:t>38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411480"/>
            <a:ext cx="10637215" cy="1325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4000" b="1">
                <a:solidFill>
                  <a:srgbClr val="1E1E1E"/>
                </a:solidFill>
                <a:latin typeface="Roboto"/>
              </a:rPr>
              <a:t>Três respostas que eu sempre ouço, e o que eu respondo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783080"/>
            <a:ext cx="10637215" cy="9525"/>
          </a:xfrm>
          <a:prstGeom prst="rect">
            <a:avLst/>
          </a:prstGeom>
          <a:solidFill>
            <a:srgbClr val="D6D6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920240"/>
            <a:ext cx="3931920" cy="118871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2100" b="1">
                <a:solidFill>
                  <a:srgbClr val="9A6A00"/>
                </a:solidFill>
                <a:latin typeface="Roboto"/>
              </a:rPr>
              <a:t>Ela não tem criatividade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199" y="1920240"/>
            <a:ext cx="6385255" cy="118871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2100" b="0">
                <a:solidFill>
                  <a:srgbClr val="1E1E1E"/>
                </a:solidFill>
                <a:latin typeface="Roboto"/>
              </a:rPr>
              <a:t>Ela já gera mil variações por minuto. Escolher qual presta continua com você. Gerar deixou de ser o diferencial.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3046780"/>
            <a:ext cx="10637215" cy="9525"/>
          </a:xfrm>
          <a:prstGeom prst="rect">
            <a:avLst/>
          </a:prstGeom>
          <a:solidFill>
            <a:srgbClr val="D6D6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3200400"/>
            <a:ext cx="3931920" cy="118871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2100" b="1">
                <a:solidFill>
                  <a:srgbClr val="9A6A00"/>
                </a:solidFill>
                <a:latin typeface="Roboto"/>
              </a:rPr>
              <a:t>Ela não entende gente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199" y="3200400"/>
            <a:ext cx="6385255" cy="118871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2100" b="0">
                <a:solidFill>
                  <a:srgbClr val="1E1E1E"/>
                </a:solidFill>
                <a:latin typeface="Roboto"/>
              </a:rPr>
              <a:t>Ela simula acolhimento melhor do que muita gente cansada às 17h. Sentir continua humano. Parecer que sente, não.</a:t>
            </a:r>
          </a:p>
        </p:txBody>
      </p:sp>
      <p:sp>
        <p:nvSpPr>
          <p:cNvPr id="9" name="Rectangle 8"/>
          <p:cNvSpPr/>
          <p:nvPr/>
        </p:nvSpPr>
        <p:spPr>
          <a:xfrm>
            <a:off x="777240" y="4326940"/>
            <a:ext cx="10637215" cy="9525"/>
          </a:xfrm>
          <a:prstGeom prst="rect">
            <a:avLst/>
          </a:prstGeom>
          <a:solidFill>
            <a:srgbClr val="D6D6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4480559"/>
            <a:ext cx="3931920" cy="118871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2100" b="1">
                <a:solidFill>
                  <a:srgbClr val="9A6A00"/>
                </a:solidFill>
                <a:latin typeface="Roboto"/>
              </a:rPr>
              <a:t>Ela não tem responsabilidade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199" y="4480559"/>
            <a:ext cx="6385255" cy="118871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2100" b="0">
                <a:solidFill>
                  <a:srgbClr val="1E1E1E"/>
                </a:solidFill>
                <a:latin typeface="Roboto"/>
              </a:rPr>
              <a:t>Essa é a resposta certa. E é exatamente aí que mora o seu valor profissional.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77240" y="5907024"/>
            <a:ext cx="10637215" cy="9525"/>
          </a:xfrm>
          <a:prstGeom prst="rect">
            <a:avLst/>
          </a:prstGeom>
          <a:solidFill>
            <a:srgbClr val="D6D6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6016752"/>
            <a:ext cx="10637215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9A6A00"/>
                </a:solidFill>
                <a:latin typeface="Roboto"/>
              </a:rPr>
              <a:t>Não subestime a máquina. E não terceirize aquilo que só você pode assinar.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317175" y="6419088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E6E6E"/>
                </a:solidFill>
                <a:latin typeface="Roboto"/>
              </a:rPr>
              <a:t>39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411480"/>
            <a:ext cx="10637215" cy="1325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4000" b="1">
                <a:solidFill>
                  <a:srgbClr val="1E1E1E"/>
                </a:solidFill>
                <a:latin typeface="Roboto"/>
              </a:rPr>
              <a:t>O trabalho que sobra para você</a:t>
            </a:r>
          </a:p>
        </p:txBody>
      </p:sp>
      <p:pic>
        <p:nvPicPr>
          <p:cNvPr id="3" name="Picture 2" descr="06_cicl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1920240"/>
            <a:ext cx="10637215" cy="384047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317175" y="6419088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E6E6E"/>
                </a:solidFill>
                <a:latin typeface="Roboto"/>
              </a:rPr>
              <a:t>40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411480"/>
            <a:ext cx="10637215" cy="1325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4000" b="1">
                <a:solidFill>
                  <a:srgbClr val="1E1E1E"/>
                </a:solidFill>
                <a:latin typeface="Roboto"/>
              </a:rPr>
              <a:t>O que passa a valer mais no seu currículo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783080"/>
            <a:ext cx="10637215" cy="9525"/>
          </a:xfrm>
          <a:prstGeom prst="rect">
            <a:avLst/>
          </a:prstGeom>
          <a:solidFill>
            <a:srgbClr val="D6D6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920240"/>
            <a:ext cx="1051560" cy="67665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400" b="1">
                <a:solidFill>
                  <a:srgbClr val="E0A100"/>
                </a:solidFill>
                <a:latin typeface="Roboto"/>
              </a:rPr>
              <a:t>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920240" y="2022602"/>
            <a:ext cx="9494215" cy="57429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2100" b="0">
                <a:solidFill>
                  <a:srgbClr val="1E1E1E"/>
                </a:solidFill>
                <a:latin typeface="Roboto"/>
              </a:rPr>
              <a:t>Saber perguntar: definir o problema antes de pedir a solução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2688336"/>
            <a:ext cx="1051560" cy="67665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400" b="1">
                <a:solidFill>
                  <a:srgbClr val="E0A100"/>
                </a:solidFill>
                <a:latin typeface="Roboto"/>
              </a:rPr>
              <a:t>02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920240" y="2790698"/>
            <a:ext cx="9494215" cy="57429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2100" b="0">
                <a:solidFill>
                  <a:srgbClr val="1E1E1E"/>
                </a:solidFill>
                <a:latin typeface="Roboto"/>
              </a:rPr>
              <a:t>Saber verificar: checar fonte, número e premissa, sempre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3456432"/>
            <a:ext cx="1051560" cy="67665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400" b="1">
                <a:solidFill>
                  <a:srgbClr val="E0A100"/>
                </a:solidFill>
                <a:latin typeface="Roboto"/>
              </a:rPr>
              <a:t>03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920240" y="3558794"/>
            <a:ext cx="9494215" cy="57429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2100" b="0">
                <a:solidFill>
                  <a:srgbClr val="1E1E1E"/>
                </a:solidFill>
                <a:latin typeface="Roboto"/>
              </a:rPr>
              <a:t>Saber o contexto: o que vale aqui e não vale em São Paulo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4224527"/>
            <a:ext cx="1051560" cy="67665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400" b="1">
                <a:solidFill>
                  <a:srgbClr val="E0A100"/>
                </a:solidFill>
                <a:latin typeface="Roboto"/>
              </a:rPr>
              <a:t>04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920240" y="4326889"/>
            <a:ext cx="9494215" cy="57429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2100" b="0">
                <a:solidFill>
                  <a:srgbClr val="1E1E1E"/>
                </a:solidFill>
                <a:latin typeface="Roboto"/>
              </a:rPr>
              <a:t>Saber decidir com dado incompleto: a IA trava, você não pode travar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4992623"/>
            <a:ext cx="1051560" cy="67665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400" b="1">
                <a:solidFill>
                  <a:srgbClr val="E0A100"/>
                </a:solidFill>
                <a:latin typeface="Roboto"/>
              </a:rPr>
              <a:t>05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920240" y="5094985"/>
            <a:ext cx="9494215" cy="57429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2100" b="0">
                <a:solidFill>
                  <a:srgbClr val="1E1E1E"/>
                </a:solidFill>
                <a:latin typeface="Roboto"/>
              </a:rPr>
              <a:t>Saber assinar: assumir a decisão e responder por ela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77240" y="5907024"/>
            <a:ext cx="10637215" cy="9525"/>
          </a:xfrm>
          <a:prstGeom prst="rect">
            <a:avLst/>
          </a:prstGeom>
          <a:solidFill>
            <a:srgbClr val="D6D6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6016752"/>
            <a:ext cx="10637215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9A6A00"/>
                </a:solidFill>
                <a:latin typeface="Roboto"/>
              </a:rPr>
              <a:t>Nenhuma dessas é habilidade técnica. Todas são formação de administrador.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317175" y="6419088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E6E6E"/>
                </a:solidFill>
                <a:latin typeface="Roboto"/>
              </a:rPr>
              <a:t>41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411480"/>
            <a:ext cx="10637215" cy="1325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4000" b="1">
                <a:solidFill>
                  <a:srgbClr val="1E1E1E"/>
                </a:solidFill>
                <a:latin typeface="Roboto"/>
              </a:rPr>
              <a:t>O risco silencioso: terceirizar o pensamento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920240"/>
            <a:ext cx="5067147" cy="57150"/>
          </a:xfrm>
          <a:prstGeom prst="rect">
            <a:avLst/>
          </a:prstGeom>
          <a:solidFill>
            <a:srgbClr val="E0A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2121408"/>
            <a:ext cx="5067147" cy="37865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>
                <a:solidFill>
                  <a:srgbClr val="1E1E1E"/>
                </a:solidFill>
                <a:latin typeface="Roboto"/>
              </a:rPr>
              <a:t>O que acontece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737811"/>
            <a:ext cx="5067147" cy="30229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>
                <a:solidFill>
                  <a:srgbClr val="1E1E1E"/>
                </a:solidFill>
                <a:latin typeface="Roboto"/>
              </a:rPr>
              <a:t>Usar sem ler é o novo copiar e colar</a:t>
            </a:r>
          </a:p>
          <a:p>
            <a:pPr algn="l">
              <a:lnSpc>
                <a:spcPct val="105000"/>
              </a:lnSpc>
              <a:spcBef>
                <a:spcPts val="1600"/>
              </a:spcBef>
              <a:spcAft>
                <a:spcPts val="0"/>
              </a:spcAft>
            </a:pPr>
            <a:r>
              <a:rPr sz="2000" b="0">
                <a:solidFill>
                  <a:srgbClr val="1E1E1E"/>
                </a:solidFill>
                <a:latin typeface="Roboto"/>
              </a:rPr>
              <a:t>Quem não sabe fazer não sabe conferir</a:t>
            </a:r>
          </a:p>
          <a:p>
            <a:pPr algn="l">
              <a:lnSpc>
                <a:spcPct val="105000"/>
              </a:lnSpc>
              <a:spcBef>
                <a:spcPts val="1600"/>
              </a:spcBef>
              <a:spcAft>
                <a:spcPts val="0"/>
              </a:spcAft>
            </a:pPr>
            <a:r>
              <a:rPr sz="2000" b="0">
                <a:solidFill>
                  <a:srgbClr val="1E1E1E"/>
                </a:solidFill>
                <a:latin typeface="Roboto"/>
              </a:rPr>
              <a:t>Se você só repassa o que a IA entrega, seu valor tende a zero</a:t>
            </a:r>
          </a:p>
          <a:p>
            <a:pPr algn="l">
              <a:lnSpc>
                <a:spcPct val="105000"/>
              </a:lnSpc>
              <a:spcBef>
                <a:spcPts val="1600"/>
              </a:spcBef>
              <a:spcAft>
                <a:spcPts val="0"/>
              </a:spcAft>
            </a:pPr>
            <a:r>
              <a:rPr sz="2000" b="0">
                <a:solidFill>
                  <a:srgbClr val="1E1E1E"/>
                </a:solidFill>
                <a:latin typeface="Roboto"/>
              </a:rPr>
              <a:t>A resposta média vira o teto da equipe inteira</a:t>
            </a:r>
          </a:p>
        </p:txBody>
      </p:sp>
      <p:sp>
        <p:nvSpPr>
          <p:cNvPr id="6" name="Rectangle 5"/>
          <p:cNvSpPr/>
          <p:nvPr/>
        </p:nvSpPr>
        <p:spPr>
          <a:xfrm>
            <a:off x="6347307" y="1920240"/>
            <a:ext cx="5067147" cy="57150"/>
          </a:xfrm>
          <a:prstGeom prst="rect">
            <a:avLst/>
          </a:prstGeom>
          <a:solidFill>
            <a:srgbClr val="1E1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347307" y="2121408"/>
            <a:ext cx="5067147" cy="37865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>
                <a:solidFill>
                  <a:srgbClr val="1E1E1E"/>
                </a:solidFill>
                <a:latin typeface="Roboto"/>
              </a:rPr>
              <a:t>O que não pode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47307" y="2737811"/>
            <a:ext cx="5067147" cy="30229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>
                <a:solidFill>
                  <a:srgbClr val="1E1E1E"/>
                </a:solidFill>
                <a:latin typeface="Roboto"/>
              </a:rPr>
              <a:t>Dado de cliente em chatbot público</a:t>
            </a:r>
          </a:p>
          <a:p>
            <a:pPr algn="l">
              <a:lnSpc>
                <a:spcPct val="105000"/>
              </a:lnSpc>
              <a:spcBef>
                <a:spcPts val="1600"/>
              </a:spcBef>
              <a:spcAft>
                <a:spcPts val="0"/>
              </a:spcAft>
            </a:pPr>
            <a:r>
              <a:rPr sz="2000" b="0">
                <a:solidFill>
                  <a:srgbClr val="1E1E1E"/>
                </a:solidFill>
                <a:latin typeface="Roboto"/>
              </a:rPr>
              <a:t>Folha de pagamento e contrato em chatbot público</a:t>
            </a:r>
          </a:p>
          <a:p>
            <a:pPr algn="l">
              <a:lnSpc>
                <a:spcPct val="105000"/>
              </a:lnSpc>
              <a:spcBef>
                <a:spcPts val="1600"/>
              </a:spcBef>
              <a:spcAft>
                <a:spcPts val="0"/>
              </a:spcAft>
            </a:pPr>
            <a:r>
              <a:rPr sz="2000" b="0">
                <a:solidFill>
                  <a:srgbClr val="1E1E1E"/>
                </a:solidFill>
                <a:latin typeface="Roboto"/>
              </a:rPr>
              <a:t>Número publicado sem conferir a fonte</a:t>
            </a:r>
          </a:p>
          <a:p>
            <a:pPr algn="l">
              <a:lnSpc>
                <a:spcPct val="105000"/>
              </a:lnSpc>
              <a:spcBef>
                <a:spcPts val="1600"/>
              </a:spcBef>
              <a:spcAft>
                <a:spcPts val="0"/>
              </a:spcAft>
            </a:pPr>
            <a:r>
              <a:rPr sz="2000" b="0">
                <a:solidFill>
                  <a:srgbClr val="1E1E1E"/>
                </a:solidFill>
                <a:latin typeface="Roboto"/>
              </a:rPr>
              <a:t>Entregar o que você não conseguiria defender sozinho</a:t>
            </a:r>
          </a:p>
        </p:txBody>
      </p:sp>
      <p:sp>
        <p:nvSpPr>
          <p:cNvPr id="9" name="Rectangle 8"/>
          <p:cNvSpPr/>
          <p:nvPr/>
        </p:nvSpPr>
        <p:spPr>
          <a:xfrm>
            <a:off x="777240" y="5907024"/>
            <a:ext cx="10637215" cy="9525"/>
          </a:xfrm>
          <a:prstGeom prst="rect">
            <a:avLst/>
          </a:prstGeom>
          <a:solidFill>
            <a:srgbClr val="D6D6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6016752"/>
            <a:ext cx="10637215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9A6A00"/>
                </a:solidFill>
                <a:latin typeface="Roboto"/>
              </a:rPr>
              <a:t>Use a IA para pensar mais, nunca para pensar menos.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317175" y="6419088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E6E6E"/>
                </a:solidFill>
                <a:latin typeface="Roboto"/>
              </a:rPr>
              <a:t>42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411480"/>
            <a:ext cx="10637215" cy="1325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4000" b="1">
                <a:solidFill>
                  <a:srgbClr val="1E1E1E"/>
                </a:solidFill>
                <a:latin typeface="Roboto"/>
              </a:rPr>
              <a:t>Doze meses de IA escrevendo código em produção</a:t>
            </a:r>
          </a:p>
        </p:txBody>
      </p:sp>
      <p:pic>
        <p:nvPicPr>
          <p:cNvPr id="3" name="Picture 2" descr="11_junior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1920240"/>
            <a:ext cx="10637215" cy="3840479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777240" y="5907024"/>
            <a:ext cx="10637215" cy="9525"/>
          </a:xfrm>
          <a:prstGeom prst="rect">
            <a:avLst/>
          </a:prstGeom>
          <a:solidFill>
            <a:srgbClr val="D6D6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6016752"/>
            <a:ext cx="10637215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9A6A00"/>
                </a:solidFill>
                <a:latin typeface="Roboto"/>
              </a:rPr>
              <a:t>Quanto mais código a IA escreve, mais gente entrega o que não sabe conferir.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17175" y="6419088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E6E6E"/>
                </a:solidFill>
                <a:latin typeface="Roboto"/>
              </a:rPr>
              <a:t>43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411480"/>
            <a:ext cx="10637215" cy="1325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4000" b="1">
                <a:solidFill>
                  <a:srgbClr val="1E1E1E"/>
                </a:solidFill>
                <a:latin typeface="Roboto"/>
              </a:rPr>
              <a:t>O caso que virou notícia: Replit, julho de 2025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783080"/>
            <a:ext cx="10637215" cy="9525"/>
          </a:xfrm>
          <a:prstGeom prst="rect">
            <a:avLst/>
          </a:prstGeom>
          <a:solidFill>
            <a:srgbClr val="D6D6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920240"/>
            <a:ext cx="3657600" cy="67665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9A6A00"/>
                </a:solidFill>
                <a:latin typeface="Roboto"/>
              </a:rPr>
              <a:t>O que aconteceu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754879" y="1920240"/>
            <a:ext cx="6659575" cy="67665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>
                <a:solidFill>
                  <a:srgbClr val="1E1E1E"/>
                </a:solidFill>
                <a:latin typeface="Roboto"/>
              </a:rPr>
              <a:t>O agente de IA apagou o banco de produção de um cliente, com mais de 2.400 registros.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2596164"/>
            <a:ext cx="10637215" cy="9525"/>
          </a:xfrm>
          <a:prstGeom prst="rect">
            <a:avLst/>
          </a:prstGeom>
          <a:solidFill>
            <a:srgbClr val="D6D6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2688336"/>
            <a:ext cx="3657600" cy="67665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9A6A00"/>
                </a:solidFill>
                <a:latin typeface="Roboto"/>
              </a:rPr>
              <a:t>O agravante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754879" y="2688336"/>
            <a:ext cx="6659575" cy="67665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>
                <a:solidFill>
                  <a:srgbClr val="1E1E1E"/>
                </a:solidFill>
                <a:latin typeface="Roboto"/>
              </a:rPr>
              <a:t>Havia congelamento de código e ordem expressa de não alterar nada sem permissão.</a:t>
            </a:r>
          </a:p>
        </p:txBody>
      </p:sp>
      <p:sp>
        <p:nvSpPr>
          <p:cNvPr id="9" name="Rectangle 8"/>
          <p:cNvSpPr/>
          <p:nvPr/>
        </p:nvSpPr>
        <p:spPr>
          <a:xfrm>
            <a:off x="777240" y="3364260"/>
            <a:ext cx="10637215" cy="9525"/>
          </a:xfrm>
          <a:prstGeom prst="rect">
            <a:avLst/>
          </a:prstGeom>
          <a:solidFill>
            <a:srgbClr val="D6D6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3456432"/>
            <a:ext cx="3657600" cy="67665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9A6A00"/>
                </a:solidFill>
                <a:latin typeface="Roboto"/>
              </a:rPr>
              <a:t>A mentira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754879" y="3456432"/>
            <a:ext cx="6659575" cy="67665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>
                <a:solidFill>
                  <a:srgbClr val="1E1E1E"/>
                </a:solidFill>
                <a:latin typeface="Roboto"/>
              </a:rPr>
              <a:t>O agente disse que não dava para desfazer. Dava: o rollback funcionou.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77240" y="4132356"/>
            <a:ext cx="10637215" cy="9525"/>
          </a:xfrm>
          <a:prstGeom prst="rect">
            <a:avLst/>
          </a:prstGeom>
          <a:solidFill>
            <a:srgbClr val="D6D6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4224527"/>
            <a:ext cx="3657600" cy="67665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9A6A00"/>
                </a:solidFill>
                <a:latin typeface="Roboto"/>
              </a:rPr>
              <a:t>O desfecho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54879" y="4224527"/>
            <a:ext cx="6659575" cy="67665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>
                <a:solidFill>
                  <a:srgbClr val="1E1E1E"/>
                </a:solidFill>
                <a:latin typeface="Roboto"/>
              </a:rPr>
              <a:t>O presidente da Replit reconheceu em público, e a empresa separou os bancos.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77240" y="4900452"/>
            <a:ext cx="10637215" cy="9525"/>
          </a:xfrm>
          <a:prstGeom prst="rect">
            <a:avLst/>
          </a:prstGeom>
          <a:solidFill>
            <a:srgbClr val="D6D6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77240" y="4992623"/>
            <a:ext cx="3657600" cy="67665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9A6A00"/>
                </a:solidFill>
                <a:latin typeface="Roboto"/>
              </a:rPr>
              <a:t>Onde foi publicado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754879" y="4992623"/>
            <a:ext cx="6659575" cy="67665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>
                <a:solidFill>
                  <a:srgbClr val="1E1E1E"/>
                </a:solidFill>
                <a:latin typeface="Roboto"/>
              </a:rPr>
              <a:t>The Register, 21 de julho de 2025, e a cobertura correu o mundo.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77240" y="5907024"/>
            <a:ext cx="10637215" cy="9525"/>
          </a:xfrm>
          <a:prstGeom prst="rect">
            <a:avLst/>
          </a:prstGeom>
          <a:solidFill>
            <a:srgbClr val="D6D6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77240" y="6016752"/>
            <a:ext cx="10637215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9A6A00"/>
                </a:solidFill>
                <a:latin typeface="Roboto"/>
              </a:rPr>
              <a:t>O erro não foi comprar a ferramenta. Foi entregá-la a quem não sabia conferir.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317175" y="6419088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E6E6E"/>
                </a:solidFill>
                <a:latin typeface="Roboto"/>
              </a:rPr>
              <a:t>44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713232"/>
            <a:ext cx="10637215" cy="2103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4400" b="1">
                <a:solidFill>
                  <a:srgbClr val="1E1E1E"/>
                </a:solidFill>
                <a:latin typeface="Roboto"/>
              </a:rPr>
              <a:t>A mudança do administrador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4400" b="1">
                <a:solidFill>
                  <a:srgbClr val="1E1E1E"/>
                </a:solidFill>
                <a:latin typeface="Roboto"/>
              </a:rPr>
              <a:t>começa na mudança da universidade.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2944368"/>
            <a:ext cx="2743200" cy="44450"/>
          </a:xfrm>
          <a:prstGeom prst="rect">
            <a:avLst/>
          </a:prstGeom>
          <a:solidFill>
            <a:srgbClr val="E0A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3310128"/>
            <a:ext cx="10637215" cy="2450591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2400" b="0">
                <a:solidFill>
                  <a:srgbClr val="1E1E1E"/>
                </a:solidFill>
                <a:latin typeface="Roboto"/>
              </a:rPr>
              <a:t>Ninguém se transforma sozinho. A pessoa chega pronta do curso que fez, ou não chega.</a:t>
            </a:r>
          </a:p>
          <a:p>
            <a:pPr algn="l">
              <a:lnSpc>
                <a:spcPct val="105000"/>
              </a:lnSpc>
              <a:spcBef>
                <a:spcPts val="1800"/>
              </a:spcBef>
              <a:spcAft>
                <a:spcPts val="0"/>
              </a:spcAft>
            </a:pPr>
            <a:r>
              <a:rPr sz="2400" b="0">
                <a:solidFill>
                  <a:srgbClr val="1E1E1E"/>
                </a:solidFill>
                <a:latin typeface="Roboto"/>
              </a:rPr>
              <a:t>Se a universidade formar para a tarefa que a máquina já faz, entrega gente desatualizada no dia da formatura.</a:t>
            </a:r>
          </a:p>
          <a:p>
            <a:pPr algn="l">
              <a:lnSpc>
                <a:spcPct val="105000"/>
              </a:lnSpc>
              <a:spcBef>
                <a:spcPts val="1800"/>
              </a:spcBef>
              <a:spcAft>
                <a:spcPts val="0"/>
              </a:spcAft>
            </a:pPr>
            <a:r>
              <a:rPr sz="2400" b="0">
                <a:solidFill>
                  <a:srgbClr val="1E1E1E"/>
                </a:solidFill>
                <a:latin typeface="Roboto"/>
              </a:rPr>
              <a:t>A transformação do mercado começa quatro anos antes, aqui dentro.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5907024"/>
            <a:ext cx="10637215" cy="9525"/>
          </a:xfrm>
          <a:prstGeom prst="rect">
            <a:avLst/>
          </a:prstGeom>
          <a:solidFill>
            <a:srgbClr val="D6D6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6016752"/>
            <a:ext cx="10637215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>
                <a:solidFill>
                  <a:srgbClr val="6E6E6E"/>
                </a:solidFill>
                <a:latin typeface="Roboto"/>
              </a:rPr>
              <a:t>Isso não é previsão. Já aconteceu, e aconteceu na disciplina ao lado.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317175" y="6419088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E6E6E"/>
                </a:solidFill>
                <a:latin typeface="Roboto"/>
              </a:rPr>
              <a:t>45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411480"/>
            <a:ext cx="10637215" cy="1325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4000" b="1">
                <a:solidFill>
                  <a:srgbClr val="1E1E1E"/>
                </a:solidFill>
                <a:latin typeface="Roboto"/>
              </a:rPr>
              <a:t>Algoritmos e Programação, primeiro semestre de Engenharia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920240"/>
            <a:ext cx="3210458" cy="57150"/>
          </a:xfrm>
          <a:prstGeom prst="rect">
            <a:avLst/>
          </a:prstGeom>
          <a:solidFill>
            <a:srgbClr val="E0A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2121408"/>
            <a:ext cx="3210458" cy="37865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>
                <a:solidFill>
                  <a:srgbClr val="1E1E1E"/>
                </a:solidFill>
                <a:latin typeface="Roboto"/>
              </a:rPr>
              <a:t>Viabilidade solar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737811"/>
            <a:ext cx="3210458" cy="30229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>
                <a:solidFill>
                  <a:srgbClr val="1E1E1E"/>
                </a:solidFill>
                <a:latin typeface="Roboto"/>
              </a:rPr>
              <a:t>Kauã Lopes</a:t>
            </a:r>
          </a:p>
          <a:p>
            <a:pPr algn="l">
              <a:lnSpc>
                <a:spcPct val="105000"/>
              </a:lnSpc>
              <a:spcBef>
                <a:spcPts val="1600"/>
              </a:spcBef>
              <a:spcAft>
                <a:spcPts val="0"/>
              </a:spcAft>
            </a:pPr>
            <a:r>
              <a:rPr sz="2000" b="0">
                <a:solidFill>
                  <a:srgbClr val="1E1E1E"/>
                </a:solidFill>
                <a:latin typeface="Roboto"/>
              </a:rPr>
              <a:t>Calcula payback e economia de painéis fotovoltaicos</a:t>
            </a:r>
          </a:p>
          <a:p>
            <a:pPr algn="l">
              <a:lnSpc>
                <a:spcPct val="105000"/>
              </a:lnSpc>
              <a:spcBef>
                <a:spcPts val="1600"/>
              </a:spcBef>
              <a:spcAft>
                <a:spcPts val="0"/>
              </a:spcAft>
            </a:pPr>
            <a:r>
              <a:rPr sz="2000" b="0">
                <a:solidFill>
                  <a:srgbClr val="1E1E1E"/>
                </a:solidFill>
                <a:latin typeface="Roboto"/>
              </a:rPr>
              <a:t>ROI de 1392%</a:t>
            </a:r>
          </a:p>
        </p:txBody>
      </p:sp>
      <p:sp>
        <p:nvSpPr>
          <p:cNvPr id="6" name="Rectangle 5"/>
          <p:cNvSpPr/>
          <p:nvPr/>
        </p:nvSpPr>
        <p:spPr>
          <a:xfrm>
            <a:off x="4490618" y="1920240"/>
            <a:ext cx="3210458" cy="57150"/>
          </a:xfrm>
          <a:prstGeom prst="rect">
            <a:avLst/>
          </a:prstGeom>
          <a:solidFill>
            <a:srgbClr val="1E1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490618" y="2121408"/>
            <a:ext cx="3210458" cy="37865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>
                <a:solidFill>
                  <a:srgbClr val="1E1E1E"/>
                </a:solidFill>
                <a:latin typeface="Roboto"/>
              </a:rPr>
              <a:t>Simulador de motor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490618" y="2737811"/>
            <a:ext cx="3210458" cy="30229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>
                <a:solidFill>
                  <a:srgbClr val="1E1E1E"/>
                </a:solidFill>
                <a:latin typeface="Roboto"/>
              </a:rPr>
              <a:t>Arthur Prates e Kauã Sander</a:t>
            </a:r>
          </a:p>
          <a:p>
            <a:pPr algn="l">
              <a:lnSpc>
                <a:spcPct val="105000"/>
              </a:lnSpc>
              <a:spcBef>
                <a:spcPts val="1600"/>
              </a:spcBef>
              <a:spcAft>
                <a:spcPts val="0"/>
              </a:spcAft>
            </a:pPr>
            <a:r>
              <a:rPr sz="2000" b="0">
                <a:solidFill>
                  <a:srgbClr val="1E1E1E"/>
                </a:solidFill>
                <a:latin typeface="Roboto"/>
              </a:rPr>
              <a:t>Calibração automotiva</a:t>
            </a:r>
          </a:p>
          <a:p>
            <a:pPr algn="l">
              <a:lnSpc>
                <a:spcPct val="105000"/>
              </a:lnSpc>
              <a:spcBef>
                <a:spcPts val="1600"/>
              </a:spcBef>
              <a:spcAft>
                <a:spcPts val="0"/>
              </a:spcAft>
            </a:pPr>
            <a:r>
              <a:rPr sz="2000" b="0">
                <a:solidFill>
                  <a:srgbClr val="1E1E1E"/>
                </a:solidFill>
                <a:latin typeface="Roboto"/>
              </a:rPr>
              <a:t>Ranger 3.2D a 259,6 cv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3996" y="1920240"/>
            <a:ext cx="3210458" cy="57150"/>
          </a:xfrm>
          <a:prstGeom prst="rect">
            <a:avLst/>
          </a:prstGeom>
          <a:solidFill>
            <a:srgbClr val="1E1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03996" y="2121408"/>
            <a:ext cx="3210458" cy="37865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>
                <a:solidFill>
                  <a:srgbClr val="1E1E1E"/>
                </a:solidFill>
                <a:latin typeface="Roboto"/>
              </a:rPr>
              <a:t>Análise de bombas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03996" y="2737811"/>
            <a:ext cx="3210458" cy="30229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>
                <a:solidFill>
                  <a:srgbClr val="1E1E1E"/>
                </a:solidFill>
                <a:latin typeface="Roboto"/>
              </a:rPr>
              <a:t>Lorena Christello</a:t>
            </a:r>
          </a:p>
          <a:p>
            <a:pPr algn="l">
              <a:lnSpc>
                <a:spcPct val="105000"/>
              </a:lnSpc>
              <a:spcBef>
                <a:spcPts val="1600"/>
              </a:spcBef>
              <a:spcAft>
                <a:spcPts val="0"/>
              </a:spcAft>
            </a:pPr>
            <a:r>
              <a:rPr sz="2000" b="0">
                <a:solidFill>
                  <a:srgbClr val="1E1E1E"/>
                </a:solidFill>
                <a:latin typeface="Roboto"/>
              </a:rPr>
              <a:t>Desempenho e custo de frota industrial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77240" y="5907024"/>
            <a:ext cx="10637215" cy="9525"/>
          </a:xfrm>
          <a:prstGeom prst="rect">
            <a:avLst/>
          </a:prstGeom>
          <a:solidFill>
            <a:srgbClr val="D6D6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6016752"/>
            <a:ext cx="10637215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9A6A00"/>
                </a:solidFill>
                <a:latin typeface="Roboto"/>
              </a:rPr>
              <a:t>Entregaram em duas horas aplicações que teriam sido trabalho de conclusão há cinco anos.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317175" y="6419088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E6E6E"/>
                </a:solidFill>
                <a:latin typeface="Roboto"/>
              </a:rPr>
              <a:t>46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411480"/>
            <a:ext cx="10637215" cy="1325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4000" b="1">
                <a:solidFill>
                  <a:srgbClr val="1E1E1E"/>
                </a:solidFill>
                <a:latin typeface="Roboto"/>
              </a:rPr>
              <a:t>O mesmo entregável, cinco anos depois</a:t>
            </a:r>
          </a:p>
        </p:txBody>
      </p:sp>
      <p:pic>
        <p:nvPicPr>
          <p:cNvPr id="3" name="Picture 2" descr="12_tc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1920240"/>
            <a:ext cx="10637215" cy="3840479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777240" y="5907024"/>
            <a:ext cx="10637215" cy="9525"/>
          </a:xfrm>
          <a:prstGeom prst="rect">
            <a:avLst/>
          </a:prstGeom>
          <a:solidFill>
            <a:srgbClr val="D6D6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6016752"/>
            <a:ext cx="10637215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9A6A00"/>
                </a:solidFill>
                <a:latin typeface="Roboto"/>
              </a:rPr>
              <a:t>Não foi o aluno que ficou genial. Foi o custo de produzir que despencou.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17175" y="6419088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E6E6E"/>
                </a:solidFill>
                <a:latin typeface="Roboto"/>
              </a:rPr>
              <a:t>47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411480"/>
            <a:ext cx="10637215" cy="1325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4000" b="1">
                <a:solidFill>
                  <a:srgbClr val="1E1E1E"/>
                </a:solidFill>
                <a:latin typeface="Roboto"/>
              </a:rPr>
              <a:t>O que a disciplina precisou virar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783080"/>
            <a:ext cx="10637215" cy="9525"/>
          </a:xfrm>
          <a:prstGeom prst="rect">
            <a:avLst/>
          </a:prstGeom>
          <a:solidFill>
            <a:srgbClr val="D6D6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920240"/>
            <a:ext cx="3931920" cy="118871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2100" b="1">
                <a:solidFill>
                  <a:srgbClr val="9A6A00"/>
                </a:solidFill>
                <a:latin typeface="Roboto"/>
              </a:rPr>
              <a:t>O que saiu de cena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199" y="1920240"/>
            <a:ext cx="6385255" cy="118871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2100" b="0">
                <a:solidFill>
                  <a:srgbClr val="1E1E1E"/>
                </a:solidFill>
                <a:latin typeface="Roboto"/>
              </a:rPr>
              <a:t>Decorar sintaxe, entregar código que compila, prova de papel e caneta.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3046780"/>
            <a:ext cx="10637215" cy="9525"/>
          </a:xfrm>
          <a:prstGeom prst="rect">
            <a:avLst/>
          </a:prstGeom>
          <a:solidFill>
            <a:srgbClr val="D6D6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3200400"/>
            <a:ext cx="3931920" cy="118871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2100" b="1">
                <a:solidFill>
                  <a:srgbClr val="9A6A00"/>
                </a:solidFill>
                <a:latin typeface="Roboto"/>
              </a:rPr>
              <a:t>O que entrou no lugar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199" y="3200400"/>
            <a:ext cx="6385255" cy="118871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2100" b="0">
                <a:solidFill>
                  <a:srgbClr val="1E1E1E"/>
                </a:solidFill>
                <a:latin typeface="Roboto"/>
              </a:rPr>
              <a:t>Especificar o problema, julgar o que a máquina devolveu, defender o resultado de viva-voz.</a:t>
            </a:r>
          </a:p>
        </p:txBody>
      </p:sp>
      <p:sp>
        <p:nvSpPr>
          <p:cNvPr id="9" name="Rectangle 8"/>
          <p:cNvSpPr/>
          <p:nvPr/>
        </p:nvSpPr>
        <p:spPr>
          <a:xfrm>
            <a:off x="777240" y="4326940"/>
            <a:ext cx="10637215" cy="9525"/>
          </a:xfrm>
          <a:prstGeom prst="rect">
            <a:avLst/>
          </a:prstGeom>
          <a:solidFill>
            <a:srgbClr val="D6D6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4480559"/>
            <a:ext cx="3931920" cy="118871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2100" b="1">
                <a:solidFill>
                  <a:srgbClr val="9A6A00"/>
                </a:solidFill>
                <a:latin typeface="Roboto"/>
              </a:rPr>
              <a:t>O que não mudou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199" y="4480559"/>
            <a:ext cx="6385255" cy="118871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2100" b="0">
                <a:solidFill>
                  <a:srgbClr val="1E1E1E"/>
                </a:solidFill>
                <a:latin typeface="Roboto"/>
              </a:rPr>
              <a:t>Quem não entende o problema não sabe dizer se a resposta está certa.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77240" y="5907024"/>
            <a:ext cx="10637215" cy="9525"/>
          </a:xfrm>
          <a:prstGeom prst="rect">
            <a:avLst/>
          </a:prstGeom>
          <a:solidFill>
            <a:srgbClr val="D6D6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6016752"/>
            <a:ext cx="10637215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9A6A00"/>
                </a:solidFill>
                <a:latin typeface="Roboto"/>
              </a:rPr>
              <a:t>Vale igual para Administração: a entrega ficou barata, o julgamento ficou caro.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317175" y="6419088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E6E6E"/>
                </a:solidFill>
                <a:latin typeface="Roboto"/>
              </a:rPr>
              <a:t>48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411480"/>
            <a:ext cx="10637215" cy="1325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4000" b="1">
                <a:solidFill>
                  <a:srgbClr val="1E1E1E"/>
                </a:solidFill>
                <a:latin typeface="Roboto"/>
              </a:rPr>
              <a:t>O novo papel da universidade, e o que a cidade ganha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783080"/>
            <a:ext cx="10637215" cy="9525"/>
          </a:xfrm>
          <a:prstGeom prst="rect">
            <a:avLst/>
          </a:prstGeom>
          <a:solidFill>
            <a:srgbClr val="D6D6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920240"/>
            <a:ext cx="3657600" cy="86867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2100" b="1">
                <a:solidFill>
                  <a:srgbClr val="9A6A00"/>
                </a:solidFill>
                <a:latin typeface="Roboto"/>
              </a:rPr>
              <a:t>Deixa de ser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754879" y="1920240"/>
            <a:ext cx="6659575" cy="86867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2100" b="0">
                <a:solidFill>
                  <a:srgbClr val="1E1E1E"/>
                </a:solidFill>
                <a:latin typeface="Roboto"/>
              </a:rPr>
              <a:t>O lugar que </a:t>
            </a:r>
            <a:r>
              <a:rPr sz="2100" b="1">
                <a:solidFill>
                  <a:srgbClr val="1E1E1E"/>
                </a:solidFill>
                <a:latin typeface="Roboto"/>
              </a:rPr>
              <a:t>guarda o conteúdo</a:t>
            </a:r>
            <a:r>
              <a:rPr sz="2100" b="0">
                <a:solidFill>
                  <a:srgbClr val="1E1E1E"/>
                </a:solidFill>
                <a:latin typeface="Roboto"/>
              </a:rPr>
              <a:t> e distribui a </a:t>
            </a:r>
            <a:r>
              <a:rPr sz="2100" b="1">
                <a:solidFill>
                  <a:srgbClr val="1E1E1E"/>
                </a:solidFill>
                <a:latin typeface="Roboto"/>
              </a:rPr>
              <a:t>resposta certa</a:t>
            </a:r>
            <a:r>
              <a:rPr sz="2100" b="0">
                <a:solidFill>
                  <a:srgbClr val="1E1E1E"/>
                </a:solidFill>
                <a:latin typeface="Roboto"/>
              </a:rPr>
              <a:t>.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2765145"/>
            <a:ext cx="10637215" cy="9525"/>
          </a:xfrm>
          <a:prstGeom prst="rect">
            <a:avLst/>
          </a:prstGeom>
          <a:solidFill>
            <a:srgbClr val="D6D6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2880360"/>
            <a:ext cx="3657600" cy="86867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2100" b="1">
                <a:solidFill>
                  <a:srgbClr val="9A6A00"/>
                </a:solidFill>
                <a:latin typeface="Roboto"/>
              </a:rPr>
              <a:t>Passa a ser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754879" y="2880360"/>
            <a:ext cx="6659575" cy="86867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2100" b="0">
                <a:solidFill>
                  <a:srgbClr val="1E1E1E"/>
                </a:solidFill>
                <a:latin typeface="Roboto"/>
              </a:rPr>
              <a:t>O lugar que ensina a </a:t>
            </a:r>
            <a:r>
              <a:rPr sz="2100" b="1">
                <a:solidFill>
                  <a:srgbClr val="1E1E1E"/>
                </a:solidFill>
                <a:latin typeface="Roboto"/>
              </a:rPr>
              <a:t>formular a pergunta</a:t>
            </a:r>
            <a:r>
              <a:rPr sz="2100" b="0">
                <a:solidFill>
                  <a:srgbClr val="1E1E1E"/>
                </a:solidFill>
                <a:latin typeface="Roboto"/>
              </a:rPr>
              <a:t>, </a:t>
            </a:r>
            <a:r>
              <a:rPr sz="2100" b="1">
                <a:solidFill>
                  <a:srgbClr val="1E1E1E"/>
                </a:solidFill>
                <a:latin typeface="Roboto"/>
              </a:rPr>
              <a:t>julgar a resposta</a:t>
            </a:r>
            <a:r>
              <a:rPr sz="2100" b="0">
                <a:solidFill>
                  <a:srgbClr val="1E1E1E"/>
                </a:solidFill>
                <a:latin typeface="Roboto"/>
              </a:rPr>
              <a:t> e </a:t>
            </a:r>
            <a:r>
              <a:rPr sz="2100" b="1">
                <a:solidFill>
                  <a:srgbClr val="1E1E1E"/>
                </a:solidFill>
                <a:latin typeface="Roboto"/>
              </a:rPr>
              <a:t>assumir a decisão</a:t>
            </a:r>
            <a:r>
              <a:rPr sz="2100" b="0">
                <a:solidFill>
                  <a:srgbClr val="1E1E1E"/>
                </a:solidFill>
                <a:latin typeface="Roboto"/>
              </a:rPr>
              <a:t>.</a:t>
            </a:r>
          </a:p>
        </p:txBody>
      </p:sp>
      <p:sp>
        <p:nvSpPr>
          <p:cNvPr id="9" name="Rectangle 8"/>
          <p:cNvSpPr/>
          <p:nvPr/>
        </p:nvSpPr>
        <p:spPr>
          <a:xfrm>
            <a:off x="777240" y="3725265"/>
            <a:ext cx="10637215" cy="9525"/>
          </a:xfrm>
          <a:prstGeom prst="rect">
            <a:avLst/>
          </a:prstGeom>
          <a:solidFill>
            <a:srgbClr val="D6D6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3840479"/>
            <a:ext cx="3657600" cy="86867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2100" b="1">
                <a:solidFill>
                  <a:srgbClr val="9A6A00"/>
                </a:solidFill>
                <a:latin typeface="Roboto"/>
              </a:rPr>
              <a:t>A sociedade ganha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754879" y="3840479"/>
            <a:ext cx="6659575" cy="86867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2100" b="1">
                <a:solidFill>
                  <a:srgbClr val="1E1E1E"/>
                </a:solidFill>
                <a:latin typeface="Roboto"/>
              </a:rPr>
              <a:t>Problema real da região</a:t>
            </a:r>
            <a:r>
              <a:rPr sz="2100" b="0">
                <a:solidFill>
                  <a:srgbClr val="1E1E1E"/>
                </a:solidFill>
                <a:latin typeface="Roboto"/>
              </a:rPr>
              <a:t> resolvido por aluno de </a:t>
            </a:r>
            <a:r>
              <a:rPr sz="2100" b="1">
                <a:solidFill>
                  <a:srgbClr val="1E1E1E"/>
                </a:solidFill>
                <a:latin typeface="Roboto"/>
              </a:rPr>
              <a:t>primeiro semestre</a:t>
            </a:r>
            <a:r>
              <a:rPr sz="2100" b="0">
                <a:solidFill>
                  <a:srgbClr val="1E1E1E"/>
                </a:solidFill>
                <a:latin typeface="Roboto"/>
              </a:rPr>
              <a:t>, e não daqui a quatro anos.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77240" y="4685385"/>
            <a:ext cx="10637215" cy="9525"/>
          </a:xfrm>
          <a:prstGeom prst="rect">
            <a:avLst/>
          </a:prstGeom>
          <a:solidFill>
            <a:srgbClr val="D6D6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4800599"/>
            <a:ext cx="3657600" cy="86867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2100" b="1">
                <a:solidFill>
                  <a:srgbClr val="9A6A00"/>
                </a:solidFill>
                <a:latin typeface="Roboto"/>
              </a:rPr>
              <a:t>A sociedade perde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54879" y="4800599"/>
            <a:ext cx="6659575" cy="86867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2100" b="0">
                <a:solidFill>
                  <a:srgbClr val="1E1E1E"/>
                </a:solidFill>
                <a:latin typeface="Roboto"/>
              </a:rPr>
              <a:t>Forma-se gente qualificada para a </a:t>
            </a:r>
            <a:r>
              <a:rPr sz="2100" b="1">
                <a:solidFill>
                  <a:srgbClr val="1E1E1E"/>
                </a:solidFill>
                <a:latin typeface="Roboto"/>
              </a:rPr>
              <a:t>tarefa que a máquina já faz por centavos</a:t>
            </a:r>
            <a:r>
              <a:rPr sz="2100" b="0">
                <a:solidFill>
                  <a:srgbClr val="1E1E1E"/>
                </a:solidFill>
                <a:latin typeface="Roboto"/>
              </a:rPr>
              <a:t>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77240" y="5907024"/>
            <a:ext cx="10637215" cy="9525"/>
          </a:xfrm>
          <a:prstGeom prst="rect">
            <a:avLst/>
          </a:prstGeom>
          <a:solidFill>
            <a:srgbClr val="D6D6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77240" y="6016752"/>
            <a:ext cx="10637215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9A6A00"/>
                </a:solidFill>
                <a:latin typeface="Roboto"/>
              </a:rPr>
              <a:t>Ou a universidade puxa a região, ou a região fica esperando.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317175" y="6419088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E6E6E"/>
                </a:solidFill>
                <a:latin typeface="Roboto"/>
              </a:rPr>
              <a:t>49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1051560"/>
            <a:ext cx="10637215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9A6A00"/>
                </a:solidFill>
                <a:latin typeface="Roboto"/>
              </a:rPr>
              <a:t>PERGUNTA 6 PARA A PLATEIA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627632"/>
            <a:ext cx="2743200" cy="44450"/>
          </a:xfrm>
          <a:prstGeom prst="rect">
            <a:avLst/>
          </a:prstGeom>
          <a:solidFill>
            <a:srgbClr val="E0A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2057400"/>
            <a:ext cx="10637215" cy="2743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4600" b="1">
                <a:solidFill>
                  <a:srgbClr val="1E1E1E"/>
                </a:solidFill>
                <a:latin typeface="Roboto"/>
              </a:rPr>
              <a:t>Se eu te devolvesse uma hora por dia, o que você faria com ela?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4983480"/>
            <a:ext cx="10637215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2400" b="0">
                <a:solidFill>
                  <a:srgbClr val="6E6E6E"/>
                </a:solidFill>
                <a:latin typeface="Roboto"/>
              </a:rPr>
              <a:t>Essa é a única pergunta que realmente importa sobre produtividade.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17175" y="6419088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E6E6E"/>
                </a:solidFill>
                <a:latin typeface="Roboto"/>
              </a:rPr>
              <a:t>50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411480"/>
            <a:ext cx="10637215" cy="1325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4000" b="1">
                <a:solidFill>
                  <a:srgbClr val="1E1E1E"/>
                </a:solidFill>
                <a:latin typeface="Roboto"/>
              </a:rPr>
              <a:t>Cinco hábitos para começar amanhã de manhã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783080"/>
            <a:ext cx="10637215" cy="9525"/>
          </a:xfrm>
          <a:prstGeom prst="rect">
            <a:avLst/>
          </a:prstGeom>
          <a:solidFill>
            <a:srgbClr val="D6D6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920240"/>
            <a:ext cx="1051560" cy="67665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400" b="1">
                <a:solidFill>
                  <a:srgbClr val="E0A100"/>
                </a:solidFill>
                <a:latin typeface="Roboto"/>
              </a:rPr>
              <a:t>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920240" y="2022602"/>
            <a:ext cx="9494215" cy="57429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2100" b="1">
                <a:solidFill>
                  <a:srgbClr val="1E1E1E"/>
                </a:solidFill>
                <a:latin typeface="Roboto"/>
              </a:rPr>
              <a:t>Dê contexto</a:t>
            </a:r>
            <a:r>
              <a:rPr sz="2100" b="0">
                <a:solidFill>
                  <a:srgbClr val="1E1E1E"/>
                </a:solidFill>
                <a:latin typeface="Roboto"/>
              </a:rPr>
              <a:t>: quem você é, para quem é, qual a restrição.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2688336"/>
            <a:ext cx="1051560" cy="67665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400" b="1">
                <a:solidFill>
                  <a:srgbClr val="E0A100"/>
                </a:solidFill>
                <a:latin typeface="Roboto"/>
              </a:rPr>
              <a:t>02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920240" y="2790698"/>
            <a:ext cx="9494215" cy="57429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2100" b="0">
                <a:solidFill>
                  <a:srgbClr val="1E1E1E"/>
                </a:solidFill>
                <a:latin typeface="Roboto"/>
              </a:rPr>
              <a:t>Peça </a:t>
            </a:r>
            <a:r>
              <a:rPr sz="2100" b="1">
                <a:solidFill>
                  <a:srgbClr val="1E1E1E"/>
                </a:solidFill>
                <a:latin typeface="Roboto"/>
              </a:rPr>
              <a:t>no mínimo três versões</a:t>
            </a:r>
            <a:r>
              <a:rPr sz="2100" b="0">
                <a:solidFill>
                  <a:srgbClr val="1E1E1E"/>
                </a:solidFill>
                <a:latin typeface="Roboto"/>
              </a:rPr>
              <a:t>. A primeira quase nunca é a melhor.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3456432"/>
            <a:ext cx="1051560" cy="67665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400" b="1">
                <a:solidFill>
                  <a:srgbClr val="E0A100"/>
                </a:solidFill>
                <a:latin typeface="Roboto"/>
              </a:rPr>
              <a:t>03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920240" y="3558794"/>
            <a:ext cx="9494215" cy="57429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2100" b="1">
                <a:solidFill>
                  <a:srgbClr val="1E1E1E"/>
                </a:solidFill>
                <a:latin typeface="Roboto"/>
              </a:rPr>
              <a:t>Nunca use uma única IA.</a:t>
            </a:r>
            <a:r>
              <a:rPr sz="2100" b="0">
                <a:solidFill>
                  <a:srgbClr val="1E1E1E"/>
                </a:solidFill>
                <a:latin typeface="Roboto"/>
              </a:rPr>
              <a:t> Pergunte o mesmo a duas e compare.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4224527"/>
            <a:ext cx="1051560" cy="67665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400" b="1">
                <a:solidFill>
                  <a:srgbClr val="E0A100"/>
                </a:solidFill>
                <a:latin typeface="Roboto"/>
              </a:rPr>
              <a:t>04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920240" y="4326889"/>
            <a:ext cx="9494215" cy="57429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2100" b="1">
                <a:solidFill>
                  <a:srgbClr val="1E1E1E"/>
                </a:solidFill>
                <a:latin typeface="Roboto"/>
              </a:rPr>
              <a:t>Verifique</a:t>
            </a:r>
            <a:r>
              <a:rPr sz="2100" b="0">
                <a:solidFill>
                  <a:srgbClr val="1E1E1E"/>
                </a:solidFill>
                <a:latin typeface="Roboto"/>
              </a:rPr>
              <a:t> tudo que tem número, nome próprio ou fonte. Sem exceção.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4992623"/>
            <a:ext cx="1051560" cy="67665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400" b="1">
                <a:solidFill>
                  <a:srgbClr val="E0A100"/>
                </a:solidFill>
                <a:latin typeface="Roboto"/>
              </a:rPr>
              <a:t>05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920240" y="5094985"/>
            <a:ext cx="9494215" cy="57429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2100" b="1">
                <a:solidFill>
                  <a:srgbClr val="1E1E1E"/>
                </a:solidFill>
                <a:latin typeface="Roboto"/>
              </a:rPr>
              <a:t>Nunca entregue</a:t>
            </a:r>
            <a:r>
              <a:rPr sz="2100" b="0">
                <a:solidFill>
                  <a:srgbClr val="1E1E1E"/>
                </a:solidFill>
                <a:latin typeface="Roboto"/>
              </a:rPr>
              <a:t> o que você não conseguiria defender sozinho na sala.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77240" y="5907024"/>
            <a:ext cx="10637215" cy="9525"/>
          </a:xfrm>
          <a:prstGeom prst="rect">
            <a:avLst/>
          </a:prstGeom>
          <a:solidFill>
            <a:srgbClr val="D6D6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6016752"/>
            <a:ext cx="10637215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9A6A00"/>
                </a:solidFill>
                <a:latin typeface="Roboto"/>
              </a:rPr>
              <a:t>Onde duas IAs discordam é exatamente onde você precisa pensar.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317175" y="6419088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E6E6E"/>
                </a:solidFill>
                <a:latin typeface="Roboto"/>
              </a:rPr>
              <a:t>51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411480"/>
            <a:ext cx="10637215" cy="1325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4000" b="1">
                <a:solidFill>
                  <a:srgbClr val="1E1E1E"/>
                </a:solidFill>
                <a:latin typeface="Roboto"/>
              </a:rPr>
              <a:t>O que treinar nos próximos doze meses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920240"/>
            <a:ext cx="5067147" cy="57150"/>
          </a:xfrm>
          <a:prstGeom prst="rect">
            <a:avLst/>
          </a:prstGeom>
          <a:solidFill>
            <a:srgbClr val="E0A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2121408"/>
            <a:ext cx="5067147" cy="37865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>
                <a:solidFill>
                  <a:srgbClr val="1E1E1E"/>
                </a:solidFill>
                <a:latin typeface="Roboto"/>
              </a:rPr>
              <a:t>Se você é estudante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737811"/>
            <a:ext cx="5067147" cy="30229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>
                <a:solidFill>
                  <a:srgbClr val="1E1E1E"/>
                </a:solidFill>
                <a:latin typeface="Roboto"/>
              </a:rPr>
              <a:t>Use IA em toda disciplina e registre onde ela errou</a:t>
            </a:r>
          </a:p>
          <a:p>
            <a:pPr algn="l">
              <a:lnSpc>
                <a:spcPct val="105000"/>
              </a:lnSpc>
              <a:spcBef>
                <a:spcPts val="1600"/>
              </a:spcBef>
              <a:spcAft>
                <a:spcPts val="0"/>
              </a:spcAft>
            </a:pPr>
            <a:r>
              <a:rPr sz="2000" b="0">
                <a:solidFill>
                  <a:srgbClr val="1E1E1E"/>
                </a:solidFill>
                <a:latin typeface="Roboto"/>
              </a:rPr>
              <a:t>Aprenda dado: planilha e estatística</a:t>
            </a:r>
          </a:p>
          <a:p>
            <a:pPr algn="l">
              <a:lnSpc>
                <a:spcPct val="105000"/>
              </a:lnSpc>
              <a:spcBef>
                <a:spcPts val="1600"/>
              </a:spcBef>
              <a:spcAft>
                <a:spcPts val="0"/>
              </a:spcAft>
            </a:pPr>
            <a:r>
              <a:rPr sz="2000" b="0">
                <a:solidFill>
                  <a:srgbClr val="1E1E1E"/>
                </a:solidFill>
                <a:latin typeface="Roboto"/>
              </a:rPr>
              <a:t>Faça um projeto real, do início ao fim</a:t>
            </a:r>
          </a:p>
          <a:p>
            <a:pPr algn="l">
              <a:lnSpc>
                <a:spcPct val="105000"/>
              </a:lnSpc>
              <a:spcBef>
                <a:spcPts val="1600"/>
              </a:spcBef>
              <a:spcAft>
                <a:spcPts val="0"/>
              </a:spcAft>
            </a:pPr>
            <a:r>
              <a:rPr sz="2000" b="0">
                <a:solidFill>
                  <a:srgbClr val="1E1E1E"/>
                </a:solidFill>
                <a:latin typeface="Roboto"/>
              </a:rPr>
              <a:t>Escreva mais. Quem escreve mal, pergunta mal</a:t>
            </a:r>
          </a:p>
        </p:txBody>
      </p:sp>
      <p:sp>
        <p:nvSpPr>
          <p:cNvPr id="6" name="Rectangle 5"/>
          <p:cNvSpPr/>
          <p:nvPr/>
        </p:nvSpPr>
        <p:spPr>
          <a:xfrm>
            <a:off x="6347307" y="1920240"/>
            <a:ext cx="5067147" cy="57150"/>
          </a:xfrm>
          <a:prstGeom prst="rect">
            <a:avLst/>
          </a:prstGeom>
          <a:solidFill>
            <a:srgbClr val="1E1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347307" y="2121408"/>
            <a:ext cx="5067147" cy="37865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>
                <a:solidFill>
                  <a:srgbClr val="1E1E1E"/>
                </a:solidFill>
                <a:latin typeface="Roboto"/>
              </a:rPr>
              <a:t>Se você é docente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47307" y="2737811"/>
            <a:ext cx="5067147" cy="30229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>
                <a:solidFill>
                  <a:srgbClr val="1E1E1E"/>
                </a:solidFill>
                <a:latin typeface="Roboto"/>
              </a:rPr>
              <a:t>Avalie processo e defesa oral, não só o produto entregue</a:t>
            </a:r>
          </a:p>
          <a:p>
            <a:pPr algn="l">
              <a:lnSpc>
                <a:spcPct val="105000"/>
              </a:lnSpc>
              <a:spcBef>
                <a:spcPts val="1600"/>
              </a:spcBef>
              <a:spcAft>
                <a:spcPts val="0"/>
              </a:spcAft>
            </a:pPr>
            <a:r>
              <a:rPr sz="2000" b="0">
                <a:solidFill>
                  <a:srgbClr val="1E1E1E"/>
                </a:solidFill>
                <a:latin typeface="Roboto"/>
              </a:rPr>
              <a:t>Traga caso real da região para dentro da sala</a:t>
            </a:r>
          </a:p>
          <a:p>
            <a:pPr algn="l">
              <a:lnSpc>
                <a:spcPct val="105000"/>
              </a:lnSpc>
              <a:spcBef>
                <a:spcPts val="1600"/>
              </a:spcBef>
              <a:spcAft>
                <a:spcPts val="0"/>
              </a:spcAft>
            </a:pPr>
            <a:r>
              <a:rPr sz="2000" b="0">
                <a:solidFill>
                  <a:srgbClr val="1E1E1E"/>
                </a:solidFill>
                <a:latin typeface="Roboto"/>
              </a:rPr>
              <a:t>Exija que o aluno mostre onde a IA errou</a:t>
            </a:r>
          </a:p>
          <a:p>
            <a:pPr algn="l">
              <a:lnSpc>
                <a:spcPct val="105000"/>
              </a:lnSpc>
              <a:spcBef>
                <a:spcPts val="1600"/>
              </a:spcBef>
              <a:spcAft>
                <a:spcPts val="0"/>
              </a:spcAft>
            </a:pPr>
            <a:r>
              <a:rPr sz="2000" b="0">
                <a:solidFill>
                  <a:srgbClr val="1E1E1E"/>
                </a:solidFill>
                <a:latin typeface="Roboto"/>
              </a:rPr>
              <a:t>Use IA para preparar, corrigir e devolver mais rápido</a:t>
            </a:r>
          </a:p>
        </p:txBody>
      </p:sp>
      <p:sp>
        <p:nvSpPr>
          <p:cNvPr id="9" name="Rectangle 8"/>
          <p:cNvSpPr/>
          <p:nvPr/>
        </p:nvSpPr>
        <p:spPr>
          <a:xfrm>
            <a:off x="777240" y="5907024"/>
            <a:ext cx="10637215" cy="9525"/>
          </a:xfrm>
          <a:prstGeom prst="rect">
            <a:avLst/>
          </a:prstGeom>
          <a:solidFill>
            <a:srgbClr val="D6D6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6016752"/>
            <a:ext cx="10637215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9A6A00"/>
                </a:solidFill>
                <a:latin typeface="Roboto"/>
              </a:rPr>
              <a:t>A tecnologia não vai esperar a região se preparar.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317175" y="6419088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E6E6E"/>
                </a:solidFill>
                <a:latin typeface="Roboto"/>
              </a:rPr>
              <a:t>52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960120"/>
            <a:ext cx="10637215" cy="23774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7000"/>
              </a:lnSpc>
              <a:spcBef>
                <a:spcPts val="0"/>
              </a:spcBef>
              <a:spcAft>
                <a:spcPts val="0"/>
              </a:spcAft>
            </a:pPr>
            <a:r>
              <a:rPr sz="4000" b="1">
                <a:solidFill>
                  <a:srgbClr val="1E1E1E"/>
                </a:solidFill>
                <a:latin typeface="Roboto"/>
              </a:rPr>
              <a:t>A IA não substitui o administrador.</a:t>
            </a:r>
          </a:p>
          <a:p>
            <a:pPr algn="l">
              <a:lnSpc>
                <a:spcPct val="107000"/>
              </a:lnSpc>
              <a:spcBef>
                <a:spcPts val="0"/>
              </a:spcBef>
              <a:spcAft>
                <a:spcPts val="0"/>
              </a:spcAft>
            </a:pPr>
            <a:r>
              <a:rPr sz="4000" b="1">
                <a:solidFill>
                  <a:srgbClr val="9A6A00"/>
                </a:solidFill>
                <a:latin typeface="Roboto"/>
              </a:rPr>
              <a:t>Substitui o administrador que não usa IA.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3429000"/>
            <a:ext cx="2743200" cy="44450"/>
          </a:xfrm>
          <a:prstGeom prst="rect">
            <a:avLst/>
          </a:prstGeom>
          <a:solidFill>
            <a:srgbClr val="E0A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3794760"/>
            <a:ext cx="10637215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1E1E1E"/>
                </a:solidFill>
                <a:latin typeface="Roboto"/>
              </a:rPr>
              <a:t>Última pergunta: o que você vai testar até sexta-feira?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4983480"/>
            <a:ext cx="10637215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1E1E1E"/>
                </a:solidFill>
                <a:latin typeface="Roboto"/>
              </a:rPr>
              <a:t>Diego Kreutz  |  diegokreutz@unipampa.edu.br</a:t>
            </a:r>
          </a:p>
          <a:p>
            <a:pPr algn="l">
              <a:lnSpc>
                <a:spcPct val="105000"/>
              </a:lnSpc>
              <a:spcBef>
                <a:spcPts val="700"/>
              </a:spcBef>
              <a:spcAft>
                <a:spcPts val="0"/>
              </a:spcAft>
            </a:pPr>
            <a:r>
              <a:rPr sz="1900" b="0">
                <a:solidFill>
                  <a:srgbClr val="6E6E6E"/>
                </a:solidFill>
                <a:latin typeface="Roboto"/>
              </a:rPr>
              <a:t>Pesquisador e professor da UNIPAMPA, Campus Alegrete</a:t>
            </a:r>
          </a:p>
          <a:p>
            <a:pPr algn="l">
              <a:lnSpc>
                <a:spcPct val="105000"/>
              </a:lnSpc>
              <a:spcBef>
                <a:spcPts val="700"/>
              </a:spcBef>
              <a:spcAft>
                <a:spcPts val="0"/>
              </a:spcAft>
            </a:pPr>
            <a:r>
              <a:rPr sz="1900" b="0">
                <a:solidFill>
                  <a:srgbClr val="6E6E6E"/>
                </a:solidFill>
                <a:latin typeface="Roboto"/>
              </a:rPr>
              <a:t>Obrigado ao Prof. Rafael Augusto Dill e ao Curso de Administração da URCAMP.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