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PALESTRA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1E1E1E"/>
                </a:solidFill>
                <a:latin typeface="Roboto"/>
              </a:rPr>
              <a:t>A IA já está no seu dia.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1E1E1E"/>
                </a:solidFill>
                <a:latin typeface="Roboto"/>
              </a:rPr>
              <a:t>A pergunta é quem está no comando.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9184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6E6E6E"/>
                </a:solidFill>
                <a:latin typeface="Roboto"/>
              </a:rPr>
              <a:t>Avanços, impactos e a transformação do trabalho de quem administra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224528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E1E1E"/>
                </a:solidFill>
                <a:latin typeface="Roboto"/>
              </a:rPr>
              <a:t>Diego Kreutz  |  Pesquisador e professor da UNIPAMPA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Curso de Administração  |  URCAMP Campus Alegrete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Disciplina Tópicos Emergentes  |  Prof. Rafael Augusto Dill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14 de setembro de 2026  |  19h30  |  Sala 306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1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Quem aqui usou inteligência artificial nas últimas 24 horas?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Levante a mão. Sem vergonha.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Todo mundo levantou a mão. Nem todo mundo sabia.</a:t>
            </a:r>
          </a:p>
        </p:txBody>
      </p:sp>
      <p:pic>
        <p:nvPicPr>
          <p:cNvPr id="3" name="Picture 2" descr="07_dia_invisi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IA deixou de ser assunto de TI. Virou infraestrutura da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você leva desta noite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5156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983232"/>
            <a:ext cx="9494215" cy="1125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O que a IA realmente é, e o que ela definitivamente não 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5156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3263392"/>
            <a:ext cx="9494215" cy="1125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O que muda em cada função da Administração, e o que não muda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0559"/>
            <a:ext cx="105156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4543552"/>
            <a:ext cx="9494215" cy="1125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1E1E1E"/>
                </a:solidFill>
                <a:latin typeface="Roboto"/>
              </a:rPr>
              <a:t>O que fazer com isso a partir de amanhã de manhã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Nenhuma linha desta palestra exige que você saiba programar.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ela é, e o que ela não é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5067147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O que a IA 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Software que aprende padrões em dados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Leu praticamente tudo que já foi publicado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Não cansa, não esquece, não tira férias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Custa centavos por tarefa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7307" y="1920240"/>
            <a:ext cx="5067147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7307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O que a IA não 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Não pode ser responsabilizada por nada que faz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Erra com confiança total, o que chamamos de alucinação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Não conhece a sua empresa nem a sua cidade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Não é o robô humanoide do cinema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Você já usa: Face ID, recomendação do Mercado Livre, drone agrícola, ChatGPT.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 virada: parar de programar regras, começar a mostrar exemplos</a:t>
            </a:r>
          </a:p>
        </p:txBody>
      </p:sp>
      <p:pic>
        <p:nvPicPr>
          <p:cNvPr id="3" name="Picture 2" descr="02_regra_vs_d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Foi essa virada que tirou a IA do laboratório e colocou no seu celular.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Na prática: onde a regra quebra, e onde o dado ganha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5067147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Regra fixa, e o estrago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Antifraude por regra: bloqueia o cliente em viagem e libera dez compras pequenas do golpista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Filtro de spam por lista de palavras: bastava trocar uma letra por um número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Corte de score no crédito: nega o bom pagador que nunca teve conta em banco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7307" y="1920240"/>
            <a:ext cx="5067147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7307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Aprender com dados, e o ganho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Antifraude que aprende: conhece o padrão de cada cliente, não uma regra para todos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Tradução automática: virou útil para trabalho quando trocou gramática por aprendizado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Previsão de demanda: menos ruptura na prateleira e menos capital parado no estoque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 modelo vê o que ninguém imaginou. E também o preconceito que estava no histórico.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2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Quanto tempo o ChatGPT levou para chegar a 100 milhões de usuários?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Chute em voz alta. Quem chegar mais perto ganha o meu respeito.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Tempo para chegar a 100 milhões de usuários</a:t>
            </a:r>
          </a:p>
        </p:txBody>
      </p:sp>
      <p:pic>
        <p:nvPicPr>
          <p:cNvPr id="3" name="Picture 2" descr="01_ado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Fonte: estimativas UBS e Reuters, 2023. Nenhuma geração teve tão pouco tempo para se adaptar.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Onde ela acerta, e onde ela erra feio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5067147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Acerta com folga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Redigir, resumir, traduzir, reescrever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Achar padrão em planilha grande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Gerar a primeira versão de qualquer coisa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Explicar assunto difícil no seu nível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7307" y="1920240"/>
            <a:ext cx="5067147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7307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Erra feio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Inventa fonte, número e citação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Reproduz o viés de quem gerou o dado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Desconhece o particular: sua empresa, sua cidade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Não sabe quando não sabe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IA não erra menos que você. Erra diferente, e em outra velocidade.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Releia a coluna da direita pensando em gente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Inventa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A gente cita de memória, arredonda para cima e lembra com convicção o que não foi bem assim.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Reproduz viés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9" y="2880360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Viés de confirmação, ancoragem e rigidez cognitiva: aqui sempre foi assim, e aqui sempre vai 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Não sabe quando não sabe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199" y="3840479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Quanto menos a pessoa domina um assunto, mais certeza ela costuma demonstrar ao opinar.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8538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00599"/>
            <a:ext cx="393192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E o inverso também vale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199" y="4800599"/>
            <a:ext cx="638525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Mostre o dado e a máquina muda de posição na hora. A gente muda devagar, e às vezes nem assim.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Bom senso e responsabilidade não vêm de fábrica. São habilidades desenvolvidas.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3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Você deixaria a IA tomar sozinha uma decisão da sua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Em qual decisão sim? Em qual decisão jamais?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 régua não é a tarefa. É o custo do erro.</a:t>
            </a:r>
          </a:p>
        </p:txBody>
      </p:sp>
      <p:pic>
        <p:nvPicPr>
          <p:cNvPr id="3" name="Picture 2" descr="03_regu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A LGPD, no artigo 20, garante ao cidadão pedir revisão de decisão automatizada.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Um dia comum de quem administra, em Alegrete</a:t>
            </a:r>
          </a:p>
        </p:txBody>
      </p:sp>
      <p:pic>
        <p:nvPicPr>
          <p:cNvPr id="3" name="Picture 2" descr="04_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 ganho não é fazer mais coisas. É finalmente fazer o que só você pode fazer.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muda em cada função da Administração</a:t>
            </a:r>
          </a:p>
        </p:txBody>
      </p:sp>
      <p:pic>
        <p:nvPicPr>
          <p:cNvPr id="3" name="Picture 2" descr="08_fun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IA assumiu a execução. Não assumiu a responsabilidade pela escolha.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Decisão baseada em dados, e o risco que veio junto</a:t>
            </a:r>
          </a:p>
        </p:txBody>
      </p:sp>
      <p:pic>
        <p:nvPicPr>
          <p:cNvPr id="3" name="Picture 2" descr="09_fun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Com IA dá para errar mais rápido, em escala, e com um gráfico bonito provando.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Fronteira Oeste: o agro já é usuário pesado de IA</a:t>
            </a:r>
          </a:p>
        </p:txBody>
      </p:sp>
      <p:pic>
        <p:nvPicPr>
          <p:cNvPr id="3" name="Picture 2" descr="10_a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pergunta do administrador: quem lê esse painel, e quem assina a decisão?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Comércio e serviços de Alegrete: o ganho está no básico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Atendimento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920240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Responder no WhatsApp fora do horário sem perder a venda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Divulgação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880360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Descrição de produto e anúncio em minutos, não em tardes inteiras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Estoque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840479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Prever a reposição e parar de deixar capital parado na prateleira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8538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00599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Inadimplência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4800599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Identificar quem tende a atrasar antes que o atraso aconteça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Nada disso exige um time de TI. Exige alguém que saiba o que perguntar.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Gestão pública e cooperativas: escala sem contratar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Cidadão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920240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Triagem e resposta de demanda repetitiva, com registro de tudo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Contratos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880360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Leitura de edital e de contrato longo em minutos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Transparência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840479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Transformar planilha pública em explicação que qualquer um lê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8538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00599"/>
            <a:ext cx="338328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1E1E"/>
                </a:solidFill>
                <a:latin typeface="Roboto"/>
              </a:rPr>
              <a:t>Controle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4800599"/>
            <a:ext cx="693389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Achar a inconsistência antes que o auditor ache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Aqui o dado é sensível e a regra é mais dura. A oportunidade continua a mesma.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4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Qual tarefa do seu trabalho ou do seu estágio você repete toda semana e detesta?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Guarde a resposta. Vamos voltar nela no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13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E1E1E"/>
                </a:solidFill>
                <a:latin typeface="Roboto"/>
              </a:rPr>
              <a:t>Não é a profissão que some.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E1E1E"/>
                </a:solidFill>
                <a:latin typeface="Roboto"/>
              </a:rPr>
              <a:t>É a tarefa que muda de mão.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944368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310128"/>
            <a:ext cx="10637215" cy="2450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Toda profissão é um pacote de tarefas, e boa parte delas é repetitiva.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A IA pega primeiro as tarefas textuais e repetitivas desse pacote.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Quem redesenha o próprio pacote segue no jogo. Quem espera ser redesenhado, não.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Funções administrativas concentram muita tarefa textual. É por ali que a IA entra primeiro.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 sua profissão é um pacote, e ele está sendo redividido</a:t>
            </a:r>
          </a:p>
        </p:txBody>
      </p:sp>
      <p:pic>
        <p:nvPicPr>
          <p:cNvPr id="3" name="Picture 2" descr="05_pac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Sua carreira vale o quanto você opera na segunda e na terceira faixa.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5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O que da sua futura profissão você tem certeza de que a IA nunca vai fazer?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Diga em voz alta. Eu vou discordar de algumas.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Três respostas que eu sempre ouço, e o que eu respondo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Ela não tem criatividade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Ela já gera mil variações por minuto. Escolher qual presta continua com você. Gerar deixou de ser o diferencial.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467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Ela não entende 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9" y="3200400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Ela simula acolhimento melhor do que muita gente cansada às 17h. Sentir continua humano. Parecer que sente, não.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32694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80559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Ela não tem responsabilidade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199" y="4480559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Essa é a resposta certa. E é exatamente aí que mora o seu valor profissional.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Não subestime a máquina. E não terceirize aquilo que só você pode assinar.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trabalho que sobra para você</a:t>
            </a:r>
          </a:p>
        </p:txBody>
      </p:sp>
      <p:pic>
        <p:nvPicPr>
          <p:cNvPr id="3" name="Picture 2" descr="06_cic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passa a valer mais no seu currículo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022602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perguntar: definir o problema antes de pedir 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88336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790698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verificar: checar fonte, número e premissa, sempre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56432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558794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o contexto: o que vale aqui e não vale em São Paulo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24527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326889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decidir com dado incompleto: a IA trava, você não pode travar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92623"/>
            <a:ext cx="105156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5094985"/>
            <a:ext cx="9494215" cy="57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Saber assinar: assumir a decisão e responder por ela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Nenhuma dessas é habilidade técnica. Todas são formação de administrador.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risco silencioso: terceirizar o pensamento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5067147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O que acontece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Usar sem ler é o novo copiar e colar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Quem não sabe fazer não sabe conferir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Se você só repassa o que a IA entrega, seu valor tende a zero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 resposta média vira o teto da equipe inteira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7307" y="1920240"/>
            <a:ext cx="5067147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7307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O que não pode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Dado de cliente em chatbot público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Folha de pagamento e contrato em chatbot público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Número publicado sem conferir a fonte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Entregar o que você não conseguiria defender sozinho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Use a IA para pensar mais, nunca para pensar menos.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Doze meses de IA escrevendo código em produção</a:t>
            </a:r>
          </a:p>
        </p:txBody>
      </p:sp>
      <p:pic>
        <p:nvPicPr>
          <p:cNvPr id="3" name="Picture 2" descr="11_juni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Quanto mais código a IA escreve, mais gente entrega o que não sabe conferir.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caso que virou notícia: Replit, julho de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O que aconteceu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79" y="1920240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O agente de IA apagou o banco de produção de um cliente, com mais de 2.400 registros.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9616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88336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O agravante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2688336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Havia congelamento de código e ordem expressa de não alterar nada sem permissão.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36426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456432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A mentira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56432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O agente disse que não dava para desfazer. Dava: o rollback funcionou.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32356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224527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O desfecho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4224527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O presidente da Replit reconheceu em público, e a empresa separou os bancos.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900452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92623"/>
            <a:ext cx="3657600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A6A00"/>
                </a:solidFill>
                <a:latin typeface="Roboto"/>
              </a:rPr>
              <a:t>Onde foi publicado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992623"/>
            <a:ext cx="6659575" cy="67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The Register, 21 de julho de 2025, e a cobertura correu o mundo.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 erro não foi comprar a ferramenta. Foi entregá-la a quem não sabia conferir.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13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E1E1E"/>
                </a:solidFill>
                <a:latin typeface="Roboto"/>
              </a:rPr>
              <a:t>A mudança do administrador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E1E1E"/>
                </a:solidFill>
                <a:latin typeface="Roboto"/>
              </a:rPr>
              <a:t>começa na mudança da universidade.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944368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310128"/>
            <a:ext cx="10637215" cy="24505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Ninguém se transforma sozinho. A pessoa chega pronta do curso que fez, ou não chega.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Se a universidade formar para a tarefa que a máquina já faz, entrega gente desatualizada no dia da formatura.</a:t>
            </a:r>
          </a:p>
          <a:p>
            <a:pPr algn="l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</a:pPr>
            <a:r>
              <a:rPr sz="2400" b="0">
                <a:solidFill>
                  <a:srgbClr val="1E1E1E"/>
                </a:solidFill>
                <a:latin typeface="Roboto"/>
              </a:rPr>
              <a:t>A transformação do mercado começa quatro anos antes, aqui dentro.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Isso não é previsão. Já aconteceu, e aconteceu na disciplina ao 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Algoritmos e Programação, primeiro semestre de Engenharia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3210458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3210458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Viabilidade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3210458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Kauã Lopes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Calcula payback e economia de painéis fotovoltaicos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ROI de 1392%</a:t>
            </a:r>
          </a:p>
        </p:txBody>
      </p:sp>
      <p:sp>
        <p:nvSpPr>
          <p:cNvPr id="6" name="Rectangle 5"/>
          <p:cNvSpPr/>
          <p:nvPr/>
        </p:nvSpPr>
        <p:spPr>
          <a:xfrm>
            <a:off x="4490618" y="1920240"/>
            <a:ext cx="3210458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90618" y="2121408"/>
            <a:ext cx="3210458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Simulador de motor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0618" y="2737811"/>
            <a:ext cx="3210458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Arthur Prates e Kauã Sander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Calibração automotiva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Ranger 3.2D a 259,6 cv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3996" y="1920240"/>
            <a:ext cx="3210458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3996" y="2121408"/>
            <a:ext cx="3210458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Análise de bombas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3996" y="2737811"/>
            <a:ext cx="3210458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Lorena Christello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Desempenho e custo de frota industrial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Entregaram em duas horas aplicações que teriam sido trabalho de conclusão há cinco anos.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mesmo entregável, cinco anos depois</a:t>
            </a:r>
          </a:p>
        </p:txBody>
      </p:sp>
      <p:pic>
        <p:nvPicPr>
          <p:cNvPr id="3" name="Picture 2" descr="12_t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384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Não foi o aluno que ficou genial. Foi o custo de produzir que despencou.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a disciplina precisou virar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O que saiu de cena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199" y="1920240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Decorar sintaxe, entregar código que compila, prova de papel e caneta.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467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O que entrou no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9" y="3200400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Especificar o problema, julgar o que a máquina devolveu, defender o resultado de viva-voz.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32694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480559"/>
            <a:ext cx="3931920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O que não mudou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199" y="4480559"/>
            <a:ext cx="6385255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Quem não entende o problema não sabe dizer se a resposta está certa.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Vale igual para Administração: a entrega ficou barata, o julgamento ficou caro.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novo papel da universidade, e o que a cidade ganha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420624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Deixa de 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19" y="1920240"/>
            <a:ext cx="611093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O lugar que guarda o conteúdo e distribui a resposta certa.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6514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420624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Passa a 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19" y="2880360"/>
            <a:ext cx="611093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O lugar que ensina a formular a pergunta, julgar a resposta e assumir a decisão.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2526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79"/>
            <a:ext cx="420624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A sociedade ganha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19" y="3840479"/>
            <a:ext cx="611093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Problema real da região resolvido por aluno de primeiro semestre, e não daqui a quatro anos.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685385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00599"/>
            <a:ext cx="420624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9A6A00"/>
                </a:solidFill>
                <a:latin typeface="Roboto"/>
              </a:rPr>
              <a:t>A sociedade perde se nada mudar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19" y="4800599"/>
            <a:ext cx="6110935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Forma-se gente qualificada para a tarefa que a máquina já faz por centavos.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Ou a universidade puxa a região, ou a região fica esperando.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PERGUNTA 6 PARA A PLATEIA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627632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37215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E1E1E"/>
                </a:solidFill>
                <a:latin typeface="Roboto"/>
              </a:rPr>
              <a:t>Se eu te devolvesse uma hora por dia, o que você faria com ela?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E6E6E"/>
                </a:solidFill>
                <a:latin typeface="Roboto"/>
              </a:rPr>
              <a:t>Essa é a única pergunta que realmente importa sobre produtividade.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Quatro hábitos para começar amanhã de manhã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5156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022602"/>
            <a:ext cx="9494215" cy="7663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Dê contexto: quem você é, para quem é, qual a restrição. Pedido vago, resposta vaga.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105156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982722"/>
            <a:ext cx="9494215" cy="7663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Peça três versões, nunca uma. A primeira quase nunca é a melhor.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79"/>
            <a:ext cx="105156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942841"/>
            <a:ext cx="9494215" cy="7663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Verifique tudo que tem número, nome próprio ou fonte. Sem exceção.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0599"/>
            <a:ext cx="1051560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0A100"/>
                </a:solidFill>
                <a:latin typeface="Roboto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902961"/>
            <a:ext cx="9494215" cy="7663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1E1E"/>
                </a:solidFill>
                <a:latin typeface="Roboto"/>
              </a:rPr>
              <a:t>Nunca entregue o que você não conseguiria defender sozinho na sala.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Quinze minutos por dia, durante trinta dias, mudam mais que um curso de quarenta horas.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O que treinar nos próximos doze meses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920240"/>
            <a:ext cx="5067147" cy="571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Se você é estudante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Use IA em toda disciplina e registre onde ela errou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Aprenda dado: planilha e estatística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Faça um projeto real, do início ao fim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Escreva mais. Quem escreve mal, pergunta mal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47307" y="1920240"/>
            <a:ext cx="5067147" cy="5715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7307" y="2121408"/>
            <a:ext cx="5067147" cy="378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E1E1E"/>
                </a:solidFill>
                <a:latin typeface="Roboto"/>
              </a:rPr>
              <a:t>Se você é docente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7" y="2737811"/>
            <a:ext cx="5067147" cy="302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Avalie processo e defesa oral, não só o produto entregue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Traga caso real da região para dentro da sala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Exija que o aluno mostre onde a IA errou</a:t>
            </a:r>
          </a:p>
          <a:p>
            <a:pPr algn="l">
              <a:lnSpc>
                <a:spcPct val="105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Roboto"/>
              </a:rPr>
              <a:t>Use IA para preparar, corrigir e devolver mais rápido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907024"/>
            <a:ext cx="10637215" cy="9525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01675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9A6A00"/>
                </a:solidFill>
                <a:latin typeface="Roboto"/>
              </a:rPr>
              <a:t>A tecnologia não vai esperar a região se preparar.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419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E6E"/>
                </a:solidFill>
                <a:latin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60120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E1E1E"/>
                </a:solidFill>
                <a:latin typeface="Roboto"/>
              </a:rPr>
              <a:t>A IA não substitui o administrador.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9A6A00"/>
                </a:solidFill>
                <a:latin typeface="Roboto"/>
              </a:rPr>
              <a:t>Substitui o administrador que não usa IA.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3429000"/>
            <a:ext cx="2743200" cy="44450"/>
          </a:xfrm>
          <a:prstGeom prst="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79476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E1E"/>
                </a:solidFill>
                <a:latin typeface="Roboto"/>
              </a:rPr>
              <a:t>Última pergunta: o que você vai testar até sexta-feira?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8348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E1E1E"/>
                </a:solidFill>
                <a:latin typeface="Roboto"/>
              </a:rPr>
              <a:t>Diego Kreutz  |  diegokreutz@unipampa.edu.br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Pesquisador e professor da UNIPAMPA, Campus Alegrete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Roboto"/>
              </a:rPr>
              <a:t>Obrigado ao Prof. Rafael Augusto Dill e ao Curso de Administração da URCAMP.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