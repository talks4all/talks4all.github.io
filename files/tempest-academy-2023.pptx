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</p:sldIdLst>
  <p:sldSz cy="5143500" cx="9144000"/>
  <p:notesSz cx="6858000" cy="9144000"/>
  <p:embeddedFontLst>
    <p:embeddedFont>
      <p:font typeface="Roboto"/>
      <p:regular r:id="rId153"/>
      <p:bold r:id="rId154"/>
      <p:italic r:id="rId155"/>
      <p:boldItalic r:id="rId156"/>
    </p:embeddedFont>
    <p:embeddedFont>
      <p:font typeface="Encode Sans"/>
      <p:regular r:id="rId157"/>
      <p:bold r:id="rId158"/>
    </p:embeddedFont>
    <p:embeddedFont>
      <p:font typeface="Oswald"/>
      <p:regular r:id="rId159"/>
      <p:bold r:id="rId160"/>
    </p:embeddedFont>
    <p:embeddedFont>
      <p:font typeface="Encode Sans Medium"/>
      <p:regular r:id="rId161"/>
      <p:bold r:id="rId1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3" roundtripDataSignature="AMtx7mimIWyMjEXsSQfGXlSFlNZ4JrnP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84D208-1C20-4E25-95DE-A7844D65D1D9}">
  <a:tblStyle styleId="{0884D208-1C20-4E25-95DE-A7844D65D1D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285F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285F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285F4"/>
          </a:solidFill>
        </a:fill>
      </a:tcStyle>
    </a:firstRow>
    <a:neCell>
      <a:tcTxStyle b="off" i="off"/>
    </a:neCell>
    <a:nwCell>
      <a:tcTxStyle b="off" i="off"/>
    </a:nwCell>
  </a:tblStyle>
  <a:tblStyle styleId="{86F2B583-A35F-4F6F-97DF-5F98447E528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F7FF4F9-E4D9-4A49-AADA-620B59364ACB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EAF1"/>
          </a:solidFill>
        </a:fill>
      </a:tcStyle>
    </a:wholeTbl>
    <a:band1H>
      <a:tcTxStyle b="off" i="off"/>
      <a:tcStyle>
        <a:fill>
          <a:solidFill>
            <a:srgbClr val="DDD1E2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DD1E2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9762AA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9762AA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9762AA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9762AA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163" Type="http://customschemas.google.com/relationships/presentationmetadata" Target="metadata"/><Relationship Id="rId162" Type="http://schemas.openxmlformats.org/officeDocument/2006/relationships/font" Target="fonts/EncodeSansMedium-bold.fntdata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font" Target="fonts/EncodeSansMedium-regular.fntdata"/><Relationship Id="rId54" Type="http://schemas.openxmlformats.org/officeDocument/2006/relationships/slide" Target="slides/slide48.xml"/><Relationship Id="rId160" Type="http://schemas.openxmlformats.org/officeDocument/2006/relationships/font" Target="fonts/Oswald-bold.fntdata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font" Target="fonts/Oswald-regular.fntdata"/><Relationship Id="rId59" Type="http://schemas.openxmlformats.org/officeDocument/2006/relationships/slide" Target="slides/slide53.xml"/><Relationship Id="rId154" Type="http://schemas.openxmlformats.org/officeDocument/2006/relationships/font" Target="fonts/Roboto-bold.fntdata"/><Relationship Id="rId58" Type="http://schemas.openxmlformats.org/officeDocument/2006/relationships/slide" Target="slides/slide52.xml"/><Relationship Id="rId153" Type="http://schemas.openxmlformats.org/officeDocument/2006/relationships/font" Target="fonts/Roboto-regular.fntdata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font" Target="fonts/EncodeSans-bold.fntdata"/><Relationship Id="rId157" Type="http://schemas.openxmlformats.org/officeDocument/2006/relationships/font" Target="fonts/EncodeSans-regular.fntdata"/><Relationship Id="rId156" Type="http://schemas.openxmlformats.org/officeDocument/2006/relationships/font" Target="fonts/Roboto-boldItalic.fntdata"/><Relationship Id="rId155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b859933c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1eb859933c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b859933cc_0_1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1eb859933cc_0_1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eb859933cc_0_2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1eb859933cc_0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eb859933cc_0_1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1eb859933cc_0_1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b859933cc_0_1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1eb859933cc_0_1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eb846a2d6f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1eb846a2d6f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eb859933cc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1eb859933cc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eb859933cc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1eb859933cc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eb859933cc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1eb859933cc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eb859933cc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1eb859933cc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eb846a2d6f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1eb846a2d6f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eb859933cc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1eb859933cc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eb859933cc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1eb859933cc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b859933cc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1eb859933cc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eb859933cc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1eb859933cc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eb859933cc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1eb859933cc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b859933cc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1eb859933cc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eb859933cc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1eb859933cc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eb859933cc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1eb859933cc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eb859933cc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1eb859933cc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eb859933cc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1eb859933cc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eb859933cc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1eb859933cc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eb859933cc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1eb859933cc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eb859933cc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1eb859933cc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eb859933cc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1eb859933cc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eb859933cc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1eb859933cc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eb859933cc_0_2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1eb859933cc_0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b859933cc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1eb859933cc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eb859933cc_0_2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1eb859933cc_0_2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eb846a2d6f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1eb846a2d6f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eb859933cc_0_2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1eb859933cc_0_2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eb859933c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1eb859933c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eb846a2d6f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1eb846a2d6f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eb859933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1eb859933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eb859933c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1eb859933c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eb859933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1eb859933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b859933cc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1eb859933cc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eb859933cc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1eb859933cc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eb859933cc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1eb859933cc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eb859933c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1eb859933c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eb859933c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1eb859933c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eb859933c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1eb859933c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eb859933cc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1eb859933cc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eb859933c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1eb859933c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eb859933c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1eb859933c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eb859933c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1eb859933c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eb859933c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1eb859933c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eb859933c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1eb859933c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eb859933cc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1eb859933cc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eb859933c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1eb859933c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eb859933c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1eb859933c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eb859933c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1eb859933c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eb859933c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g1eb859933c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eb859933c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1eb859933c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eb859933c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g1eb859933c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1eb859933cc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1eb859933cc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1eb859933cc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1eb859933cc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eb859933c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g1eb859933c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eb859933cc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1eb859933cc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eb859933cc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1eb859933cc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eb859933cc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g1eb859933cc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eb859933cc_0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1eb859933cc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eb859933cc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g1eb859933cc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1eb859933cc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g1eb859933c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b859933cc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g1eb859933cc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eb859933cc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g1eb859933cc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1eb859933cc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g1eb859933cc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eb859933cc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g1eb859933cc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eb859933cc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1eb859933cc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1eb859933cc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g1eb859933cc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eb859933cc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1eb859933cc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1eb859933cc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1eb859933cc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eb859933cc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g1eb859933cc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1eb859933cc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g1eb859933c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eb859933cc_0_1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g1eb859933cc_0_1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eb859933cc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g1eb859933cc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eb859933cc_0_1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g1eb859933cc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eb859933cc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g1eb859933cc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1eb859933cc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g1eb859933cc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1eb859933cc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g1eb859933cc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eb859933cc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g1eb859933cc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1eb859933cc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g1eb859933cc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eb846a2d6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8" name="Google Shape;988;g1eb846a2d6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1eb846a2d6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g1eb846a2d6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1eb859933cc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g1eb859933cc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1eb859933cc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" name="Google Shape;1033;g1eb859933cc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1eb859933cc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g1eb859933cc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1eb859933cc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g1eb859933cc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eb859933cc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g1eb859933cc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1eb859933cc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3" name="Google Shape;1093;g1eb859933cc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1eb859933cc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g1eb859933cc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eb859933cc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g1eb859933cc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1eb859933cc_0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9" name="Google Shape;1119;g1eb859933cc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eb859933c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9" name="Google Shape;1129;g1eb859933c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1eb859933cc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1" name="Google Shape;1141;g1eb859933cc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1eb859933cc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g1eb859933cc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eb859933cc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3" name="Google Shape;1163;g1eb859933cc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eb859933cc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0" name="Google Shape;1170;g1eb859933cc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1eb859933cc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g1eb859933cc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eb859933cc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9" name="Google Shape;1189;g1eb859933cc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1eb859933cc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9" name="Google Shape;1199;g1eb859933cc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1eb859933cc_0_1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8" name="Google Shape;1208;g1eb859933cc_0_1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1eb859933cc_0_1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g1eb859933cc_0_1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1eb859933cc_0_1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g1eb859933cc_0_1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1eb859933cc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g1eb859933cc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eb859933cc_0_1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6" name="Google Shape;1266;g1eb859933cc_0_1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1eb859933cc_0_1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6" name="Google Shape;1276;g1eb859933cc_0_1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1eb859933cc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5" name="Google Shape;1305;g1eb859933cc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1eb859933cc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4" name="Google Shape;1334;g1eb859933cc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1eb859933cc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g1eb859933cc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eb846a2d6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5" name="Google Shape;1355;g1eb846a2d6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1eb859933cc_0_1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4" name="Google Shape;1364;g1eb859933cc_0_1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1eb846a2d6f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3" name="Google Shape;1373;g1eb846a2d6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1eb846a2d6f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2" name="Google Shape;1382;g1eb846a2d6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1eb846a2d6f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0" name="Google Shape;1390;g1eb846a2d6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1eb846a2d6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8" name="Google Shape;1398;g1eb846a2d6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1eb859933cc_0_1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6" name="Google Shape;1406;g1eb859933cc_0_1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1eb846a2d6f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5" name="Google Shape;1415;g1eb846a2d6f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1eb859933cc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g1eb859933cc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1eb846a2d6f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5" name="Google Shape;1435;g1eb846a2d6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1eb846a2d6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6" name="Google Shape;1446;g1eb846a2d6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1eb859933cc_0_1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4" name="Google Shape;1454;g1eb859933cc_0_1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1eb859933cc_0_1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3" name="Google Shape;1483;g1eb859933cc_0_1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eb859933cc_0_1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1" name="Google Shape;1491;g1eb859933cc_0_1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1eb859933cc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9" name="Google Shape;1519;g1eb859933cc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1eb846a2d6f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1" name="Google Shape;1551;g1eb846a2d6f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1eb859933cc_0_1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1" name="Google Shape;1561;g1eb859933cc_0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eb846a2d6f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9" name="Google Shape;1589;g1eb846a2d6f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LIME  acrônimo para explicações independentes de modelo interpretável local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È uma técnica que aproxima qualquer modelo de aprendizado de máquina de caixa preta com um modelo interpretável para previsão individual 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1eb846a2d6f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8" name="Google Shape;1598;g1eb846a2d6f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42424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SHAP (SHapley Additive exPlanations) é uma abordagem teórica de jogos para explicar a saída de qualquer modelo de aprendizado de máquina.</a:t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1eb859933cc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0" name="Google Shape;1610;g1eb859933cc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42424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SHAP (SHapley Additive exPlanations) é uma abordagem teórica de jogos para explicar a saída de qualquer modelo de aprendizado de máquina.</a:t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1eb859933cc_0_1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2" name="Google Shape;1622;g1eb859933cc_0_1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42424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SHAP (SHapley Additive exPlanations) é uma abordagem teórica de jogos para explicar a saída de qualquer modelo de aprendizado de máquina.</a:t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eb859933cc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5" name="Google Shape;1635;g1eb859933cc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42424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SHAP (SHapley Additive exPlanations) é uma abordagem teórica de jogos para explicar a saída de qualquer modelo de aprendizado de máquina.</a:t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1eb859933cc_0_1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7" name="Google Shape;1647;g1eb859933cc_0_1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42424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SHAP (SHapley Additive exPlanations) é uma abordagem teórica de jogos para explicar a saída de qualquer modelo de aprendizado de máquina.</a:t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1eb859933cc_0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g1eb859933cc_0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42424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SHAP (SHapley Additive exPlanations) é uma abordagem teórica de jogos para explicar a saída de qualquer modelo de aprendizado de máquina.</a:t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1eb859933cc_0_1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g1eb859933cc_0_1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1eb859933cc_0_1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8" name="Google Shape;1698;g1eb859933cc_0_1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1eb859933cc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6" name="Google Shape;1706;g1eb859933cc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1eb859933cc_0_1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6" name="Google Shape;1716;g1eb859933cc_0_1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1eb859933cc_0_1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5" name="Google Shape;1725;g1eb859933cc_0_1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1eb859933cc_0_1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3" name="Google Shape;1733;g1eb859933cc_0_1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1eb859933cc_0_2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1" name="Google Shape;1741;g1eb859933cc_0_2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1eb859933cc_0_1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g1eb859933cc_0_1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1eb859933cc_0_2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g1eb859933cc_0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1eb859933cc_0_2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8" name="Google Shape;1768;g1eb859933cc_0_2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1eb859933cc_0_2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9" name="Google Shape;1779;g1eb859933cc_0_2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diegokreutz@unipampa.edu.br" TargetMode="Externa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.png"/><Relationship Id="rId13" Type="http://schemas.openxmlformats.org/officeDocument/2006/relationships/image" Target="../media/image9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5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jpg"/><Relationship Id="rId10" Type="http://schemas.openxmlformats.org/officeDocument/2006/relationships/image" Target="../media/image17.jpg"/><Relationship Id="rId13" Type="http://schemas.openxmlformats.org/officeDocument/2006/relationships/image" Target="../media/image19.jpg"/><Relationship Id="rId1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jpg"/><Relationship Id="rId9" Type="http://schemas.openxmlformats.org/officeDocument/2006/relationships/image" Target="../media/image23.jpg"/><Relationship Id="rId15" Type="http://schemas.openxmlformats.org/officeDocument/2006/relationships/image" Target="../media/image26.png"/><Relationship Id="rId14" Type="http://schemas.openxmlformats.org/officeDocument/2006/relationships/image" Target="../media/image25.jpg"/><Relationship Id="rId5" Type="http://schemas.openxmlformats.org/officeDocument/2006/relationships/image" Target="../media/image14.jpg"/><Relationship Id="rId6" Type="http://schemas.openxmlformats.org/officeDocument/2006/relationships/image" Target="../media/image13.jpg"/><Relationship Id="rId7" Type="http://schemas.openxmlformats.org/officeDocument/2006/relationships/image" Target="../media/image10.jpg"/><Relationship Id="rId8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41.png"/><Relationship Id="rId9" Type="http://schemas.openxmlformats.org/officeDocument/2006/relationships/image" Target="../media/image33.png"/><Relationship Id="rId5" Type="http://schemas.openxmlformats.org/officeDocument/2006/relationships/image" Target="../media/image37.png"/><Relationship Id="rId6" Type="http://schemas.openxmlformats.org/officeDocument/2006/relationships/image" Target="../media/image40.png"/><Relationship Id="rId7" Type="http://schemas.openxmlformats.org/officeDocument/2006/relationships/image" Target="../media/image35.png"/><Relationship Id="rId8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3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34.jpg"/><Relationship Id="rId5" Type="http://schemas.openxmlformats.org/officeDocument/2006/relationships/image" Target="../media/image36.png"/><Relationship Id="rId6" Type="http://schemas.openxmlformats.org/officeDocument/2006/relationships/image" Target="../media/image4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45.png"/><Relationship Id="rId5" Type="http://schemas.openxmlformats.org/officeDocument/2006/relationships/image" Target="../media/image3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Relationship Id="rId4" Type="http://schemas.openxmlformats.org/officeDocument/2006/relationships/image" Target="../media/image53.png"/><Relationship Id="rId5" Type="http://schemas.openxmlformats.org/officeDocument/2006/relationships/image" Target="../media/image43.png"/><Relationship Id="rId6" Type="http://schemas.openxmlformats.org/officeDocument/2006/relationships/image" Target="../media/image3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Relationship Id="rId4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Relationship Id="rId4" Type="http://schemas.openxmlformats.org/officeDocument/2006/relationships/image" Target="../media/image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Relationship Id="rId4" Type="http://schemas.openxmlformats.org/officeDocument/2006/relationships/image" Target="../media/image3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Relationship Id="rId4" Type="http://schemas.openxmlformats.org/officeDocument/2006/relationships/image" Target="../media/image39.jpg"/><Relationship Id="rId5" Type="http://schemas.openxmlformats.org/officeDocument/2006/relationships/image" Target="../media/image44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2.png"/><Relationship Id="rId4" Type="http://schemas.openxmlformats.org/officeDocument/2006/relationships/image" Target="../media/image46.png"/><Relationship Id="rId5" Type="http://schemas.openxmlformats.org/officeDocument/2006/relationships/image" Target="../media/image34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Relationship Id="rId4" Type="http://schemas.openxmlformats.org/officeDocument/2006/relationships/image" Target="../media/image46.png"/><Relationship Id="rId5" Type="http://schemas.openxmlformats.org/officeDocument/2006/relationships/image" Target="../media/image44.jpg"/><Relationship Id="rId6" Type="http://schemas.openxmlformats.org/officeDocument/2006/relationships/image" Target="../media/image3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Relationship Id="rId4" Type="http://schemas.openxmlformats.org/officeDocument/2006/relationships/image" Target="../media/image5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Relationship Id="rId4" Type="http://schemas.openxmlformats.org/officeDocument/2006/relationships/image" Target="../media/image39.jpg"/><Relationship Id="rId5" Type="http://schemas.openxmlformats.org/officeDocument/2006/relationships/image" Target="../media/image5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Relationship Id="rId4" Type="http://schemas.openxmlformats.org/officeDocument/2006/relationships/image" Target="../media/image47.png"/><Relationship Id="rId5" Type="http://schemas.openxmlformats.org/officeDocument/2006/relationships/image" Target="../media/image3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Relationship Id="rId4" Type="http://schemas.openxmlformats.org/officeDocument/2006/relationships/image" Target="../media/image4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png"/><Relationship Id="rId4" Type="http://schemas.openxmlformats.org/officeDocument/2006/relationships/image" Target="../media/image4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Relationship Id="rId4" Type="http://schemas.openxmlformats.org/officeDocument/2006/relationships/image" Target="../media/image4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34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2.png"/><Relationship Id="rId4" Type="http://schemas.openxmlformats.org/officeDocument/2006/relationships/image" Target="../media/image4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.png"/><Relationship Id="rId4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.png"/><Relationship Id="rId4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.png"/><Relationship Id="rId4" Type="http://schemas.openxmlformats.org/officeDocument/2006/relationships/image" Target="../media/image54.png"/><Relationship Id="rId5" Type="http://schemas.openxmlformats.org/officeDocument/2006/relationships/image" Target="../media/image34.jpg"/><Relationship Id="rId6" Type="http://schemas.openxmlformats.org/officeDocument/2006/relationships/image" Target="../media/image39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.png"/><Relationship Id="rId4" Type="http://schemas.openxmlformats.org/officeDocument/2006/relationships/image" Target="../media/image5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2.png"/><Relationship Id="rId4" Type="http://schemas.openxmlformats.org/officeDocument/2006/relationships/image" Target="../media/image5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2.png"/><Relationship Id="rId4" Type="http://schemas.openxmlformats.org/officeDocument/2006/relationships/image" Target="../media/image5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2.png"/><Relationship Id="rId4" Type="http://schemas.openxmlformats.org/officeDocument/2006/relationships/image" Target="../media/image5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2.png"/><Relationship Id="rId4" Type="http://schemas.openxmlformats.org/officeDocument/2006/relationships/image" Target="../media/image5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2.png"/><Relationship Id="rId4" Type="http://schemas.openxmlformats.org/officeDocument/2006/relationships/image" Target="../media/image5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2.png"/><Relationship Id="rId4" Type="http://schemas.openxmlformats.org/officeDocument/2006/relationships/image" Target="../media/image70.png"/><Relationship Id="rId5" Type="http://schemas.openxmlformats.org/officeDocument/2006/relationships/image" Target="../media/image57.png"/><Relationship Id="rId6" Type="http://schemas.openxmlformats.org/officeDocument/2006/relationships/image" Target="../media/image34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2.png"/><Relationship Id="rId4" Type="http://schemas.openxmlformats.org/officeDocument/2006/relationships/image" Target="../media/image5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2.png"/><Relationship Id="rId4" Type="http://schemas.openxmlformats.org/officeDocument/2006/relationships/image" Target="../media/image5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2.png"/><Relationship Id="rId4" Type="http://schemas.openxmlformats.org/officeDocument/2006/relationships/image" Target="../media/image60.png"/><Relationship Id="rId5" Type="http://schemas.openxmlformats.org/officeDocument/2006/relationships/image" Target="../media/image34.jpg"/><Relationship Id="rId6" Type="http://schemas.openxmlformats.org/officeDocument/2006/relationships/image" Target="../media/image39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2.png"/><Relationship Id="rId4" Type="http://schemas.openxmlformats.org/officeDocument/2006/relationships/image" Target="../media/image6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2.png"/><Relationship Id="rId4" Type="http://schemas.openxmlformats.org/officeDocument/2006/relationships/image" Target="../media/image6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2.png"/><Relationship Id="rId4" Type="http://schemas.openxmlformats.org/officeDocument/2006/relationships/image" Target="../media/image6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2.png"/><Relationship Id="rId4" Type="http://schemas.openxmlformats.org/officeDocument/2006/relationships/image" Target="../media/image6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2.png"/><Relationship Id="rId4" Type="http://schemas.openxmlformats.org/officeDocument/2006/relationships/image" Target="../media/image62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2.png"/><Relationship Id="rId4" Type="http://schemas.openxmlformats.org/officeDocument/2006/relationships/image" Target="../media/image63.png"/><Relationship Id="rId5" Type="http://schemas.openxmlformats.org/officeDocument/2006/relationships/image" Target="../media/image34.jpg"/><Relationship Id="rId6" Type="http://schemas.openxmlformats.org/officeDocument/2006/relationships/image" Target="../media/image39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2.png"/><Relationship Id="rId4" Type="http://schemas.openxmlformats.org/officeDocument/2006/relationships/image" Target="../media/image67.png"/><Relationship Id="rId5" Type="http://schemas.openxmlformats.org/officeDocument/2006/relationships/image" Target="../media/image65.png"/><Relationship Id="rId6" Type="http://schemas.openxmlformats.org/officeDocument/2006/relationships/image" Target="../media/image34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2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2.png"/><Relationship Id="rId4" Type="http://schemas.openxmlformats.org/officeDocument/2006/relationships/image" Target="../media/image37.png"/><Relationship Id="rId5" Type="http://schemas.openxmlformats.org/officeDocument/2006/relationships/image" Target="../media/image66.png"/><Relationship Id="rId6" Type="http://schemas.openxmlformats.org/officeDocument/2006/relationships/image" Target="../media/image40.png"/><Relationship Id="rId7" Type="http://schemas.openxmlformats.org/officeDocument/2006/relationships/image" Target="../media/image35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2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80.png"/><Relationship Id="rId7" Type="http://schemas.openxmlformats.org/officeDocument/2006/relationships/image" Target="../media/image34.jpg"/><Relationship Id="rId8" Type="http://schemas.openxmlformats.org/officeDocument/2006/relationships/image" Target="../media/image39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2.png"/><Relationship Id="rId4" Type="http://schemas.openxmlformats.org/officeDocument/2006/relationships/image" Target="../media/image80.png"/><Relationship Id="rId5" Type="http://schemas.openxmlformats.org/officeDocument/2006/relationships/image" Target="../media/image72.png"/><Relationship Id="rId6" Type="http://schemas.openxmlformats.org/officeDocument/2006/relationships/image" Target="../media/image34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2.png"/><Relationship Id="rId4" Type="http://schemas.openxmlformats.org/officeDocument/2006/relationships/image" Target="../media/image7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2.png"/><Relationship Id="rId4" Type="http://schemas.openxmlformats.org/officeDocument/2006/relationships/image" Target="../media/image7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2.png"/><Relationship Id="rId4" Type="http://schemas.openxmlformats.org/officeDocument/2006/relationships/image" Target="../media/image72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2.png"/><Relationship Id="rId4" Type="http://schemas.openxmlformats.org/officeDocument/2006/relationships/image" Target="../media/image80.png"/><Relationship Id="rId5" Type="http://schemas.openxmlformats.org/officeDocument/2006/relationships/image" Target="../media/image72.png"/><Relationship Id="rId6" Type="http://schemas.openxmlformats.org/officeDocument/2006/relationships/image" Target="../media/image34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22.png"/><Relationship Id="rId4" Type="http://schemas.openxmlformats.org/officeDocument/2006/relationships/image" Target="../media/image72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2.png"/><Relationship Id="rId4" Type="http://schemas.openxmlformats.org/officeDocument/2006/relationships/image" Target="../media/image7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2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22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2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2.png"/><Relationship Id="rId4" Type="http://schemas.openxmlformats.org/officeDocument/2006/relationships/image" Target="../media/image74.png"/><Relationship Id="rId5" Type="http://schemas.openxmlformats.org/officeDocument/2006/relationships/image" Target="../media/image34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22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22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2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2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22.png"/><Relationship Id="rId4" Type="http://schemas.openxmlformats.org/officeDocument/2006/relationships/image" Target="../media/image73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2.png"/><Relationship Id="rId4" Type="http://schemas.openxmlformats.org/officeDocument/2006/relationships/image" Target="../media/image73.png"/><Relationship Id="rId5" Type="http://schemas.openxmlformats.org/officeDocument/2006/relationships/image" Target="../media/image79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22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22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38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2.png"/><Relationship Id="rId4" Type="http://schemas.openxmlformats.org/officeDocument/2006/relationships/image" Target="../media/image34.jpg"/><Relationship Id="rId5" Type="http://schemas.openxmlformats.org/officeDocument/2006/relationships/image" Target="../media/image36.png"/><Relationship Id="rId6" Type="http://schemas.openxmlformats.org/officeDocument/2006/relationships/image" Target="../media/image44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2.png"/><Relationship Id="rId4" Type="http://schemas.openxmlformats.org/officeDocument/2006/relationships/image" Target="../media/image39.jp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22.png"/><Relationship Id="rId4" Type="http://schemas.openxmlformats.org/officeDocument/2006/relationships/image" Target="../media/image75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2.png"/><Relationship Id="rId4" Type="http://schemas.openxmlformats.org/officeDocument/2006/relationships/image" Target="../media/image77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2.png"/><Relationship Id="rId4" Type="http://schemas.openxmlformats.org/officeDocument/2006/relationships/image" Target="../media/image7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22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22.png"/><Relationship Id="rId4" Type="http://schemas.openxmlformats.org/officeDocument/2006/relationships/image" Target="../media/image76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2.png"/><Relationship Id="rId4" Type="http://schemas.openxmlformats.org/officeDocument/2006/relationships/image" Target="../media/image37.png"/><Relationship Id="rId5" Type="http://schemas.openxmlformats.org/officeDocument/2006/relationships/image" Target="../media/image66.png"/><Relationship Id="rId6" Type="http://schemas.openxmlformats.org/officeDocument/2006/relationships/image" Target="../media/image40.png"/><Relationship Id="rId7" Type="http://schemas.openxmlformats.org/officeDocument/2006/relationships/image" Target="../media/image35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22.png"/><Relationship Id="rId4" Type="http://schemas.openxmlformats.org/officeDocument/2006/relationships/image" Target="../media/image84.png"/><Relationship Id="rId5" Type="http://schemas.openxmlformats.org/officeDocument/2006/relationships/image" Target="../media/image83.png"/><Relationship Id="rId6" Type="http://schemas.openxmlformats.org/officeDocument/2006/relationships/image" Target="../media/image34.jp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22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22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38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22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22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35.png"/><Relationship Id="rId7" Type="http://schemas.openxmlformats.org/officeDocument/2006/relationships/image" Target="../media/image44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22.png"/><Relationship Id="rId4" Type="http://schemas.openxmlformats.org/officeDocument/2006/relationships/image" Target="../media/image91.png"/><Relationship Id="rId5" Type="http://schemas.openxmlformats.org/officeDocument/2006/relationships/image" Target="../media/image81.png"/><Relationship Id="rId6" Type="http://schemas.openxmlformats.org/officeDocument/2006/relationships/image" Target="../media/image39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22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22.png"/><Relationship Id="rId4" Type="http://schemas.openxmlformats.org/officeDocument/2006/relationships/image" Target="../media/image96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22.png"/><Relationship Id="rId4" Type="http://schemas.openxmlformats.org/officeDocument/2006/relationships/image" Target="../media/image87.png"/><Relationship Id="rId5" Type="http://schemas.openxmlformats.org/officeDocument/2006/relationships/image" Target="../media/image82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22.png"/><Relationship Id="rId4" Type="http://schemas.openxmlformats.org/officeDocument/2006/relationships/image" Target="../media/image86.png"/><Relationship Id="rId5" Type="http://schemas.openxmlformats.org/officeDocument/2006/relationships/image" Target="../media/image34.jpg"/><Relationship Id="rId6" Type="http://schemas.openxmlformats.org/officeDocument/2006/relationships/image" Target="../media/image93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22.png"/><Relationship Id="rId4" Type="http://schemas.openxmlformats.org/officeDocument/2006/relationships/image" Target="../media/image85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22.png"/><Relationship Id="rId4" Type="http://schemas.openxmlformats.org/officeDocument/2006/relationships/image" Target="../media/image88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22.png"/><Relationship Id="rId4" Type="http://schemas.openxmlformats.org/officeDocument/2006/relationships/image" Target="../media/image89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22.png"/><Relationship Id="rId4" Type="http://schemas.openxmlformats.org/officeDocument/2006/relationships/image" Target="../media/image89.png"/><Relationship Id="rId5" Type="http://schemas.openxmlformats.org/officeDocument/2006/relationships/image" Target="../media/image76.png"/><Relationship Id="rId6" Type="http://schemas.openxmlformats.org/officeDocument/2006/relationships/image" Target="../media/image93.png"/><Relationship Id="rId7" Type="http://schemas.openxmlformats.org/officeDocument/2006/relationships/image" Target="../media/image34.jp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22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38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22.png"/><Relationship Id="rId4" Type="http://schemas.openxmlformats.org/officeDocument/2006/relationships/image" Target="../media/image90.png"/><Relationship Id="rId5" Type="http://schemas.openxmlformats.org/officeDocument/2006/relationships/image" Target="../media/image34.jp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22.png"/><Relationship Id="rId4" Type="http://schemas.openxmlformats.org/officeDocument/2006/relationships/image" Target="../media/image95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22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22.png"/><Relationship Id="rId4" Type="http://schemas.openxmlformats.org/officeDocument/2006/relationships/image" Target="../media/image64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38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22.png"/><Relationship Id="rId4" Type="http://schemas.openxmlformats.org/officeDocument/2006/relationships/image" Target="../media/image92.jpg"/><Relationship Id="rId5" Type="http://schemas.openxmlformats.org/officeDocument/2006/relationships/image" Target="../media/image94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22.png"/><Relationship Id="rId4" Type="http://schemas.openxmlformats.org/officeDocument/2006/relationships/image" Target="../media/image92.jpg"/><Relationship Id="rId5" Type="http://schemas.openxmlformats.org/officeDocument/2006/relationships/image" Target="../media/image94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22.png"/><Relationship Id="rId4" Type="http://schemas.openxmlformats.org/officeDocument/2006/relationships/image" Target="../media/image92.jpg"/><Relationship Id="rId5" Type="http://schemas.openxmlformats.org/officeDocument/2006/relationships/image" Target="../media/image94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2.png"/><Relationship Id="rId4" Type="http://schemas.openxmlformats.org/officeDocument/2006/relationships/hyperlink" Target="mailto:diegokreutz@unipampa.edu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3718625" y="728975"/>
            <a:ext cx="4107900" cy="1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3936025" y="814875"/>
            <a:ext cx="48741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ML, AutoML, XAI e AML na Detecção de Malwares Android: desafios e lições</a:t>
            </a:r>
            <a:endParaRPr b="0" i="0" sz="36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936025" y="3096375"/>
            <a:ext cx="46488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rgbClr val="D8D8D8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Diego Kreutz</a:t>
            </a:r>
            <a:endParaRPr b="0" i="0" sz="2400" u="none" cap="none" strike="noStrike">
              <a:solidFill>
                <a:srgbClr val="D8D8D8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2400" u="sng" cap="none" strike="noStrike">
                <a:solidFill>
                  <a:schemeClr val="hlink"/>
                </a:solidFill>
                <a:latin typeface="Encode Sans Medium"/>
                <a:ea typeface="Encode Sans Medium"/>
                <a:cs typeface="Encode Sans Medium"/>
                <a:sym typeface="Encode Sans Medium"/>
                <a:hlinkClick r:id="rId4"/>
              </a:rPr>
              <a:t>diegokreutz@unipampa.edu.br</a:t>
            </a:r>
            <a:r>
              <a:rPr b="0" i="0" lang="pt-BR" sz="2400" u="none" cap="none" strike="noStrike">
                <a:solidFill>
                  <a:srgbClr val="D8D8D8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</a:t>
            </a:r>
            <a:endParaRPr b="0" i="0" sz="2400" u="none" cap="none" strike="noStrike">
              <a:solidFill>
                <a:srgbClr val="D8D8D8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046375" y="4598125"/>
            <a:ext cx="2858100" cy="5451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txBody>
          <a:bodyPr anchorCtr="0" anchor="ctr" bIns="121850" lIns="243800" spcFirstLastPara="1" rIns="243800" wrap="square" tIns="121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3932975" y="4622225"/>
            <a:ext cx="3261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243800" spcFirstLastPara="1" rIns="243800" wrap="square" tIns="1218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Autor da apresentação: Diego Kreutz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1"/>
          <p:cNvCxnSpPr/>
          <p:nvPr/>
        </p:nvCxnSpPr>
        <p:spPr>
          <a:xfrm>
            <a:off x="4058425" y="2912900"/>
            <a:ext cx="1378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eb859933cc_0_66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1eb859933cc_0_664"/>
          <p:cNvSpPr txBox="1"/>
          <p:nvPr/>
        </p:nvSpPr>
        <p:spPr>
          <a:xfrm>
            <a:off x="416775" y="319250"/>
            <a:ext cx="61020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Diego Kreutz (1)</a:t>
            </a:r>
            <a:endParaRPr b="0" i="1" sz="2700" u="none" cap="none" strike="noStrike">
              <a:solidFill>
                <a:srgbClr val="000000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66" name="Google Shape;66;g1eb859933cc_0_6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1078" y="14444"/>
            <a:ext cx="1907450" cy="83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1eb859933cc_0_6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200" y="1166150"/>
            <a:ext cx="1907450" cy="1904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1eb859933cc_0_6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5755" y="2509500"/>
            <a:ext cx="1258875" cy="12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1eb859933cc_0_6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70768" y="1652250"/>
            <a:ext cx="1470107" cy="119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1eb859933cc_0_6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15755" y="3828326"/>
            <a:ext cx="1235803" cy="12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1eb859933cc_0_6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26320" y="2949961"/>
            <a:ext cx="1235800" cy="124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1eb859933cc_0_6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52450" y="3105425"/>
            <a:ext cx="1907450" cy="191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1eb859933cc_0_6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00250" y="1025997"/>
            <a:ext cx="1235800" cy="1240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1eb859933cc_0_66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899" y="1399025"/>
            <a:ext cx="2462676" cy="16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1eb859933cc_0_66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04800" y="2990225"/>
            <a:ext cx="2006600" cy="20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eb859933cc_0_189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1eb859933cc_0_1899"/>
          <p:cNvSpPr txBox="1"/>
          <p:nvPr/>
        </p:nvSpPr>
        <p:spPr>
          <a:xfrm>
            <a:off x="416775" y="319250"/>
            <a:ext cx="61020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Diego Kreutz (2)</a:t>
            </a:r>
            <a:endParaRPr b="0" i="1" sz="2700" u="none" cap="none" strike="noStrike">
              <a:solidFill>
                <a:srgbClr val="000000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82" name="Google Shape;82;g1eb859933cc_0_1899"/>
          <p:cNvSpPr txBox="1"/>
          <p:nvPr/>
        </p:nvSpPr>
        <p:spPr>
          <a:xfrm>
            <a:off x="400175" y="1355475"/>
            <a:ext cx="8650200" cy="3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falar pouco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inovar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simplificar (KISS na área de crypto)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(ação)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objetividade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positividade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resolver problemas (focar em ideias e alternativas)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1eb859933cc_0_2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3400" y="2635355"/>
            <a:ext cx="2044099" cy="2466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1eb859933cc_0_2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0625" y="2221313"/>
            <a:ext cx="2553052" cy="15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1eb859933cc_0_21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1125" y="2138025"/>
            <a:ext cx="2833052" cy="2079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eb859933cc_0_212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1eb859933cc_0_21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66644" y="1031575"/>
            <a:ext cx="2508880" cy="14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1eb859933cc_0_21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475" y="1031575"/>
            <a:ext cx="2349100" cy="14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1eb859933cc_0_21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75" y="3551536"/>
            <a:ext cx="2773324" cy="1559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1eb859933cc_0_21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475" y="2126665"/>
            <a:ext cx="2773324" cy="156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1eb859933cc_0_21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77725" y="1050763"/>
            <a:ext cx="2644376" cy="148746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1eb859933cc_0_2125"/>
          <p:cNvSpPr txBox="1"/>
          <p:nvPr/>
        </p:nvSpPr>
        <p:spPr>
          <a:xfrm>
            <a:off x="416775" y="319250"/>
            <a:ext cx="61020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Diego Kreutz (3)</a:t>
            </a:r>
            <a:endParaRPr b="0" i="1" sz="2700" u="none" cap="none" strike="noStrike">
              <a:solidFill>
                <a:srgbClr val="000000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97" name="Google Shape;97;g1eb859933cc_0_21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13400" y="1050775"/>
            <a:ext cx="2313676" cy="16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1eb859933cc_0_21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48775" y="3554265"/>
            <a:ext cx="2773325" cy="1560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1eb859933cc_0_21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440825" y="49400"/>
            <a:ext cx="1333958" cy="100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1eb859933cc_0_21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46975" y="3675950"/>
            <a:ext cx="2524651" cy="14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b859933cc_0_191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eb859933cc_0_1917"/>
          <p:cNvSpPr txBox="1"/>
          <p:nvPr/>
        </p:nvSpPr>
        <p:spPr>
          <a:xfrm>
            <a:off x="416775" y="319250"/>
            <a:ext cx="61020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Diego Kreutz (4)</a:t>
            </a:r>
            <a:endParaRPr b="0" i="1" sz="2700" u="none" cap="none" strike="noStrike">
              <a:solidFill>
                <a:srgbClr val="000000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07" name="Google Shape;107;g1eb859933cc_0_19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0234" y="19900"/>
            <a:ext cx="56337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1eb859933cc_0_1917"/>
          <p:cNvSpPr txBox="1"/>
          <p:nvPr/>
        </p:nvSpPr>
        <p:spPr>
          <a:xfrm>
            <a:off x="400175" y="1355475"/>
            <a:ext cx="8650200" cy="3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Alegrete (07:00)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Uruguaiana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Porto Alegre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Paulo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Recife (02:00)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Viagem: 19h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b859933cc_0_192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1eb859933cc_0_1925"/>
          <p:cNvSpPr txBox="1"/>
          <p:nvPr/>
        </p:nvSpPr>
        <p:spPr>
          <a:xfrm>
            <a:off x="416775" y="319250"/>
            <a:ext cx="61020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Esta palestra</a:t>
            </a:r>
            <a:endParaRPr b="0" i="1" sz="2700" u="none" cap="none" strike="noStrike">
              <a:solidFill>
                <a:srgbClr val="000000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15" name="Google Shape;115;g1eb859933cc_0_1925"/>
          <p:cNvSpPr txBox="1"/>
          <p:nvPr/>
        </p:nvSpPr>
        <p:spPr>
          <a:xfrm>
            <a:off x="400175" y="1050675"/>
            <a:ext cx="8650200" cy="3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sobre pesquisas aplicadas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Trajetória, desafios, lições e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ferramentas / sistemas desenvolvidos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g1eb859933cc_0_19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1025" y="2847350"/>
            <a:ext cx="1546824" cy="1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1eb859933cc_0_19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100" y="3271700"/>
            <a:ext cx="2490102" cy="151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b846a2d6f_0_59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eb846a2d6f_0_590"/>
          <p:cNvSpPr txBox="1"/>
          <p:nvPr/>
        </p:nvSpPr>
        <p:spPr>
          <a:xfrm>
            <a:off x="4193750" y="962700"/>
            <a:ext cx="38196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Machine Learning</a:t>
            </a:r>
            <a:endParaRPr b="0" i="1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24" name="Google Shape;124;g1eb846a2d6f_0_590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O processo típico</a:t>
            </a:r>
            <a:endParaRPr b="0" i="0" sz="20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cxnSp>
        <p:nvCxnSpPr>
          <p:cNvPr id="125" name="Google Shape;125;g1eb846a2d6f_0_590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eb859933cc_0_46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1eb859933cc_0_467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Processo Típico de </a:t>
            </a:r>
            <a:r>
              <a:rPr b="0" i="1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Machine Learning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32" name="Google Shape;132;g1eb859933cc_0_4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013750"/>
            <a:ext cx="6825193" cy="40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1eb859933cc_0_4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993" y="3157075"/>
            <a:ext cx="1785407" cy="1792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eb859933cc_0_47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1eb859933cc_0_477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Processo Típico de </a:t>
            </a:r>
            <a:r>
              <a:rPr b="0" i="1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Machine Learning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40" name="Google Shape;140;g1eb859933cc_0_4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013750"/>
            <a:ext cx="6825193" cy="40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1eb859933cc_0_4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993" y="3157075"/>
            <a:ext cx="1785407" cy="179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1eb859933cc_0_477"/>
          <p:cNvSpPr/>
          <p:nvPr/>
        </p:nvSpPr>
        <p:spPr>
          <a:xfrm>
            <a:off x="2206775" y="1302300"/>
            <a:ext cx="1605600" cy="1105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1eb859933cc_0_477"/>
          <p:cNvSpPr/>
          <p:nvPr/>
        </p:nvSpPr>
        <p:spPr>
          <a:xfrm>
            <a:off x="4670325" y="1140575"/>
            <a:ext cx="2200800" cy="1486500"/>
          </a:xfrm>
          <a:prstGeom prst="wedgeRoundRectCallout">
            <a:avLst>
              <a:gd fmla="val -87011" name="adj1"/>
              <a:gd fmla="val -1202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Profundo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know-how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domínio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eb859933cc_0_48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eb859933cc_0_484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Processo Típico de </a:t>
            </a:r>
            <a:r>
              <a:rPr b="0" i="1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Machine Learning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50" name="Google Shape;150;g1eb859933cc_0_4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013750"/>
            <a:ext cx="6825193" cy="40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1eb859933cc_0_4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993" y="3157075"/>
            <a:ext cx="1785407" cy="179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1eb859933cc_0_484"/>
          <p:cNvSpPr/>
          <p:nvPr/>
        </p:nvSpPr>
        <p:spPr>
          <a:xfrm>
            <a:off x="4292350" y="3844050"/>
            <a:ext cx="1605600" cy="12483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1eb859933cc_0_484"/>
          <p:cNvSpPr/>
          <p:nvPr/>
        </p:nvSpPr>
        <p:spPr>
          <a:xfrm>
            <a:off x="464725" y="2277750"/>
            <a:ext cx="2979000" cy="2353500"/>
          </a:xfrm>
          <a:prstGeom prst="wedgeRoundRectCallout">
            <a:avLst>
              <a:gd fmla="val 77279" name="adj1"/>
              <a:gd fmla="val 3102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Conhecimento e habilidades técnicas necessárias para coletar, limpar, analisar e modelar os dados.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eb859933cc_0_49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1eb859933cc_0_495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Processo Típico de </a:t>
            </a:r>
            <a:r>
              <a:rPr b="0" i="1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Machine Learning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60" name="Google Shape;160;g1eb859933cc_0_4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013750"/>
            <a:ext cx="6825193" cy="40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1eb859933cc_0_4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993" y="3157075"/>
            <a:ext cx="1785407" cy="179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1eb859933cc_0_495"/>
          <p:cNvSpPr/>
          <p:nvPr/>
        </p:nvSpPr>
        <p:spPr>
          <a:xfrm>
            <a:off x="4151425" y="1013750"/>
            <a:ext cx="2902500" cy="27687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1eb859933cc_0_495"/>
          <p:cNvSpPr/>
          <p:nvPr/>
        </p:nvSpPr>
        <p:spPr>
          <a:xfrm>
            <a:off x="464725" y="2430150"/>
            <a:ext cx="2979000" cy="1677600"/>
          </a:xfrm>
          <a:prstGeom prst="wedgeRoundRectCallout">
            <a:avLst>
              <a:gd fmla="val 73094" name="adj1"/>
              <a:gd fmla="val -1225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 do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ML: demanda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conhecimento técnico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b846a2d6f_0_59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1eb846a2d6f_0_597"/>
          <p:cNvSpPr txBox="1"/>
          <p:nvPr/>
        </p:nvSpPr>
        <p:spPr>
          <a:xfrm>
            <a:off x="4193750" y="962700"/>
            <a:ext cx="38196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0" name="Google Shape;170;g1eb846a2d6f_0_597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cxnSp>
        <p:nvCxnSpPr>
          <p:cNvPr id="171" name="Google Shape;171;g1eb846a2d6f_0_597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1eb846a2d6f_0_597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Objetivos</a:t>
            </a:r>
            <a:endParaRPr b="0" i="0" sz="20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eb859933cc_0_71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1eb859933cc_0_714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objetivos (1)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79" name="Google Shape;179;g1eb859933cc_0_7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013750"/>
            <a:ext cx="6825193" cy="40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1eb859933cc_0_7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993" y="3309475"/>
            <a:ext cx="1785407" cy="179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1eb859933cc_0_714"/>
          <p:cNvSpPr/>
          <p:nvPr/>
        </p:nvSpPr>
        <p:spPr>
          <a:xfrm>
            <a:off x="4572000" y="1607600"/>
            <a:ext cx="2979000" cy="1677600"/>
          </a:xfrm>
          <a:prstGeom prst="wedgeRoundRectCallout">
            <a:avLst>
              <a:gd fmla="val -73385" name="adj1"/>
              <a:gd fmla="val -2107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Reduzir a dependência de especialistas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1eb859933cc_0_714"/>
          <p:cNvSpPr/>
          <p:nvPr/>
        </p:nvSpPr>
        <p:spPr>
          <a:xfrm>
            <a:off x="2206775" y="1302300"/>
            <a:ext cx="1605600" cy="1105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1eb859933cc_0_714"/>
          <p:cNvSpPr/>
          <p:nvPr/>
        </p:nvSpPr>
        <p:spPr>
          <a:xfrm>
            <a:off x="4292350" y="3844050"/>
            <a:ext cx="1605600" cy="12483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1eb859933cc_0_714"/>
          <p:cNvSpPr/>
          <p:nvPr/>
        </p:nvSpPr>
        <p:spPr>
          <a:xfrm>
            <a:off x="4572000" y="1607600"/>
            <a:ext cx="2979000" cy="1677600"/>
          </a:xfrm>
          <a:prstGeom prst="wedgeRoundRectCallout">
            <a:avLst>
              <a:gd fmla="val -27243" name="adj1"/>
              <a:gd fmla="val 8112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Reduzir a dependência de especialistas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eb859933cc_0_72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eb859933cc_0_727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objetivos (2)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91" name="Google Shape;191;g1eb859933cc_0_7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013750"/>
            <a:ext cx="6825193" cy="40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1eb859933cc_0_7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993" y="3157075"/>
            <a:ext cx="1785407" cy="179217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1eb859933cc_0_727"/>
          <p:cNvSpPr/>
          <p:nvPr/>
        </p:nvSpPr>
        <p:spPr>
          <a:xfrm>
            <a:off x="639150" y="2432450"/>
            <a:ext cx="2979000" cy="1677600"/>
          </a:xfrm>
          <a:prstGeom prst="wedgeRoundRectCallout">
            <a:avLst>
              <a:gd fmla="val 66573" name="adj1"/>
              <a:gd fmla="val -2002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Automatizar o pipeline (eliminar a intervenção humana)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1eb859933cc_0_727"/>
          <p:cNvSpPr/>
          <p:nvPr/>
        </p:nvSpPr>
        <p:spPr>
          <a:xfrm>
            <a:off x="4151425" y="1013750"/>
            <a:ext cx="2902500" cy="27687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eb859933cc_0_50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1eb859933cc_0_506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201" name="Google Shape;201;g1eb859933cc_0_5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75" y="3657700"/>
            <a:ext cx="1404401" cy="14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1eb859933cc_0_506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1eb859933cc_0_506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1eb859933cc_0_506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1eb859933cc_0_506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1eb859933cc_0_506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1eb859933cc_0_506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1eb859933cc_0_506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1eb859933cc_0_506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g1eb859933cc_0_506"/>
          <p:cNvCxnSpPr>
            <a:endCxn id="203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g1eb859933cc_0_506"/>
          <p:cNvCxnSpPr>
            <a:stCxn id="203" idx="3"/>
            <a:endCxn id="204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" name="Google Shape;212;g1eb859933cc_0_506"/>
          <p:cNvCxnSpPr>
            <a:stCxn id="204" idx="3"/>
            <a:endCxn id="205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g1eb859933cc_0_506"/>
          <p:cNvCxnSpPr>
            <a:stCxn id="206" idx="3"/>
            <a:endCxn id="207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g1eb859933cc_0_506"/>
          <p:cNvCxnSpPr>
            <a:stCxn id="207" idx="3"/>
            <a:endCxn id="208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g1eb859933cc_0_506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1eb859933cc_0_506"/>
          <p:cNvCxnSpPr>
            <a:stCxn id="208" idx="2"/>
            <a:endCxn id="209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" name="Google Shape;217;g1eb859933cc_0_506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1eb859933cc_0_506"/>
          <p:cNvSpPr/>
          <p:nvPr/>
        </p:nvSpPr>
        <p:spPr>
          <a:xfrm>
            <a:off x="1533075" y="1758975"/>
            <a:ext cx="7545000" cy="220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1eb859933cc_0_506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g1eb859933cc_0_506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1eb859933cc_0_5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9725" y="1565400"/>
            <a:ext cx="1941264" cy="14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1eb859933cc_0_59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1eb859933cc_0_598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(ferramentas)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228" name="Google Shape;228;g1eb859933cc_0_5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6951" y="1681632"/>
            <a:ext cx="1259575" cy="1281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1eb859933cc_0_5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57927" y="3450800"/>
            <a:ext cx="1162397" cy="125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1eb859933cc_0_5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2300" y="1419575"/>
            <a:ext cx="1673627" cy="14672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1eb859933cc_0_598"/>
          <p:cNvSpPr/>
          <p:nvPr/>
        </p:nvSpPr>
        <p:spPr>
          <a:xfrm>
            <a:off x="5689750" y="2225525"/>
            <a:ext cx="2979000" cy="1677600"/>
          </a:xfrm>
          <a:prstGeom prst="wedgeRoundRectCallout">
            <a:avLst>
              <a:gd fmla="val -67245" name="adj1"/>
              <a:gd fmla="val 12575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de ferramentas de propósito geral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g1eb859933cc_0_5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28325" y="3433736"/>
            <a:ext cx="1393375" cy="1377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1eb859933cc_0_5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325" y="3619376"/>
            <a:ext cx="1393375" cy="10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b859933cc_0_62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1eb859933cc_0_627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(???)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40" name="Google Shape;240;g1eb859933cc_0_627"/>
          <p:cNvSpPr/>
          <p:nvPr/>
        </p:nvSpPr>
        <p:spPr>
          <a:xfrm>
            <a:off x="4079175" y="1697425"/>
            <a:ext cx="3733200" cy="2649900"/>
          </a:xfrm>
          <a:prstGeom prst="wedgeRoundRectCallout">
            <a:avLst>
              <a:gd fmla="val -74709" name="adj1"/>
              <a:gd fmla="val 7140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otimizações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específicas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domínio?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soluções existentes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incorporam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g1eb859933cc_0_6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372" y="2931200"/>
            <a:ext cx="1875875" cy="15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1eb859933cc_0_6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1350" y="2357599"/>
            <a:ext cx="218122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1eb859933cc_0_64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1eb859933cc_0_648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49" name="Google Shape;249;g1eb859933cc_0_648"/>
          <p:cNvSpPr/>
          <p:nvPr/>
        </p:nvSpPr>
        <p:spPr>
          <a:xfrm>
            <a:off x="1219800" y="1650800"/>
            <a:ext cx="3733200" cy="3129900"/>
          </a:xfrm>
          <a:prstGeom prst="wedgeRoundRectCallout">
            <a:avLst>
              <a:gd fmla="val 76473" name="adj1"/>
              <a:gd fmla="val 1567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Investigar as etapas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AutoML para domínio específico.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Desenvolver um </a:t>
            </a:r>
            <a:r>
              <a:rPr b="1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AutoML especializado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o domínio.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eb859933cc_0_56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1eb859933cc_0_562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56" name="Google Shape;256;g1eb859933cc_0_562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1eb859933cc_0_562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1eb859933cc_0_562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1eb859933cc_0_562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1eb859933cc_0_562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1eb859933cc_0_562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1eb859933cc_0_562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1eb859933cc_0_562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g1eb859933cc_0_562"/>
          <p:cNvCxnSpPr>
            <a:endCxn id="257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" name="Google Shape;265;g1eb859933cc_0_562"/>
          <p:cNvCxnSpPr>
            <a:stCxn id="257" idx="3"/>
            <a:endCxn id="258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" name="Google Shape;266;g1eb859933cc_0_562"/>
          <p:cNvCxnSpPr>
            <a:stCxn id="258" idx="3"/>
            <a:endCxn id="259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" name="Google Shape;267;g1eb859933cc_0_562"/>
          <p:cNvCxnSpPr>
            <a:stCxn id="260" idx="3"/>
            <a:endCxn id="261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g1eb859933cc_0_562"/>
          <p:cNvCxnSpPr>
            <a:stCxn id="261" idx="3"/>
            <a:endCxn id="262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g1eb859933cc_0_562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g1eb859933cc_0_562"/>
          <p:cNvCxnSpPr>
            <a:stCxn id="262" idx="2"/>
            <a:endCxn id="263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" name="Google Shape;271;g1eb859933cc_0_562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1eb859933cc_0_562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1eb859933cc_0_562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g1eb859933cc_0_562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" name="Google Shape;275;g1eb859933cc_0_562"/>
          <p:cNvSpPr/>
          <p:nvPr/>
        </p:nvSpPr>
        <p:spPr>
          <a:xfrm>
            <a:off x="145200" y="4097175"/>
            <a:ext cx="6886500" cy="975600"/>
          </a:xfrm>
          <a:prstGeom prst="wedgeRoundRectCallout">
            <a:avLst>
              <a:gd fmla="val 19586" name="adj1"/>
              <a:gd fmla="val -6431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1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investigar as particularidades de cada etapa no domínio de detecção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malwares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Android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eb859933cc_0_79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1eb859933cc_0_796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82" name="Google Shape;282;g1eb859933cc_0_796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1eb859933cc_0_796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1eb859933cc_0_796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1eb859933cc_0_796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1eb859933cc_0_796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1eb859933cc_0_796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1eb859933cc_0_796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1eb859933cc_0_796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g1eb859933cc_0_796"/>
          <p:cNvCxnSpPr>
            <a:endCxn id="283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g1eb859933cc_0_796"/>
          <p:cNvCxnSpPr>
            <a:stCxn id="283" idx="3"/>
            <a:endCxn id="284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g1eb859933cc_0_796"/>
          <p:cNvCxnSpPr>
            <a:stCxn id="284" idx="3"/>
            <a:endCxn id="285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g1eb859933cc_0_796"/>
          <p:cNvCxnSpPr>
            <a:stCxn id="286" idx="3"/>
            <a:endCxn id="287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" name="Google Shape;294;g1eb859933cc_0_796"/>
          <p:cNvCxnSpPr>
            <a:stCxn id="287" idx="3"/>
            <a:endCxn id="288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" name="Google Shape;295;g1eb859933cc_0_796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g1eb859933cc_0_796"/>
          <p:cNvCxnSpPr>
            <a:stCxn id="288" idx="2"/>
            <a:endCxn id="289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7" name="Google Shape;297;g1eb859933cc_0_796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1eb859933cc_0_796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1eb859933cc_0_796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g1eb859933cc_0_796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1" name="Google Shape;301;g1eb859933cc_0_796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1eb859933cc_0_796"/>
          <p:cNvSpPr/>
          <p:nvPr/>
        </p:nvSpPr>
        <p:spPr>
          <a:xfrm>
            <a:off x="69000" y="4021100"/>
            <a:ext cx="5539500" cy="975600"/>
          </a:xfrm>
          <a:prstGeom prst="wedgeRoundRectCallout">
            <a:avLst>
              <a:gd fmla="val 16045" name="adj1"/>
              <a:gd fmla="val -287034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2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visualizar e compreender o que está acontecendo em cada etapa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eb859933cc_0_76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1eb859933cc_0_769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309" name="Google Shape;309;g1eb859933cc_0_769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1eb859933cc_0_769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1eb859933cc_0_769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1eb859933cc_0_769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1eb859933cc_0_769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1eb859933cc_0_769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1eb859933cc_0_769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1eb859933cc_0_769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g1eb859933cc_0_769"/>
          <p:cNvCxnSpPr>
            <a:endCxn id="310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g1eb859933cc_0_769"/>
          <p:cNvCxnSpPr>
            <a:stCxn id="310" idx="3"/>
            <a:endCxn id="311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g1eb859933cc_0_769"/>
          <p:cNvCxnSpPr>
            <a:stCxn id="311" idx="3"/>
            <a:endCxn id="312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g1eb859933cc_0_769"/>
          <p:cNvCxnSpPr>
            <a:stCxn id="313" idx="3"/>
            <a:endCxn id="314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g1eb859933cc_0_769"/>
          <p:cNvCxnSpPr>
            <a:stCxn id="314" idx="3"/>
            <a:endCxn id="315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2" name="Google Shape;322;g1eb859933cc_0_769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g1eb859933cc_0_769"/>
          <p:cNvCxnSpPr>
            <a:stCxn id="315" idx="2"/>
            <a:endCxn id="316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4" name="Google Shape;324;g1eb859933cc_0_769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1eb859933cc_0_769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1eb859933cc_0_769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g1eb859933cc_0_769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" name="Google Shape;328;g1eb859933cc_0_769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1eb859933cc_0_769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1eb859933cc_0_769"/>
          <p:cNvSpPr/>
          <p:nvPr/>
        </p:nvSpPr>
        <p:spPr>
          <a:xfrm>
            <a:off x="39375" y="2723425"/>
            <a:ext cx="4727400" cy="846600"/>
          </a:xfrm>
          <a:prstGeom prst="wedgeRoundRectCallout">
            <a:avLst>
              <a:gd fmla="val 20513" name="adj1"/>
              <a:gd fmla="val 100732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3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adicionar recursos para interpretar dados de etapas cruciais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eb859933cc_0_82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1eb859933cc_0_82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337" name="Google Shape;337;g1eb859933cc_0_823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1eb859933cc_0_823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1eb859933cc_0_823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1eb859933cc_0_823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1eb859933cc_0_823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1eb859933cc_0_823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1eb859933cc_0_823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1eb859933cc_0_823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g1eb859933cc_0_823"/>
          <p:cNvCxnSpPr>
            <a:endCxn id="338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6" name="Google Shape;346;g1eb859933cc_0_823"/>
          <p:cNvCxnSpPr>
            <a:stCxn id="338" idx="3"/>
            <a:endCxn id="339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g1eb859933cc_0_823"/>
          <p:cNvCxnSpPr>
            <a:stCxn id="339" idx="3"/>
            <a:endCxn id="340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8" name="Google Shape;348;g1eb859933cc_0_823"/>
          <p:cNvCxnSpPr>
            <a:stCxn id="341" idx="3"/>
            <a:endCxn id="342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9" name="Google Shape;349;g1eb859933cc_0_823"/>
          <p:cNvCxnSpPr>
            <a:stCxn id="342" idx="3"/>
            <a:endCxn id="343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0" name="Google Shape;350;g1eb859933cc_0_823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g1eb859933cc_0_823"/>
          <p:cNvCxnSpPr>
            <a:stCxn id="343" idx="2"/>
            <a:endCxn id="344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2" name="Google Shape;352;g1eb859933cc_0_823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1eb859933cc_0_823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1eb859933cc_0_823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g1eb859933cc_0_823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" name="Google Shape;356;g1eb859933cc_0_823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1eb859933cc_0_823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eb859933cc_0_85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1eb859933cc_0_850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níveis de automação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364" name="Google Shape;364;g1eb859933cc_0_8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1793" y="3080875"/>
            <a:ext cx="1785407" cy="179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1eb859933cc_0_8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5" y="941425"/>
            <a:ext cx="5702999" cy="42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1eb859933cc_0_850"/>
          <p:cNvSpPr/>
          <p:nvPr/>
        </p:nvSpPr>
        <p:spPr>
          <a:xfrm>
            <a:off x="43525" y="4157175"/>
            <a:ext cx="5632500" cy="5073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1eb859933cc_0_850"/>
          <p:cNvSpPr/>
          <p:nvPr/>
        </p:nvSpPr>
        <p:spPr>
          <a:xfrm>
            <a:off x="3967850" y="2800350"/>
            <a:ext cx="2979000" cy="1073700"/>
          </a:xfrm>
          <a:prstGeom prst="wedgeRoundRectCallout">
            <a:avLst>
              <a:gd fmla="val -7795" name="adj1"/>
              <a:gd fmla="val 75130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 Típico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eb859933cc_0_88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1eb859933cc_0_880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níveis de automação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374" name="Google Shape;374;g1eb859933cc_0_8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1793" y="3080875"/>
            <a:ext cx="1785407" cy="179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1eb859933cc_0_8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5" y="941425"/>
            <a:ext cx="5702999" cy="42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1eb859933cc_0_880"/>
          <p:cNvSpPr/>
          <p:nvPr/>
        </p:nvSpPr>
        <p:spPr>
          <a:xfrm>
            <a:off x="4235600" y="1721400"/>
            <a:ext cx="2779200" cy="2818200"/>
          </a:xfrm>
          <a:prstGeom prst="wedgeRoundRectCallout">
            <a:avLst>
              <a:gd fmla="val -65506" name="adj1"/>
              <a:gd fmla="val 27250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e ATV (exploração, teste e validação de modelos alternativos) automatizados separadamente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1eb859933cc_0_880"/>
          <p:cNvSpPr/>
          <p:nvPr/>
        </p:nvSpPr>
        <p:spPr>
          <a:xfrm>
            <a:off x="43525" y="3624750"/>
            <a:ext cx="3730200" cy="4338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eb859933cc_0_89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1eb859933cc_0_89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níveis de automação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384" name="Google Shape;384;g1eb859933cc_0_8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1793" y="3080875"/>
            <a:ext cx="1785407" cy="179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1eb859933cc_0_8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5" y="941425"/>
            <a:ext cx="5702999" cy="42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1eb859933cc_0_893"/>
          <p:cNvSpPr/>
          <p:nvPr/>
        </p:nvSpPr>
        <p:spPr>
          <a:xfrm>
            <a:off x="4235600" y="2547575"/>
            <a:ext cx="2779200" cy="1254300"/>
          </a:xfrm>
          <a:prstGeom prst="wedgeRoundRectCallout">
            <a:avLst>
              <a:gd fmla="val -63579" name="adj1"/>
              <a:gd fmla="val 692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e ATV automatizados em conjunto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1eb859933cc_0_893"/>
          <p:cNvSpPr/>
          <p:nvPr/>
        </p:nvSpPr>
        <p:spPr>
          <a:xfrm>
            <a:off x="43525" y="3015150"/>
            <a:ext cx="3814800" cy="522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eb859933cc_0_90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1eb859933cc_0_906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níveis de automação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394" name="Google Shape;394;g1eb859933cc_0_9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1793" y="3080875"/>
            <a:ext cx="1785407" cy="179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1eb859933cc_0_9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5" y="941425"/>
            <a:ext cx="5702999" cy="42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1eb859933cc_0_906"/>
          <p:cNvSpPr/>
          <p:nvPr/>
        </p:nvSpPr>
        <p:spPr>
          <a:xfrm>
            <a:off x="4168225" y="2123750"/>
            <a:ext cx="2846700" cy="2892300"/>
          </a:xfrm>
          <a:prstGeom prst="wedgeRoundRectCallout">
            <a:avLst>
              <a:gd fmla="val -49009" name="adj1"/>
              <a:gd fmla="val -5987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Formulação de Tarefa (FT), Engenharia de Predição (PE), Recomendação de Sumário e Resultados (RSR)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1eb859933cc_0_906"/>
          <p:cNvSpPr/>
          <p:nvPr/>
        </p:nvSpPr>
        <p:spPr>
          <a:xfrm>
            <a:off x="43525" y="1338750"/>
            <a:ext cx="4124700" cy="571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eb859933cc_0_91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1eb859933cc_0_919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níveis de automação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404" name="Google Shape;404;g1eb859933cc_0_9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1793" y="3080875"/>
            <a:ext cx="1785407" cy="179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1eb859933cc_0_9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5" y="941425"/>
            <a:ext cx="5702999" cy="42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1eb859933cc_0_919"/>
          <p:cNvSpPr/>
          <p:nvPr/>
        </p:nvSpPr>
        <p:spPr>
          <a:xfrm>
            <a:off x="4576900" y="1855250"/>
            <a:ext cx="2431800" cy="2526300"/>
          </a:xfrm>
          <a:prstGeom prst="wedgeRoundRectCallout">
            <a:avLst>
              <a:gd fmla="val -64322" name="adj1"/>
              <a:gd fmla="val -1734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investigar, desenvolver e aplicar AutoML em domínio específico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1eb859933cc_0_919"/>
          <p:cNvSpPr/>
          <p:nvPr/>
        </p:nvSpPr>
        <p:spPr>
          <a:xfrm>
            <a:off x="43525" y="1338750"/>
            <a:ext cx="4124700" cy="22491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eb859933cc_0_214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1eb859933cc_0_2142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AutoML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Estágios do Pipeline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414" name="Google Shape;414;g1eb859933cc_0_2142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De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Aquisição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até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Otimização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de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Hiperparâmetros</a:t>
            </a:r>
            <a:endParaRPr b="1" i="0" sz="2000" u="none" cap="none" strike="noStrike">
              <a:solidFill>
                <a:schemeClr val="dk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cxnSp>
        <p:nvCxnSpPr>
          <p:cNvPr id="415" name="Google Shape;415;g1eb859933cc_0_2142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eb859933cc_0_93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1eb859933cc_0_932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422" name="Google Shape;422;g1eb859933cc_0_932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1eb859933cc_0_932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1eb859933cc_0_932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1eb859933cc_0_932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1eb859933cc_0_932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1eb859933cc_0_932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1eb859933cc_0_932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1eb859933cc_0_932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g1eb859933cc_0_932"/>
          <p:cNvCxnSpPr>
            <a:endCxn id="423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1" name="Google Shape;431;g1eb859933cc_0_932"/>
          <p:cNvCxnSpPr>
            <a:stCxn id="423" idx="3"/>
            <a:endCxn id="424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g1eb859933cc_0_932"/>
          <p:cNvCxnSpPr>
            <a:stCxn id="424" idx="3"/>
            <a:endCxn id="425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g1eb859933cc_0_932"/>
          <p:cNvCxnSpPr>
            <a:stCxn id="426" idx="3"/>
            <a:endCxn id="427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4" name="Google Shape;434;g1eb859933cc_0_932"/>
          <p:cNvCxnSpPr>
            <a:stCxn id="427" idx="3"/>
            <a:endCxn id="428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5" name="Google Shape;435;g1eb859933cc_0_932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g1eb859933cc_0_932"/>
          <p:cNvCxnSpPr>
            <a:stCxn id="428" idx="2"/>
            <a:endCxn id="429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7" name="Google Shape;437;g1eb859933cc_0_932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1eb859933cc_0_932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1eb859933cc_0_932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g1eb859933cc_0_932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1" name="Google Shape;441;g1eb859933cc_0_932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1eb859933cc_0_932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1eb859933cc_0_932"/>
          <p:cNvSpPr/>
          <p:nvPr/>
        </p:nvSpPr>
        <p:spPr>
          <a:xfrm>
            <a:off x="91000" y="4117700"/>
            <a:ext cx="4115100" cy="975600"/>
          </a:xfrm>
          <a:prstGeom prst="wedgeRoundRectCallout">
            <a:avLst>
              <a:gd fmla="val -22688" name="adj1"/>
              <a:gd fmla="val -18785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: dados em quantidade e qualidade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1eb859933cc_0_932"/>
          <p:cNvSpPr/>
          <p:nvPr/>
        </p:nvSpPr>
        <p:spPr>
          <a:xfrm>
            <a:off x="43525" y="1758900"/>
            <a:ext cx="2826900" cy="9756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eb859933cc_0_214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1eb859933cc_0_2149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 importância dos dados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451" name="Google Shape;451;g1eb859933cc_0_2149"/>
          <p:cNvSpPr txBox="1"/>
          <p:nvPr/>
        </p:nvSpPr>
        <p:spPr>
          <a:xfrm>
            <a:off x="2029225" y="176147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2" name="Google Shape;452;g1eb859933cc_0_2149"/>
          <p:cNvSpPr/>
          <p:nvPr/>
        </p:nvSpPr>
        <p:spPr>
          <a:xfrm>
            <a:off x="196975" y="1547075"/>
            <a:ext cx="6809400" cy="846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pt-BR" sz="3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Top 10 Reasons Why AI Projects Fail</a:t>
            </a:r>
            <a:endParaRPr b="0" i="0" sz="34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53" name="Google Shape;453;g1eb859933cc_0_2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2030" y="3628125"/>
            <a:ext cx="628220" cy="7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1eb859933cc_0_2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9075" y="3034225"/>
            <a:ext cx="1692150" cy="17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1eb859933cc_0_2149"/>
          <p:cNvSpPr/>
          <p:nvPr/>
        </p:nvSpPr>
        <p:spPr>
          <a:xfrm>
            <a:off x="196975" y="2698475"/>
            <a:ext cx="5006100" cy="229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Applying application development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approaches to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data-centric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Lack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sufficient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of data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Lack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sufficient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of data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Misalignment of real world data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1eb859933cc_0_2149"/>
          <p:cNvSpPr/>
          <p:nvPr/>
        </p:nvSpPr>
        <p:spPr>
          <a:xfrm>
            <a:off x="7294000" y="1561675"/>
            <a:ext cx="1692300" cy="1372200"/>
          </a:xfrm>
          <a:prstGeom prst="wedgeRoundRectCallout">
            <a:avLst>
              <a:gd fmla="val 14118" name="adj1"/>
              <a:gd fmla="val 98909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85% dos projetos de ML falham</a:t>
            </a:r>
            <a:endParaRPr b="0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g1eb859933cc_0_21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0049" y="3689866"/>
            <a:ext cx="1126950" cy="875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eb846a2d6f_0_58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1eb846a2d6f_0_583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Datasets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Disponibilidade e Reprodutibilidade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464" name="Google Shape;464;g1eb846a2d6f_0_583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Descobertas e desafios</a:t>
            </a:r>
            <a:endParaRPr b="0" i="0" sz="20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cxnSp>
        <p:nvCxnSpPr>
          <p:cNvPr id="465" name="Google Shape;465;g1eb846a2d6f_0_583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eb859933cc_0_205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1eb859933cc_0_205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trabalhos selecionados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472" name="Google Shape;472;g1eb859933cc_0_2053"/>
          <p:cNvSpPr/>
          <p:nvPr/>
        </p:nvSpPr>
        <p:spPr>
          <a:xfrm>
            <a:off x="396875" y="1465875"/>
            <a:ext cx="3283800" cy="943800"/>
          </a:xfrm>
          <a:prstGeom prst="wedgeRoundRectCallout">
            <a:avLst>
              <a:gd fmla="val -22388" name="adj1"/>
              <a:gd fmla="val 80639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 trabalhos divididos em 4 grupos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1eb859933cc_0_2053"/>
          <p:cNvSpPr txBox="1"/>
          <p:nvPr/>
        </p:nvSpPr>
        <p:spPr>
          <a:xfrm>
            <a:off x="171575" y="2498475"/>
            <a:ext cx="8650200" cy="28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1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citados por algum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survey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revisão sistemática;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2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 40 (ou mais) citações segundo o Google Scholar;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3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publicados nos principais periódicos ou conferências da área de segurança (segundo 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Guide2Research.com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4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publicados em conferências/journals específicas da área de inteligência artificial</a:t>
            </a:r>
            <a:endParaRPr b="0" i="0" sz="22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4" name="Google Shape;474;g1eb859933cc_0_20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3266" y="1340076"/>
            <a:ext cx="1227110" cy="123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1eb859933cc_0_20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4580" y="1710675"/>
            <a:ext cx="628220" cy="7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eb859933cc_0_5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1eb859933cc_0_51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trabalhos selecionados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482" name="Google Shape;482;g1eb859933cc_0_51"/>
          <p:cNvSpPr/>
          <p:nvPr/>
        </p:nvSpPr>
        <p:spPr>
          <a:xfrm>
            <a:off x="117650" y="1423075"/>
            <a:ext cx="8424900" cy="2708400"/>
          </a:xfrm>
          <a:prstGeom prst="wedgeRoundRectCallout">
            <a:avLst>
              <a:gd fmla="val 52006" name="adj1"/>
              <a:gd fmla="val 40852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as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fontes de dados utilizadas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construção do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 de dados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serviu como origem para os dados, é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acessível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Se sim, de qual forma?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específicas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quantidade, nomes, versões) sobre as aplicações Android que compõem 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mencionadas no trabalho?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g1eb859933cc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7350" y="3880200"/>
            <a:ext cx="1529600" cy="12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eb846a2d6f_0_70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1eb846a2d6f_0_700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disponibilidade &amp; atualização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490" name="Google Shape;490;g1eb846a2d6f_0_7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90406"/>
            <a:ext cx="7652775" cy="3778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1eb846a2d6f_0_7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1150" y="2395175"/>
            <a:ext cx="1396475" cy="140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1eb846a2d6f_0_7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7975" y="2908600"/>
            <a:ext cx="549825" cy="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eb859933cc_0_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1eb859933cc_0_1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disponibilidade &amp; atualização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499" name="Google Shape;499;g1eb859933cc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90406"/>
            <a:ext cx="7652775" cy="3778093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1eb859933cc_0_1"/>
          <p:cNvSpPr/>
          <p:nvPr/>
        </p:nvSpPr>
        <p:spPr>
          <a:xfrm>
            <a:off x="6825850" y="1736375"/>
            <a:ext cx="1935900" cy="1238100"/>
          </a:xfrm>
          <a:prstGeom prst="wedgeRoundRectCallout">
            <a:avLst>
              <a:gd fmla="val -54502" name="adj1"/>
              <a:gd fmla="val 6539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84 fontes de dados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1eb859933cc_0_1"/>
          <p:cNvSpPr/>
          <p:nvPr/>
        </p:nvSpPr>
        <p:spPr>
          <a:xfrm>
            <a:off x="101450" y="1671275"/>
            <a:ext cx="6594900" cy="34161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b859933cc_0_2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1eb859933cc_0_28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disponibilidade &amp; atualização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508" name="Google Shape;508;g1eb859933cc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90406"/>
            <a:ext cx="7652775" cy="377809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1eb859933cc_0_28"/>
          <p:cNvSpPr/>
          <p:nvPr/>
        </p:nvSpPr>
        <p:spPr>
          <a:xfrm>
            <a:off x="5743925" y="1390400"/>
            <a:ext cx="3170400" cy="1584000"/>
          </a:xfrm>
          <a:prstGeom prst="wedgeRoundRectCallout">
            <a:avLst>
              <a:gd fmla="val 9116" name="adj1"/>
              <a:gd fmla="val 7359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Mais de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40%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possui </a:t>
            </a:r>
            <a:r>
              <a:rPr b="1" i="0" lang="pt-BR" sz="2200" u="none" cap="none" strike="noStrike">
                <a:solidFill>
                  <a:srgbClr val="FF0000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acesso restrito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ou está </a:t>
            </a:r>
            <a:r>
              <a:rPr b="1" i="0" lang="pt-BR" sz="2200" u="none" cap="none" strike="noStrike">
                <a:solidFill>
                  <a:srgbClr val="FF0000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indisponível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1eb859933cc_0_28"/>
          <p:cNvSpPr/>
          <p:nvPr/>
        </p:nvSpPr>
        <p:spPr>
          <a:xfrm>
            <a:off x="101450" y="3362300"/>
            <a:ext cx="7551300" cy="1725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eb859933cc_0_1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1eb859933cc_0_11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disponibilidade &amp; atualização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517" name="Google Shape;517;g1eb859933cc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90406"/>
            <a:ext cx="7652775" cy="3778093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1eb859933cc_0_11"/>
          <p:cNvSpPr/>
          <p:nvPr/>
        </p:nvSpPr>
        <p:spPr>
          <a:xfrm>
            <a:off x="2692950" y="3766775"/>
            <a:ext cx="4750200" cy="1191900"/>
          </a:xfrm>
          <a:prstGeom prst="wedgeRoundRectCallout">
            <a:avLst>
              <a:gd fmla="val 11441" name="adj1"/>
              <a:gd fmla="val -8131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Quase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60%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está </a:t>
            </a:r>
            <a:r>
              <a:rPr b="1" i="0" lang="pt-BR" sz="2200" u="none" cap="none" strike="noStrike">
                <a:solidFill>
                  <a:srgbClr val="38761D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disponível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, porém </a:t>
            </a:r>
            <a:r>
              <a:rPr b="1" i="0" lang="pt-BR" sz="2200" u="none" cap="none" strike="noStrike">
                <a:solidFill>
                  <a:srgbClr val="FF0000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limitados </a:t>
            </a:r>
            <a:r>
              <a:rPr b="0" i="0" lang="pt-BR" sz="2200" u="none" cap="none" strike="noStrike">
                <a:solidFill>
                  <a:schemeClr val="dk1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e/ou</a:t>
            </a:r>
            <a:r>
              <a:rPr b="1" i="0" lang="pt-BR" sz="2200" u="none" cap="none" strike="noStrike">
                <a:solidFill>
                  <a:srgbClr val="FF0000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defasados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1eb859933cc_0_11"/>
          <p:cNvSpPr/>
          <p:nvPr/>
        </p:nvSpPr>
        <p:spPr>
          <a:xfrm>
            <a:off x="101450" y="1685900"/>
            <a:ext cx="7551300" cy="17046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eb859933cc_0_96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1eb859933cc_0_961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disponibilidade &amp; atualização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26" name="Google Shape;526;g1eb859933cc_0_961"/>
          <p:cNvSpPr/>
          <p:nvPr/>
        </p:nvSpPr>
        <p:spPr>
          <a:xfrm>
            <a:off x="4002975" y="2132625"/>
            <a:ext cx="3733200" cy="2062200"/>
          </a:xfrm>
          <a:prstGeom prst="wedgeRoundRectCallout">
            <a:avLst>
              <a:gd fmla="val -74709" name="adj1"/>
              <a:gd fmla="val 7140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como encontrar ou construir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representativos e atualizados?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g1eb859933cc_0_9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372" y="2931200"/>
            <a:ext cx="1875875" cy="15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g1eb859933cc_0_9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2350" y="1366999"/>
            <a:ext cx="218122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1eb859933cc_0_97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1eb859933cc_0_972"/>
          <p:cNvSpPr txBox="1"/>
          <p:nvPr/>
        </p:nvSpPr>
        <p:spPr>
          <a:xfrm>
            <a:off x="297600" y="202150"/>
            <a:ext cx="6814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disponibilidade &amp; atualização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35" name="Google Shape;535;g1eb859933cc_0_972"/>
          <p:cNvSpPr/>
          <p:nvPr/>
        </p:nvSpPr>
        <p:spPr>
          <a:xfrm>
            <a:off x="305400" y="1615300"/>
            <a:ext cx="4634100" cy="1505100"/>
          </a:xfrm>
          <a:prstGeom prst="wedgeRoundRectCallout">
            <a:avLst>
              <a:gd fmla="val 76473" name="adj1"/>
              <a:gd fmla="val 1567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Idéia: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pesquisa exploratória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domínio público ou acessíveis via solicitação.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1eb859933cc_0_9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2350" y="1366999"/>
            <a:ext cx="218122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1eb859933cc_0_98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1eb859933cc_0_982"/>
          <p:cNvSpPr txBox="1"/>
          <p:nvPr/>
        </p:nvSpPr>
        <p:spPr>
          <a:xfrm>
            <a:off x="297600" y="202150"/>
            <a:ext cx="6814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disponibilidade &amp; atualização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43" name="Google Shape;543;g1eb859933cc_0_982"/>
          <p:cNvSpPr/>
          <p:nvPr/>
        </p:nvSpPr>
        <p:spPr>
          <a:xfrm>
            <a:off x="305400" y="1615300"/>
            <a:ext cx="4634100" cy="1505100"/>
          </a:xfrm>
          <a:prstGeom prst="wedgeRoundRectCallout">
            <a:avLst>
              <a:gd fmla="val 76473" name="adj1"/>
              <a:gd fmla="val 1567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Idéia: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pesquisa exploratório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domínio público ou acessíveis via solicitação.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1eb859933cc_0_982"/>
          <p:cNvSpPr/>
          <p:nvPr/>
        </p:nvSpPr>
        <p:spPr>
          <a:xfrm>
            <a:off x="305400" y="3310100"/>
            <a:ext cx="4634100" cy="1640700"/>
          </a:xfrm>
          <a:prstGeom prst="wedgeRoundRectCallout">
            <a:avLst>
              <a:gd fmla="val 76473" name="adj1"/>
              <a:gd fmla="val 1567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 </a:t>
            </a:r>
            <a:r>
              <a:rPr b="1" i="0" lang="pt-BR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mais de 100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mapeados.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defasagem e representatividade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5" name="Google Shape;545;g1eb859933cc_0_9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9690" y="3552150"/>
            <a:ext cx="1755057" cy="13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859933cc_0_6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1eb859933cc_0_62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reprodutibilidade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52" name="Google Shape;552;g1eb859933cc_0_62"/>
          <p:cNvSpPr/>
          <p:nvPr/>
        </p:nvSpPr>
        <p:spPr>
          <a:xfrm>
            <a:off x="244475" y="1615650"/>
            <a:ext cx="3503700" cy="658500"/>
          </a:xfrm>
          <a:prstGeom prst="wedgeRoundRectCallout">
            <a:avLst>
              <a:gd fmla="val -23202" name="adj1"/>
              <a:gd fmla="val 88986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aspectos observados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1eb859933cc_0_62"/>
          <p:cNvSpPr txBox="1"/>
          <p:nvPr/>
        </p:nvSpPr>
        <p:spPr>
          <a:xfrm>
            <a:off x="171575" y="2574675"/>
            <a:ext cx="7511100" cy="2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 à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origem das amostras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utilizadas (e.g.,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APKs em repositório)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Quantidade de amostras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utilizadas em cada experimento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forma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conjunto de dados próprio do trabalho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foi criado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g1eb859933cc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1875" y="1461250"/>
            <a:ext cx="1483325" cy="14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1eb859933cc_0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6323" y="1834835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eb859933cc_0_4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1eb859933cc_0_42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reprodutibilidade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62" name="Google Shape;562;g1eb859933cc_0_42"/>
          <p:cNvSpPr/>
          <p:nvPr/>
        </p:nvSpPr>
        <p:spPr>
          <a:xfrm>
            <a:off x="219900" y="2017375"/>
            <a:ext cx="5961000" cy="1516500"/>
          </a:xfrm>
          <a:prstGeom prst="wedgeRoundRectCallout">
            <a:avLst>
              <a:gd fmla="val 61572" name="adj1"/>
              <a:gd fmla="val 7057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Resultado:</a:t>
            </a:r>
            <a:r>
              <a:rPr b="1" i="0" lang="pt-BR" sz="2200" u="none" cap="none" strike="noStrike">
                <a:solidFill>
                  <a:srgbClr val="FF0000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100% dos trabalhos falham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em apresentar informações fundamentais acerca dos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criados ou utilizados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g1eb859933cc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323" y="3659300"/>
            <a:ext cx="1357676" cy="136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1eb859933cc_0_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090" y="2130600"/>
            <a:ext cx="1755057" cy="136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1eb859933cc_0_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8573" y="4127948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eb859933cc_0_7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1eb859933cc_0_7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conclusão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72" name="Google Shape;572;g1eb859933cc_0_73"/>
          <p:cNvSpPr/>
          <p:nvPr/>
        </p:nvSpPr>
        <p:spPr>
          <a:xfrm>
            <a:off x="180300" y="1501675"/>
            <a:ext cx="5868000" cy="1618800"/>
          </a:xfrm>
          <a:prstGeom prst="wedgeRoundRectCallout">
            <a:avLst>
              <a:gd fmla="val 70170" name="adj1"/>
              <a:gd fmla="val 1618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Lição: investigue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detalhadamente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antes de utilizar ou assumir que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existentes são confiáveis, atualizados ou representativos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3" name="Google Shape;573;g1eb859933cc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2100" y="1654075"/>
            <a:ext cx="1402100" cy="14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eb859933cc_0_99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1eb859933cc_0_999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conclusão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580" name="Google Shape;580;g1eb859933cc_0_9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8201" y="3201375"/>
            <a:ext cx="1847973" cy="17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1eb859933cc_0_999"/>
          <p:cNvSpPr/>
          <p:nvPr/>
        </p:nvSpPr>
        <p:spPr>
          <a:xfrm>
            <a:off x="180250" y="3421000"/>
            <a:ext cx="5868000" cy="1489200"/>
          </a:xfrm>
          <a:prstGeom prst="wedgeRoundRectCallout">
            <a:avLst>
              <a:gd fmla="val 70171" name="adj1"/>
              <a:gd fmla="val 17974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Ideia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construir um sistema para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gerar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atualizados, representativos e auto-contidos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1eb859933cc_0_999"/>
          <p:cNvSpPr/>
          <p:nvPr/>
        </p:nvSpPr>
        <p:spPr>
          <a:xfrm>
            <a:off x="180300" y="1501675"/>
            <a:ext cx="5868000" cy="1618800"/>
          </a:xfrm>
          <a:prstGeom prst="wedgeRoundRectCallout">
            <a:avLst>
              <a:gd fmla="val 70170" name="adj1"/>
              <a:gd fmla="val 1618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Lição: investigue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detalhadamente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antes de utilizar ou assumir que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existentes são confiáveis, atualizados ou representativos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3" name="Google Shape;583;g1eb859933cc_0_9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2100" y="1654075"/>
            <a:ext cx="1402100" cy="14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eb859933cc_0_8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1eb859933cc_0_81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Datasets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Geração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90" name="Google Shape;590;g1eb859933cc_0_81"/>
          <p:cNvSpPr txBox="1"/>
          <p:nvPr/>
        </p:nvSpPr>
        <p:spPr>
          <a:xfrm>
            <a:off x="4193750" y="3320400"/>
            <a:ext cx="47433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Estágio 1: ADBuilder</a:t>
            </a:r>
            <a:endParaRPr b="0" i="0" sz="20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Estágio 2: AMGenerator &amp; AMExplorer</a:t>
            </a:r>
            <a:endParaRPr b="0" i="0" sz="20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cxnSp>
        <p:nvCxnSpPr>
          <p:cNvPr id="591" name="Google Shape;591;g1eb859933cc_0_81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eb859933cc_0_8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1eb859933cc_0_88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geração (objetivos)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598" name="Google Shape;598;g1eb859933cc_0_88"/>
          <p:cNvSpPr txBox="1"/>
          <p:nvPr/>
        </p:nvSpPr>
        <p:spPr>
          <a:xfrm>
            <a:off x="355650" y="1815275"/>
            <a:ext cx="8440500" cy="27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Quantidade representativa de amostras (e.g., 1M)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Quantidade significativa de características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Sistematização e automação do processo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Reprodutibilidade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Metadados atualizados (e.g., VirusTotal)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Aplicativos variados e também atuais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g1eb859933cc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2950" y="3469225"/>
            <a:ext cx="1552600" cy="1546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1eb859933cc_0_88"/>
          <p:cNvSpPr txBox="1"/>
          <p:nvPr/>
        </p:nvSpPr>
        <p:spPr>
          <a:xfrm>
            <a:off x="7602975" y="3068975"/>
            <a:ext cx="139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ADBuilder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g1eb859933cc_0_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9573" y="3975548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eb859933cc_0_9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1eb859933cc_0_96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(concepção)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608" name="Google Shape;608;g1eb859933cc_0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8650" y="1346325"/>
            <a:ext cx="9288852" cy="38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eb859933cc_0_10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1eb859933cc_0_107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(implementação)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615" name="Google Shape;615;g1eb859933cc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572750"/>
            <a:ext cx="9144003" cy="2562828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1eb859933cc_0_107"/>
          <p:cNvSpPr/>
          <p:nvPr/>
        </p:nvSpPr>
        <p:spPr>
          <a:xfrm>
            <a:off x="59175" y="2572775"/>
            <a:ext cx="2494200" cy="25629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1eb859933cc_0_107"/>
          <p:cNvSpPr/>
          <p:nvPr/>
        </p:nvSpPr>
        <p:spPr>
          <a:xfrm>
            <a:off x="136400" y="1355600"/>
            <a:ext cx="5961000" cy="958200"/>
          </a:xfrm>
          <a:prstGeom prst="wedgeRoundRectCallout">
            <a:avLst>
              <a:gd fmla="val -29547" name="adj1"/>
              <a:gd fmla="val 75597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A partir da assinatura SHA256, realiza o download do APK do AndroZoo (19M+ APKs)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eb859933cc_0_12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1eb859933cc_0_124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(implementação)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624" name="Google Shape;624;g1eb859933cc_0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572750"/>
            <a:ext cx="9144003" cy="2562828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g1eb859933cc_0_124"/>
          <p:cNvSpPr/>
          <p:nvPr/>
        </p:nvSpPr>
        <p:spPr>
          <a:xfrm>
            <a:off x="136400" y="1355600"/>
            <a:ext cx="5961000" cy="958200"/>
          </a:xfrm>
          <a:prstGeom prst="wedgeRoundRectCallout">
            <a:avLst>
              <a:gd fmla="val 8041" name="adj1"/>
              <a:gd fmla="val 7118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Utilização do AndroGuard para extração de características estáticas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1eb859933cc_0_124"/>
          <p:cNvSpPr/>
          <p:nvPr/>
        </p:nvSpPr>
        <p:spPr>
          <a:xfrm>
            <a:off x="2525250" y="2572775"/>
            <a:ext cx="1888200" cy="25629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eb859933cc_0_100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1eb859933cc_0_1009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(implementação)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633" name="Google Shape;633;g1eb859933cc_0_1009"/>
          <p:cNvSpPr/>
          <p:nvPr/>
        </p:nvSpPr>
        <p:spPr>
          <a:xfrm>
            <a:off x="3850575" y="2527075"/>
            <a:ext cx="3144600" cy="1362900"/>
          </a:xfrm>
          <a:prstGeom prst="wedgeRoundRectCallout">
            <a:avLst>
              <a:gd fmla="val -74709" name="adj1"/>
              <a:gd fmla="val 7140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Dúvida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por que o AndroGuard?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" name="Google Shape;634;g1eb859933cc_0_10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372" y="2931200"/>
            <a:ext cx="1875875" cy="15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g1eb859933cc_0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6300" y="2920428"/>
            <a:ext cx="9144003" cy="1893094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g1eb859933cc_0_13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1eb859933cc_0_136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(implementação)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642" name="Google Shape;642;g1eb859933cc_0_136"/>
          <p:cNvSpPr/>
          <p:nvPr/>
        </p:nvSpPr>
        <p:spPr>
          <a:xfrm>
            <a:off x="136400" y="1660400"/>
            <a:ext cx="5961000" cy="958200"/>
          </a:xfrm>
          <a:prstGeom prst="wedgeRoundRectCallout">
            <a:avLst>
              <a:gd fmla="val -44912" name="adj1"/>
              <a:gd fmla="val 152614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AndroGuard é uma das ferramentas de extração de características mais completa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1eb859933cc_0_136"/>
          <p:cNvSpPr/>
          <p:nvPr/>
        </p:nvSpPr>
        <p:spPr>
          <a:xfrm>
            <a:off x="0" y="3601850"/>
            <a:ext cx="9107700" cy="3168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g1eb859933cc_0_1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2300" y="1431800"/>
            <a:ext cx="1375950" cy="13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g1eb859933cc_0_1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28698" y="1825123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eb859933cc_0_11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1eb859933cc_0_115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(implementação)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652" name="Google Shape;652;g1eb859933cc_0_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572750"/>
            <a:ext cx="9144003" cy="2562828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1eb859933cc_0_115"/>
          <p:cNvSpPr/>
          <p:nvPr/>
        </p:nvSpPr>
        <p:spPr>
          <a:xfrm>
            <a:off x="136400" y="1431800"/>
            <a:ext cx="7180200" cy="958200"/>
          </a:xfrm>
          <a:prstGeom prst="wedgeRoundRectCallout">
            <a:avLst>
              <a:gd fmla="val 27898" name="adj1"/>
              <a:gd fmla="val 67645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VirusTotal (VT) contém hoje mais de 60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scanners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e retorna os dados da </a:t>
            </a:r>
            <a:r>
              <a:rPr b="1" i="0" lang="pt-BR" sz="2200" u="none" cap="none" strike="noStrike">
                <a:solidFill>
                  <a:srgbClr val="FF0000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última análise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1eb859933cc_0_115"/>
          <p:cNvSpPr/>
          <p:nvPr/>
        </p:nvSpPr>
        <p:spPr>
          <a:xfrm>
            <a:off x="4385350" y="2572775"/>
            <a:ext cx="2015100" cy="25629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1eb859933cc_0_15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1eb859933cc_0_154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(implementação)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661" name="Google Shape;661;g1eb859933cc_0_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572750"/>
            <a:ext cx="9144003" cy="2562828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1eb859933cc_0_154"/>
          <p:cNvSpPr/>
          <p:nvPr/>
        </p:nvSpPr>
        <p:spPr>
          <a:xfrm>
            <a:off x="4385350" y="2572775"/>
            <a:ext cx="2015100" cy="25629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1eb859933cc_0_154"/>
          <p:cNvSpPr/>
          <p:nvPr/>
        </p:nvSpPr>
        <p:spPr>
          <a:xfrm>
            <a:off x="136400" y="1426400"/>
            <a:ext cx="8335500" cy="1272600"/>
          </a:xfrm>
          <a:prstGeom prst="wedgeRoundRectCallout">
            <a:avLst>
              <a:gd fmla="val 15779" name="adj1"/>
              <a:gd fmla="val 12199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Os apps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Gallery 1.1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Cleaner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foram classificados como </a:t>
            </a:r>
            <a:r>
              <a:rPr b="1" i="0" lang="pt-BR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benignos em 2019/2020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Em 2022,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mais de 18 </a:t>
            </a:r>
            <a:r>
              <a:rPr b="1" i="1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scanners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VT classificaram como </a:t>
            </a:r>
            <a:r>
              <a:rPr b="1" i="1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malware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dois APKs.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eb859933cc_0_14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1eb859933cc_0_146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(implementação)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670" name="Google Shape;670;g1eb859933cc_0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572750"/>
            <a:ext cx="9144003" cy="2562828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g1eb859933cc_0_146"/>
          <p:cNvSpPr/>
          <p:nvPr/>
        </p:nvSpPr>
        <p:spPr>
          <a:xfrm>
            <a:off x="1017425" y="1350200"/>
            <a:ext cx="7911600" cy="966600"/>
          </a:xfrm>
          <a:prstGeom prst="wedgeRoundRectCallout">
            <a:avLst>
              <a:gd fmla="val 18211" name="adj1"/>
              <a:gd fmla="val 7360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Geração recebe como entrada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dados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download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extração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metadados do VT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para gerar um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binário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1eb859933cc_0_146"/>
          <p:cNvSpPr/>
          <p:nvPr/>
        </p:nvSpPr>
        <p:spPr>
          <a:xfrm>
            <a:off x="6386400" y="2572775"/>
            <a:ext cx="1918800" cy="25629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eb859933cc_0_17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1eb859933cc_0_17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ADBuilder (implementação)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679" name="Google Shape;679;g1eb859933cc_0_173"/>
          <p:cNvSpPr txBox="1"/>
          <p:nvPr/>
        </p:nvSpPr>
        <p:spPr>
          <a:xfrm>
            <a:off x="19175" y="2498475"/>
            <a:ext cx="8650200" cy="2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Garantir </a:t>
            </a:r>
            <a:r>
              <a:rPr b="1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rotulação atualizada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 (VT possui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cache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 de dados)</a:t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Criar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datasets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b="1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metadados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 (mais ricos em informação)</a:t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Roboto"/>
              <a:buChar char="○"/>
            </a:pPr>
            <a:r>
              <a:rPr b="0" i="0" lang="pt-BR" sz="22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permitir múltiplos tipos de análises</a:t>
            </a:r>
            <a:endParaRPr b="0" i="0" sz="22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Gerar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datasets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 binários e discretos</a:t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Permitir ao usuário personalizar a composição do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dataset</a:t>
            </a:r>
            <a:endParaRPr b="0" i="1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g1eb859933cc_0_173"/>
          <p:cNvSpPr/>
          <p:nvPr/>
        </p:nvSpPr>
        <p:spPr>
          <a:xfrm>
            <a:off x="1036200" y="1618275"/>
            <a:ext cx="6876900" cy="619800"/>
          </a:xfrm>
          <a:prstGeom prst="wedgeRoundRectCallout">
            <a:avLst>
              <a:gd fmla="val -27527" name="adj1"/>
              <a:gd fmla="val 106337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Desafios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identificados ao final do primeiro estágio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eb859933cc_0_16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1eb859933cc_0_164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 e AMExplorer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687" name="Google Shape;687;g1eb859933cc_0_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5855" y="3554224"/>
            <a:ext cx="1501951" cy="15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g1eb859933cc_0_164"/>
          <p:cNvSpPr/>
          <p:nvPr/>
        </p:nvSpPr>
        <p:spPr>
          <a:xfrm>
            <a:off x="297600" y="1701075"/>
            <a:ext cx="4326300" cy="2389500"/>
          </a:xfrm>
          <a:prstGeom prst="wedgeEllipseCallout">
            <a:avLst>
              <a:gd fmla="val 66861" name="adj1"/>
              <a:gd fmla="val 1654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Criação das ferramentas AMGenerator e AMExplorer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g1eb859933cc_0_1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98" y="4198198"/>
            <a:ext cx="654800" cy="7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g1eb859933cc_0_1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6826" y="2030450"/>
            <a:ext cx="1847973" cy="17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eb859933cc_0_101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1eb859933cc_0_1019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 e AMExplorer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697" name="Google Shape;697;g1eb859933cc_0_1019"/>
          <p:cNvSpPr/>
          <p:nvPr/>
        </p:nvSpPr>
        <p:spPr>
          <a:xfrm>
            <a:off x="3245275" y="1418575"/>
            <a:ext cx="4130700" cy="1326300"/>
          </a:xfrm>
          <a:prstGeom prst="wedgeRoundRectCallout">
            <a:avLst>
              <a:gd fmla="val -76202" name="adj1"/>
              <a:gd fmla="val -1753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por que separar a ADBuilder em duas novas ferramentas?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g1eb859933cc_0_10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597" y="1454175"/>
            <a:ext cx="1875875" cy="15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1eb859933cc_0_102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g1eb859933cc_0_1027"/>
          <p:cNvSpPr txBox="1"/>
          <p:nvPr/>
        </p:nvSpPr>
        <p:spPr>
          <a:xfrm>
            <a:off x="297600" y="202150"/>
            <a:ext cx="6849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 e AMExplorer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705" name="Google Shape;705;g1eb859933cc_0_1027"/>
          <p:cNvSpPr txBox="1"/>
          <p:nvPr/>
        </p:nvSpPr>
        <p:spPr>
          <a:xfrm>
            <a:off x="2076575" y="2879475"/>
            <a:ext cx="6975900" cy="1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Desafio 1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escalar a rotulação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○"/>
            </a:pPr>
            <a:r>
              <a:rPr b="0" i="0" lang="pt-BR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limitações de contrato</a:t>
            </a:r>
            <a:endParaRPr b="0" i="0" sz="2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○"/>
            </a:pPr>
            <a:r>
              <a:rPr b="0" i="0" lang="pt-BR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limitação por chave de API</a:t>
            </a:r>
            <a:endParaRPr b="0" i="0" sz="2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Desafio 2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personalizar a escalar a geração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○"/>
            </a:pPr>
            <a:r>
              <a:rPr b="0" i="0" lang="pt-BR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múltiplas fontes de informação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6" name="Google Shape;706;g1eb859933cc_0_10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597" y="1454175"/>
            <a:ext cx="1875875" cy="15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g1eb859933cc_0_1027"/>
          <p:cNvSpPr/>
          <p:nvPr/>
        </p:nvSpPr>
        <p:spPr>
          <a:xfrm>
            <a:off x="3245275" y="1418575"/>
            <a:ext cx="4130700" cy="1326300"/>
          </a:xfrm>
          <a:prstGeom prst="wedgeRoundRectCallout">
            <a:avLst>
              <a:gd fmla="val -76202" name="adj1"/>
              <a:gd fmla="val -1753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por que separar a ADBuilder em duas novas ferramentas?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1eb859933cc_0_18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1eb859933cc_0_185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 e AMExplorer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714" name="Google Shape;714;g1eb859933cc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394974"/>
            <a:ext cx="9144001" cy="2683251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g1eb859933cc_0_185"/>
          <p:cNvSpPr/>
          <p:nvPr/>
        </p:nvSpPr>
        <p:spPr>
          <a:xfrm>
            <a:off x="4329000" y="2344175"/>
            <a:ext cx="1296300" cy="27429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1eb859933cc_0_185"/>
          <p:cNvSpPr/>
          <p:nvPr/>
        </p:nvSpPr>
        <p:spPr>
          <a:xfrm>
            <a:off x="5700600" y="2344175"/>
            <a:ext cx="3443400" cy="27429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1eb859933cc_0_185"/>
          <p:cNvSpPr/>
          <p:nvPr/>
        </p:nvSpPr>
        <p:spPr>
          <a:xfrm>
            <a:off x="2327950" y="1313475"/>
            <a:ext cx="6728100" cy="846600"/>
          </a:xfrm>
          <a:prstGeom prst="wedgeRoundRectCallout">
            <a:avLst>
              <a:gd fmla="val -152" name="adj1"/>
              <a:gd fmla="val 72162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Metadados para rotulação / análise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personalizadas, sistematizadas e avançadas.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eb859933cc_0_19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1eb859933cc_0_198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724" name="Google Shape;724;g1eb859933cc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099" y="1297975"/>
            <a:ext cx="7564326" cy="32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g1eb859933cc_0_198"/>
          <p:cNvSpPr/>
          <p:nvPr/>
        </p:nvSpPr>
        <p:spPr>
          <a:xfrm>
            <a:off x="6146825" y="3127475"/>
            <a:ext cx="2858400" cy="1812600"/>
          </a:xfrm>
          <a:prstGeom prst="wedgeRoundRectCallout">
            <a:avLst>
              <a:gd fmla="val -38168" name="adj1"/>
              <a:gd fmla="val -69697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Fluxo de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coleta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metadados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rotulação com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reanálise</a:t>
            </a:r>
            <a:endParaRPr b="1" i="0" sz="22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eb859933cc_0_20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1eb859933cc_0_209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732" name="Google Shape;732;g1eb859933cc_0_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099" y="1297975"/>
            <a:ext cx="7564326" cy="32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g1eb859933cc_0_209"/>
          <p:cNvSpPr/>
          <p:nvPr/>
        </p:nvSpPr>
        <p:spPr>
          <a:xfrm>
            <a:off x="5035225" y="2868400"/>
            <a:ext cx="3843300" cy="1690500"/>
          </a:xfrm>
          <a:prstGeom prst="wedgeRoundRectCallout">
            <a:avLst>
              <a:gd fmla="val -57743" name="adj1"/>
              <a:gd fmla="val -7413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ADBuilder (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b="0" i="0" lang="pt-BR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data do VT maior que a do AndroZoo.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Mas, retornando</a:t>
            </a:r>
            <a:r>
              <a:rPr b="0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dados da </a:t>
            </a:r>
            <a:r>
              <a:rPr b="0" i="1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cache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VT</a:t>
            </a:r>
            <a:r>
              <a:rPr b="0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1eb859933cc_0_209"/>
          <p:cNvSpPr/>
          <p:nvPr/>
        </p:nvSpPr>
        <p:spPr>
          <a:xfrm>
            <a:off x="619725" y="3153825"/>
            <a:ext cx="2891400" cy="1405200"/>
          </a:xfrm>
          <a:prstGeom prst="wedgeRoundRectCallout">
            <a:avLst>
              <a:gd fmla="val 100743" name="adj1"/>
              <a:gd fmla="val 439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comum à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maioria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trabalhos / </a:t>
            </a:r>
            <a:r>
              <a:rPr b="1" i="1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1" i="1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eb859933cc_0_21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1eb859933cc_0_216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741" name="Google Shape;741;g1eb859933cc_0_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099" y="1297975"/>
            <a:ext cx="7564326" cy="32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1eb859933cc_0_216"/>
          <p:cNvSpPr/>
          <p:nvPr/>
        </p:nvSpPr>
        <p:spPr>
          <a:xfrm>
            <a:off x="6358200" y="2868400"/>
            <a:ext cx="2520300" cy="2071500"/>
          </a:xfrm>
          <a:prstGeom prst="wedgeRoundRectCallout">
            <a:avLst>
              <a:gd fmla="val -116259" name="adj1"/>
              <a:gd fmla="val -68887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AMGenerator (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b="1" i="0" lang="pt-BR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maior que data definida pelo usuário</a:t>
            </a:r>
            <a:endParaRPr b="1" i="0" sz="22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eb859933cc_0_104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1eb859933cc_0_1046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749" name="Google Shape;749;g1eb859933cc_0_10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099" y="1297975"/>
            <a:ext cx="7564326" cy="32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g1eb859933cc_0_1046"/>
          <p:cNvSpPr/>
          <p:nvPr/>
        </p:nvSpPr>
        <p:spPr>
          <a:xfrm>
            <a:off x="6210625" y="2899575"/>
            <a:ext cx="2857200" cy="2116500"/>
          </a:xfrm>
          <a:prstGeom prst="wedgeRoundRectCallout">
            <a:avLst>
              <a:gd fmla="val -62530" name="adj1"/>
              <a:gd fmla="val -21194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escalar as reanálises com o VT (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menos de 250 reanálises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dia / chave de API)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1eb859933cc_0_1046"/>
          <p:cNvSpPr/>
          <p:nvPr/>
        </p:nvSpPr>
        <p:spPr>
          <a:xfrm>
            <a:off x="297600" y="1658700"/>
            <a:ext cx="2731500" cy="1368900"/>
          </a:xfrm>
          <a:prstGeom prst="wedgeRoundRectCallout">
            <a:avLst>
              <a:gd fmla="val 101002" name="adj1"/>
              <a:gd fmla="val 34455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de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95% do APKs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estão indo para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reanálise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g1eb859933cc_0_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6800" y="1286810"/>
            <a:ext cx="7514127" cy="278844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g1eb859933cc_0_22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1eb859933cc_0_223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AMExplorer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759" name="Google Shape;759;g1eb859933cc_0_223"/>
          <p:cNvSpPr/>
          <p:nvPr/>
        </p:nvSpPr>
        <p:spPr>
          <a:xfrm>
            <a:off x="6002175" y="3335175"/>
            <a:ext cx="3105000" cy="1757100"/>
          </a:xfrm>
          <a:prstGeom prst="wedgeRoundRectCallout">
            <a:avLst>
              <a:gd fmla="val -65203" name="adj1"/>
              <a:gd fmla="val -3170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Construção parametrizada e geração de múltiplos variações de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1eb859933cc_0_223"/>
          <p:cNvSpPr/>
          <p:nvPr/>
        </p:nvSpPr>
        <p:spPr>
          <a:xfrm>
            <a:off x="38850" y="3733475"/>
            <a:ext cx="3455100" cy="1376400"/>
          </a:xfrm>
          <a:prstGeom prst="wedgeRoundRectCallout">
            <a:avLst>
              <a:gd fmla="val -61" name="adj1"/>
              <a:gd fmla="val -8990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(1) metadados do AndroZoo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(2) metadados da extração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(3) atributos da extração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(4) metadados do VT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1eb859933cc_0_23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1eb859933cc_0_232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 e AMExplorer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767" name="Google Shape;767;g1eb859933cc_0_232"/>
          <p:cNvSpPr txBox="1"/>
          <p:nvPr/>
        </p:nvSpPr>
        <p:spPr>
          <a:xfrm>
            <a:off x="323975" y="1965075"/>
            <a:ext cx="8650200" cy="15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Objetivo final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gerar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expressivos (e.g., 1M+ amostras e 200K+ características)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Desafio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tempo e recursos necessários para a geração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1eb859933cc_0_232"/>
          <p:cNvSpPr/>
          <p:nvPr/>
        </p:nvSpPr>
        <p:spPr>
          <a:xfrm>
            <a:off x="2560225" y="3975975"/>
            <a:ext cx="4306800" cy="948300"/>
          </a:xfrm>
          <a:prstGeom prst="wedgeRoundRectCallout">
            <a:avLst>
              <a:gd fmla="val -20943" name="adj1"/>
              <a:gd fmla="val -109862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 gargalo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geração dos metadados para rotulação (VT)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eb859933cc_0_105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1eb859933cc_0_1055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 e AMExplorer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775" name="Google Shape;775;g1eb859933cc_0_1055"/>
          <p:cNvSpPr txBox="1"/>
          <p:nvPr/>
        </p:nvSpPr>
        <p:spPr>
          <a:xfrm>
            <a:off x="400175" y="1736475"/>
            <a:ext cx="5529600" cy="23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1" i="1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(1)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MH-100K já publicado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■"/>
            </a:pPr>
            <a:r>
              <a:rPr b="0" i="0" lang="pt-BR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101975 amostras</a:t>
            </a:r>
            <a:endParaRPr b="0" i="0" sz="2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■"/>
            </a:pPr>
            <a:r>
              <a:rPr b="0" i="0" lang="pt-BR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24500+ características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6" name="Google Shape;776;g1eb859933cc_0_10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7925" y="3370550"/>
            <a:ext cx="1335475" cy="133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g1eb859933cc_0_10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0000" y="3370100"/>
            <a:ext cx="1335475" cy="135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g1eb859933cc_0_10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573" y="3741160"/>
            <a:ext cx="654800" cy="7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g1eb859933cc_0_1055"/>
          <p:cNvSpPr/>
          <p:nvPr/>
        </p:nvSpPr>
        <p:spPr>
          <a:xfrm>
            <a:off x="112625" y="3511350"/>
            <a:ext cx="4306800" cy="1330500"/>
          </a:xfrm>
          <a:prstGeom prst="wedgeRoundRectCallout">
            <a:avLst>
              <a:gd fmla="val -7445" name="adj1"/>
              <a:gd fmla="val -86065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MH-100K está sendo utilizado e analisado por equipe técnica interna da Motorola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eb859933cc_0_106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1eb859933cc_0_1066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 e AMExplorer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786" name="Google Shape;786;g1eb859933cc_0_1066"/>
          <p:cNvSpPr txBox="1"/>
          <p:nvPr/>
        </p:nvSpPr>
        <p:spPr>
          <a:xfrm>
            <a:off x="400175" y="1736475"/>
            <a:ext cx="7938900" cy="23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1" i="1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(2)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MH-1M+ em processamento (</a:t>
            </a: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5+ meses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nome da empresa&#10;&#10;Descrição gerada automaticamente" id="787" name="Google Shape;787;g1eb859933cc_0_10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5478" y="2571751"/>
            <a:ext cx="5997985" cy="23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g1eb859933cc_0_1066"/>
          <p:cNvSpPr txBox="1"/>
          <p:nvPr/>
        </p:nvSpPr>
        <p:spPr>
          <a:xfrm>
            <a:off x="1561775" y="4288050"/>
            <a:ext cx="194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2.699.949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1eb859933cc_0_1066"/>
          <p:cNvSpPr txBox="1"/>
          <p:nvPr/>
        </p:nvSpPr>
        <p:spPr>
          <a:xfrm>
            <a:off x="3660575" y="4317150"/>
            <a:ext cx="194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1.987.684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1eb859933cc_0_1066"/>
          <p:cNvSpPr txBox="1"/>
          <p:nvPr/>
        </p:nvSpPr>
        <p:spPr>
          <a:xfrm>
            <a:off x="5794175" y="4317150"/>
            <a:ext cx="194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1.492.366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1eb859933cc_0_1066"/>
          <p:cNvSpPr txBox="1"/>
          <p:nvPr/>
        </p:nvSpPr>
        <p:spPr>
          <a:xfrm>
            <a:off x="1561775" y="2459900"/>
            <a:ext cx="19464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Download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1eb859933cc_0_1066"/>
          <p:cNvSpPr txBox="1"/>
          <p:nvPr/>
        </p:nvSpPr>
        <p:spPr>
          <a:xfrm>
            <a:off x="3833675" y="2459900"/>
            <a:ext cx="17733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Extração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1eb859933cc_0_1066"/>
          <p:cNvSpPr txBox="1"/>
          <p:nvPr/>
        </p:nvSpPr>
        <p:spPr>
          <a:xfrm>
            <a:off x="5738675" y="2459900"/>
            <a:ext cx="21228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VirusTotal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eb859933cc_0_110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1eb859933cc_0_1104"/>
          <p:cNvSpPr txBox="1"/>
          <p:nvPr/>
        </p:nvSpPr>
        <p:spPr>
          <a:xfrm>
            <a:off x="297600" y="202150"/>
            <a:ext cx="68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AMGenerator e AMExplorer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800" name="Google Shape;800;g1eb859933cc_0_1104"/>
          <p:cNvSpPr txBox="1"/>
          <p:nvPr/>
        </p:nvSpPr>
        <p:spPr>
          <a:xfrm>
            <a:off x="400175" y="1736475"/>
            <a:ext cx="7938900" cy="23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1" i="1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(2)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MH-1M+ em processamento (</a:t>
            </a: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5+ meses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nome da empresa&#10;&#10;Descrição gerada automaticamente" id="801" name="Google Shape;801;g1eb859933cc_0_1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5478" y="2571751"/>
            <a:ext cx="5997985" cy="23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g1eb859933cc_0_1104"/>
          <p:cNvSpPr txBox="1"/>
          <p:nvPr/>
        </p:nvSpPr>
        <p:spPr>
          <a:xfrm>
            <a:off x="1561775" y="4288050"/>
            <a:ext cx="194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2.699.949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1eb859933cc_0_1104"/>
          <p:cNvSpPr txBox="1"/>
          <p:nvPr/>
        </p:nvSpPr>
        <p:spPr>
          <a:xfrm>
            <a:off x="3660575" y="4317150"/>
            <a:ext cx="194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1.987.684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1eb859933cc_0_1104"/>
          <p:cNvSpPr txBox="1"/>
          <p:nvPr/>
        </p:nvSpPr>
        <p:spPr>
          <a:xfrm>
            <a:off x="5794175" y="4317150"/>
            <a:ext cx="194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1.492.366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1eb859933cc_0_1104"/>
          <p:cNvSpPr txBox="1"/>
          <p:nvPr/>
        </p:nvSpPr>
        <p:spPr>
          <a:xfrm>
            <a:off x="1561775" y="2459900"/>
            <a:ext cx="19464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Download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1eb859933cc_0_1104"/>
          <p:cNvSpPr txBox="1"/>
          <p:nvPr/>
        </p:nvSpPr>
        <p:spPr>
          <a:xfrm>
            <a:off x="3833675" y="2459900"/>
            <a:ext cx="17733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Extração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1eb859933cc_0_1104"/>
          <p:cNvSpPr txBox="1"/>
          <p:nvPr/>
        </p:nvSpPr>
        <p:spPr>
          <a:xfrm>
            <a:off x="5738675" y="2459900"/>
            <a:ext cx="21228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VirusTotal</a:t>
            </a:r>
            <a:endParaRPr b="0" i="0" sz="3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g1eb859933cc_0_1104"/>
          <p:cNvSpPr/>
          <p:nvPr/>
        </p:nvSpPr>
        <p:spPr>
          <a:xfrm>
            <a:off x="4355775" y="2670725"/>
            <a:ext cx="3612600" cy="1151400"/>
          </a:xfrm>
          <a:prstGeom prst="wedgeRoundRectCallout">
            <a:avLst>
              <a:gd fmla="val 21800" name="adj1"/>
              <a:gd fmla="val -96335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 e recursos computacionais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1eb859933cc_0_24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g1eb859933cc_0_241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usar IA generativa (?)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15" name="Google Shape;815;g1eb859933cc_0_2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172" y="2855000"/>
            <a:ext cx="1875875" cy="15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g1eb859933cc_0_241"/>
          <p:cNvSpPr/>
          <p:nvPr/>
        </p:nvSpPr>
        <p:spPr>
          <a:xfrm>
            <a:off x="3138900" y="1695325"/>
            <a:ext cx="4326300" cy="2598000"/>
          </a:xfrm>
          <a:prstGeom prst="wedgeEllipseCallout">
            <a:avLst>
              <a:gd fmla="val -63680" name="adj1"/>
              <a:gd fmla="val 7086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utilizar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 generativa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aumentar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também detectar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malwares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mutantes?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eb859933cc_0_109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1eb859933cc_0_1093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usar IA generativa (?)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23" name="Google Shape;823;g1eb859933cc_0_10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4776" y="3515500"/>
            <a:ext cx="1537898" cy="15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g1eb859933cc_0_10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2073" y="3992435"/>
            <a:ext cx="654800" cy="7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g1eb859933cc_0_1093"/>
          <p:cNvSpPr/>
          <p:nvPr/>
        </p:nvSpPr>
        <p:spPr>
          <a:xfrm>
            <a:off x="297600" y="1854100"/>
            <a:ext cx="4326300" cy="2441100"/>
          </a:xfrm>
          <a:prstGeom prst="wedgeEllipseCallout">
            <a:avLst>
              <a:gd fmla="val 66861" name="adj1"/>
              <a:gd fmla="val 1654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DroidAugmentor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utilizar Redes Neurais Artificiais para aumentar e variar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6" name="Google Shape;826;g1eb859933cc_0_10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6826" y="2030450"/>
            <a:ext cx="1847973" cy="17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1eb859933cc_0_26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1eb859933cc_0_260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DroidAugmentor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33" name="Google Shape;833;g1eb859933cc_0_2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39350"/>
            <a:ext cx="8839204" cy="311184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g1eb859933cc_0_260"/>
          <p:cNvSpPr/>
          <p:nvPr/>
        </p:nvSpPr>
        <p:spPr>
          <a:xfrm>
            <a:off x="1481425" y="1283675"/>
            <a:ext cx="6051600" cy="807600"/>
          </a:xfrm>
          <a:prstGeom prst="wedgeRoundRectCallout">
            <a:avLst>
              <a:gd fmla="val -22697" name="adj1"/>
              <a:gd fmla="val 71217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de treinamento e parametrização de cGANs para geração de dados sintéticos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1eb859933cc_0_112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1eb859933cc_0_1126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DroidAugmentor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41" name="Google Shape;841;g1eb859933cc_0_1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39350"/>
            <a:ext cx="8839204" cy="3111849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g1eb859933cc_0_1126"/>
          <p:cNvSpPr/>
          <p:nvPr/>
        </p:nvSpPr>
        <p:spPr>
          <a:xfrm>
            <a:off x="936300" y="1365475"/>
            <a:ext cx="7271400" cy="3018300"/>
          </a:xfrm>
          <a:prstGeom prst="wedgeRoundRectCallout">
            <a:avLst>
              <a:gd fmla="val -17711" name="adj1"/>
              <a:gd fmla="val 6762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ao usuário: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 múltiplas campanhas automaticamente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observar métricas de similaridades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observar métricas de aplicabilidade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observar a matriz de confusão de todas as dobras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observar os gráficos da curva de aprendizagem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observar os mapas de calor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eb859933cc_0_111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1eb859933cc_0_1118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DroidAugmentor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49" name="Google Shape;849;g1eb859933cc_0_1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472275"/>
            <a:ext cx="8839197" cy="236020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g1eb859933cc_0_1118"/>
          <p:cNvSpPr/>
          <p:nvPr/>
        </p:nvSpPr>
        <p:spPr>
          <a:xfrm>
            <a:off x="109825" y="1436075"/>
            <a:ext cx="7490100" cy="807600"/>
          </a:xfrm>
          <a:prstGeom prst="wedgeRoundRectCallout">
            <a:avLst>
              <a:gd fmla="val -3870" name="adj1"/>
              <a:gd fmla="val 20519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Drebin-215: mapa de calor das características dos dados (Real Maligno e Sintético Maligno)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1eb859933cc_0_1118"/>
          <p:cNvSpPr/>
          <p:nvPr/>
        </p:nvSpPr>
        <p:spPr>
          <a:xfrm>
            <a:off x="109825" y="2472275"/>
            <a:ext cx="1504200" cy="23601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1eb859933cc_0_1118"/>
          <p:cNvSpPr/>
          <p:nvPr/>
        </p:nvSpPr>
        <p:spPr>
          <a:xfrm>
            <a:off x="5139675" y="2472325"/>
            <a:ext cx="1504200" cy="23601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1eb859933cc_0_1118"/>
          <p:cNvSpPr/>
          <p:nvPr/>
        </p:nvSpPr>
        <p:spPr>
          <a:xfrm>
            <a:off x="1687900" y="3378750"/>
            <a:ext cx="3381300" cy="487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b859933cc_0_130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1eb859933cc_0_1309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DroidAugmentor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60" name="Google Shape;860;g1eb859933cc_0_13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472275"/>
            <a:ext cx="8839197" cy="236020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g1eb859933cc_0_1309"/>
          <p:cNvSpPr/>
          <p:nvPr/>
        </p:nvSpPr>
        <p:spPr>
          <a:xfrm>
            <a:off x="109825" y="1436075"/>
            <a:ext cx="7490100" cy="807600"/>
          </a:xfrm>
          <a:prstGeom prst="wedgeRoundRectCallout">
            <a:avLst>
              <a:gd fmla="val 23164" name="adj1"/>
              <a:gd fmla="val 20152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Drebin-215: mapa de calor das características dos dados (Real Benigno e Sintético Benigno)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1eb859933cc_0_1309"/>
          <p:cNvSpPr/>
          <p:nvPr/>
        </p:nvSpPr>
        <p:spPr>
          <a:xfrm>
            <a:off x="2533775" y="2472325"/>
            <a:ext cx="1504200" cy="23601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1eb859933cc_0_1309"/>
          <p:cNvSpPr/>
          <p:nvPr/>
        </p:nvSpPr>
        <p:spPr>
          <a:xfrm>
            <a:off x="7465200" y="2472325"/>
            <a:ext cx="1504200" cy="23601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1eb859933cc_0_1309"/>
          <p:cNvSpPr/>
          <p:nvPr/>
        </p:nvSpPr>
        <p:spPr>
          <a:xfrm>
            <a:off x="4066225" y="3347888"/>
            <a:ext cx="3381300" cy="487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eb859933cc_0_27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1eb859933cc_0_270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DroidAugmentor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871" name="Google Shape;871;g1eb859933cc_0_270"/>
          <p:cNvSpPr txBox="1"/>
          <p:nvPr/>
        </p:nvSpPr>
        <p:spPr>
          <a:xfrm>
            <a:off x="323975" y="2498475"/>
            <a:ext cx="8650200" cy="2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Trabalhar com cGANs é </a:t>
            </a:r>
            <a:r>
              <a:rPr b="1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complexo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 e exige </a:t>
            </a:r>
            <a:r>
              <a:rPr b="1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conhecimento específico 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: criação de um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framework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Redes Neurais Artificiais podem ser complexas e </a:t>
            </a:r>
            <a:r>
              <a:rPr b="1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demandar recursos computacionais 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substanciais</a:t>
            </a:r>
            <a:endParaRPr b="0" i="1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g1eb859933cc_0_270"/>
          <p:cNvSpPr/>
          <p:nvPr/>
        </p:nvSpPr>
        <p:spPr>
          <a:xfrm>
            <a:off x="1036200" y="1618275"/>
            <a:ext cx="6876900" cy="619800"/>
          </a:xfrm>
          <a:prstGeom prst="wedgeRoundRectCallout">
            <a:avLst>
              <a:gd fmla="val -27527" name="adj1"/>
              <a:gd fmla="val 106337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Desafios: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complexidade e custo computacional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1eb859933cc_0_194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1eb859933cc_0_1949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DroidAugmentor</a:t>
            </a:r>
            <a:endParaRPr b="0" i="1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79" name="Google Shape;879;g1eb859933cc_0_19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6625" y="3615875"/>
            <a:ext cx="1395125" cy="139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1eb859933cc_0_1949"/>
          <p:cNvSpPr/>
          <p:nvPr/>
        </p:nvSpPr>
        <p:spPr>
          <a:xfrm>
            <a:off x="1016725" y="1813200"/>
            <a:ext cx="7066500" cy="166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modelos totalmente diferentes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de 30 variações de arquitetura e topologias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eb859933cc_0_24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g1eb859933cc_0_249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como escalar?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87" name="Google Shape;887;g1eb859933cc_0_2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172" y="2855000"/>
            <a:ext cx="1875875" cy="15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g1eb859933cc_0_249"/>
          <p:cNvSpPr/>
          <p:nvPr/>
        </p:nvSpPr>
        <p:spPr>
          <a:xfrm>
            <a:off x="3139025" y="1713550"/>
            <a:ext cx="4326300" cy="2690700"/>
          </a:xfrm>
          <a:prstGeom prst="wedgeEllipseCallout">
            <a:avLst>
              <a:gd fmla="val -63680" name="adj1"/>
              <a:gd fmla="val 7086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plataforma (serviço) para escalar a execução de ferramentas de IA generativa como a DroidAugmentor?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eb859933cc_0_113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1eb859933cc_0_1133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como escalar?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895" name="Google Shape;895;g1eb859933cc_0_1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8900" y="3543000"/>
            <a:ext cx="1549300" cy="15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g1eb859933cc_0_1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8273" y="3992435"/>
            <a:ext cx="654800" cy="7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g1eb859933cc_0_1133"/>
          <p:cNvSpPr/>
          <p:nvPr/>
        </p:nvSpPr>
        <p:spPr>
          <a:xfrm>
            <a:off x="297600" y="1854100"/>
            <a:ext cx="4326300" cy="2441100"/>
          </a:xfrm>
          <a:prstGeom prst="wedgeEllipseCallout">
            <a:avLst>
              <a:gd fmla="val 66861" name="adj1"/>
              <a:gd fmla="val 1654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AutoDroid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solução modular para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escalar execução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ferramentas de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 generativa</a:t>
            </a:r>
            <a:endParaRPr b="1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8" name="Google Shape;898;g1eb859933cc_0_11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6826" y="2030450"/>
            <a:ext cx="1847973" cy="17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eb859933cc_0_27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1eb859933cc_0_277"/>
          <p:cNvSpPr txBox="1"/>
          <p:nvPr/>
        </p:nvSpPr>
        <p:spPr>
          <a:xfrm>
            <a:off x="297600" y="202150"/>
            <a:ext cx="716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AutoDroid</a:t>
            </a:r>
            <a:endParaRPr b="0" i="1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905" name="Google Shape;905;g1eb859933cc_0_2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39350"/>
            <a:ext cx="8839204" cy="3124797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g1eb859933cc_0_277"/>
          <p:cNvSpPr/>
          <p:nvPr/>
        </p:nvSpPr>
        <p:spPr>
          <a:xfrm>
            <a:off x="457775" y="1313475"/>
            <a:ext cx="8515500" cy="573600"/>
          </a:xfrm>
          <a:prstGeom prst="wedgeRoundRectCallout">
            <a:avLst>
              <a:gd fmla="val -24335" name="adj1"/>
              <a:gd fmla="val 83625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Arquitetura de microsserviços baseados em containers Docker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7" name="Google Shape;907;g1eb859933cc_0_2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2098" y="3516900"/>
            <a:ext cx="1545699" cy="15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g1eb859933cc_0_2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4473" y="3992435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1eb859933cc_0_114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1eb859933cc_0_1145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915" name="Google Shape;915;g1eb859933cc_0_1145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g1eb859933cc_0_1145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1eb859933cc_0_1145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1eb859933cc_0_1145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1eb859933cc_0_1145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1eb859933cc_0_1145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1eb859933cc_0_1145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1eb859933cc_0_1145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3" name="Google Shape;923;g1eb859933cc_0_1145"/>
          <p:cNvCxnSpPr>
            <a:endCxn id="916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4" name="Google Shape;924;g1eb859933cc_0_1145"/>
          <p:cNvCxnSpPr>
            <a:stCxn id="916" idx="3"/>
            <a:endCxn id="917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5" name="Google Shape;925;g1eb859933cc_0_1145"/>
          <p:cNvCxnSpPr>
            <a:stCxn id="917" idx="3"/>
            <a:endCxn id="918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6" name="Google Shape;926;g1eb859933cc_0_1145"/>
          <p:cNvCxnSpPr>
            <a:stCxn id="919" idx="3"/>
            <a:endCxn id="920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7" name="Google Shape;927;g1eb859933cc_0_1145"/>
          <p:cNvCxnSpPr>
            <a:stCxn id="920" idx="3"/>
            <a:endCxn id="921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8" name="Google Shape;928;g1eb859933cc_0_1145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9" name="Google Shape;929;g1eb859933cc_0_1145"/>
          <p:cNvCxnSpPr>
            <a:stCxn id="921" idx="2"/>
            <a:endCxn id="922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0" name="Google Shape;930;g1eb859933cc_0_1145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1eb859933cc_0_1145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1eb859933cc_0_1145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3" name="Google Shape;933;g1eb859933cc_0_1145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4" name="Google Shape;934;g1eb859933cc_0_1145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1eb859933cc_0_1145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1eb859933cc_0_1145"/>
          <p:cNvSpPr/>
          <p:nvPr/>
        </p:nvSpPr>
        <p:spPr>
          <a:xfrm>
            <a:off x="43525" y="1758900"/>
            <a:ext cx="2826900" cy="9756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1eb859933cc_0_1145"/>
          <p:cNvSpPr/>
          <p:nvPr/>
        </p:nvSpPr>
        <p:spPr>
          <a:xfrm>
            <a:off x="91000" y="3883700"/>
            <a:ext cx="4904100" cy="1133400"/>
          </a:xfrm>
          <a:prstGeom prst="wedgeRoundRectCallout">
            <a:avLst>
              <a:gd fmla="val -22259" name="adj1"/>
              <a:gd fmla="val -145410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: viabilizar aquisição e exploração extensiva de dados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1eb859933cc_0_117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1eb859933cc_0_1174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944" name="Google Shape;944;g1eb859933cc_0_1174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1eb859933cc_0_1174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1eb859933cc_0_1174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1eb859933cc_0_1174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1eb859933cc_0_1174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1eb859933cc_0_1174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1eb859933cc_0_1174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1eb859933cc_0_1174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2" name="Google Shape;952;g1eb859933cc_0_1174"/>
          <p:cNvCxnSpPr>
            <a:endCxn id="945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3" name="Google Shape;953;g1eb859933cc_0_1174"/>
          <p:cNvCxnSpPr>
            <a:stCxn id="945" idx="3"/>
            <a:endCxn id="946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4" name="Google Shape;954;g1eb859933cc_0_1174"/>
          <p:cNvCxnSpPr>
            <a:stCxn id="946" idx="3"/>
            <a:endCxn id="947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5" name="Google Shape;955;g1eb859933cc_0_1174"/>
          <p:cNvCxnSpPr>
            <a:stCxn id="948" idx="3"/>
            <a:endCxn id="949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6" name="Google Shape;956;g1eb859933cc_0_1174"/>
          <p:cNvCxnSpPr>
            <a:stCxn id="949" idx="3"/>
            <a:endCxn id="950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7" name="Google Shape;957;g1eb859933cc_0_1174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8" name="Google Shape;958;g1eb859933cc_0_1174"/>
          <p:cNvCxnSpPr>
            <a:stCxn id="950" idx="2"/>
            <a:endCxn id="951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9" name="Google Shape;959;g1eb859933cc_0_1174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1eb859933cc_0_1174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1eb859933cc_0_1174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2" name="Google Shape;962;g1eb859933cc_0_1174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3" name="Google Shape;963;g1eb859933cc_0_1174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1eb859933cc_0_1174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1eb859933cc_0_1174"/>
          <p:cNvSpPr/>
          <p:nvPr/>
        </p:nvSpPr>
        <p:spPr>
          <a:xfrm>
            <a:off x="2870125" y="1772975"/>
            <a:ext cx="1404300" cy="9615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1eb859933cc_0_1174"/>
          <p:cNvSpPr/>
          <p:nvPr/>
        </p:nvSpPr>
        <p:spPr>
          <a:xfrm>
            <a:off x="208575" y="3089475"/>
            <a:ext cx="3464100" cy="1901700"/>
          </a:xfrm>
          <a:prstGeom prst="wedgeRoundRectCallout">
            <a:avLst>
              <a:gd fmla="val 30213" name="adj1"/>
              <a:gd fmla="val -65877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Os cientistas de dados gastam 60% do seu tempo limpando e organizando dados.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1eb859933cc_0_1174"/>
          <p:cNvSpPr/>
          <p:nvPr/>
        </p:nvSpPr>
        <p:spPr>
          <a:xfrm>
            <a:off x="3810325" y="3112150"/>
            <a:ext cx="3464100" cy="1442100"/>
          </a:xfrm>
          <a:prstGeom prst="wedgeRoundRectCallout">
            <a:avLst>
              <a:gd fmla="val -40016" name="adj1"/>
              <a:gd fmla="val -73535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Há aspectos e detalhes técnicos específicos ao domínio?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eb859933cc_0_120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g1eb859933cc_0_1203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AutoML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Preparação dos Dados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974" name="Google Shape;974;g1eb859933cc_0_1203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Como as ferramentas de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AutoML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se comportam em um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domínio específico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?</a:t>
            </a:r>
            <a:endParaRPr b="0" i="0" sz="20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cxnSp>
        <p:nvCxnSpPr>
          <p:cNvPr id="975" name="Google Shape;975;g1eb859933cc_0_1203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eb859933cc_0_121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g1eb859933cc_0_1210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ferramentas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982" name="Google Shape;982;g1eb859933cc_0_12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6240" y="1735175"/>
            <a:ext cx="1611520" cy="16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g1eb859933cc_0_12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5600" y="3772725"/>
            <a:ext cx="2892799" cy="9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g1eb859933cc_0_12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7823" y="1735174"/>
            <a:ext cx="1521026" cy="163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g1eb859933cc_0_12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100" y="1571974"/>
            <a:ext cx="1870062" cy="163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1eb846a2d6f_0_15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g1eb846a2d6f_0_152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pré-processamento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992" name="Google Shape;992;g1eb846a2d6f_0_152"/>
          <p:cNvSpPr/>
          <p:nvPr/>
        </p:nvSpPr>
        <p:spPr>
          <a:xfrm>
            <a:off x="5519675" y="1859925"/>
            <a:ext cx="3268200" cy="2219100"/>
          </a:xfrm>
          <a:prstGeom prst="wedgeRoundRectCallout">
            <a:avLst>
              <a:gd fmla="val -73973" name="adj1"/>
              <a:gd fmla="val 31565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ferramentas de propósito geral falham ao tratar determinados tipos de dados / valores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1eb846a2d6f_0_152"/>
          <p:cNvSpPr txBox="1"/>
          <p:nvPr/>
        </p:nvSpPr>
        <p:spPr>
          <a:xfrm>
            <a:off x="-705325" y="2058213"/>
            <a:ext cx="64536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'Feature1': [1, 0, 1, 1],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'Feature2': [False, False, True, True],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'Feature3': [true, false, true, false],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'Downloads': [10, 100, 2, 9],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'Label': ['Mal', 'Ben', 'Ben', 'Mal'],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'SHA256': ['8994a47e0315feb75c1a9...]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eb846a2d6f_0_16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g1eb846a2d6f_0_160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pré-processamento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000" name="Google Shape;1000;g1eb846a2d6f_0_160"/>
          <p:cNvSpPr/>
          <p:nvPr/>
        </p:nvSpPr>
        <p:spPr>
          <a:xfrm>
            <a:off x="1722000" y="1542075"/>
            <a:ext cx="5552100" cy="846600"/>
          </a:xfrm>
          <a:prstGeom prst="wedgeRoundRectCallout">
            <a:avLst>
              <a:gd fmla="val -26123" name="adj1"/>
              <a:gd fmla="val 85436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combinar diferentes técnicas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g1eb846a2d6f_0_160"/>
          <p:cNvSpPr txBox="1"/>
          <p:nvPr/>
        </p:nvSpPr>
        <p:spPr>
          <a:xfrm>
            <a:off x="19175" y="2574675"/>
            <a:ext cx="8999700" cy="23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Combinar métodos de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abel encoding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 e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one-hot-encoder</a:t>
            </a:r>
            <a:endParaRPr b="0" i="1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  <a:extLst>
                <a:ext uri="http://customooxmlschemas.google.com/">
                  <go:slidesCustomData xmlns:go="http://customooxmlschemas.google.com/" textRoundtripDataId="3"/>
                </a:ext>
              </a:extLs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Identificar assinaturas criptográficas para remover duplicatas</a:t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  <a:extLst>
                <a:ext uri="http://customooxmlschemas.google.com/">
                  <go:slidesCustomData xmlns:go="http://customooxmlschemas.google.com/" textRoundtripDataId="5"/>
                </a:ext>
              </a:extLs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Remover assinaturas criptográficas</a:t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  <a:extLst>
                <a:ext uri="http://customooxmlschemas.google.com/">
                  <go:slidesCustomData xmlns:go="http://customooxmlschemas.google.com/" textRoundtripDataId="7"/>
                </a:ext>
              </a:extLs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Transformar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strings</a:t>
            </a: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 do tipo “true, false”</a:t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  <a:extLst>
                <a:ext uri="http://customooxmlschemas.google.com/">
                  <go:slidesCustomData xmlns:go="http://customooxmlschemas.google.com/" textRoundtripDataId="11"/>
                </a:ext>
              </a:extLs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Roboto"/>
              <a:buChar char="●"/>
            </a:pPr>
            <a:r>
              <a:rPr b="0" i="0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Identificar e transformar tipos de dados do </a:t>
            </a:r>
            <a:r>
              <a:rPr b="0" i="1" lang="pt-BR" sz="2400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dataset</a:t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1eb859933cc_0_124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g1eb859933cc_0_1242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008" name="Google Shape;1008;g1eb859933cc_0_1242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1eb859933cc_0_1242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g1eb859933cc_0_1242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g1eb859933cc_0_1242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g1eb859933cc_0_1242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g1eb859933cc_0_1242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g1eb859933cc_0_1242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g1eb859933cc_0_1242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6" name="Google Shape;1016;g1eb859933cc_0_1242"/>
          <p:cNvCxnSpPr>
            <a:endCxn id="1009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7" name="Google Shape;1017;g1eb859933cc_0_1242"/>
          <p:cNvCxnSpPr>
            <a:stCxn id="1009" idx="3"/>
            <a:endCxn id="1010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8" name="Google Shape;1018;g1eb859933cc_0_1242"/>
          <p:cNvCxnSpPr>
            <a:stCxn id="1010" idx="3"/>
            <a:endCxn id="1011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9" name="Google Shape;1019;g1eb859933cc_0_1242"/>
          <p:cNvCxnSpPr>
            <a:stCxn id="1012" idx="3"/>
            <a:endCxn id="1013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0" name="Google Shape;1020;g1eb859933cc_0_1242"/>
          <p:cNvCxnSpPr>
            <a:stCxn id="1013" idx="3"/>
            <a:endCxn id="1014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1" name="Google Shape;1021;g1eb859933cc_0_1242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2" name="Google Shape;1022;g1eb859933cc_0_1242"/>
          <p:cNvCxnSpPr>
            <a:stCxn id="1014" idx="2"/>
            <a:endCxn id="1015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3" name="Google Shape;1023;g1eb859933cc_0_1242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g1eb859933cc_0_1242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g1eb859933cc_0_1242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6" name="Google Shape;1026;g1eb859933cc_0_1242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7" name="Google Shape;1027;g1eb859933cc_0_1242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g1eb859933cc_0_1242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g1eb859933cc_0_1242"/>
          <p:cNvSpPr/>
          <p:nvPr/>
        </p:nvSpPr>
        <p:spPr>
          <a:xfrm>
            <a:off x="2870125" y="1772975"/>
            <a:ext cx="1404300" cy="9615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g1eb859933cc_0_1242"/>
          <p:cNvSpPr/>
          <p:nvPr/>
        </p:nvSpPr>
        <p:spPr>
          <a:xfrm>
            <a:off x="741975" y="3165675"/>
            <a:ext cx="3464100" cy="1545600"/>
          </a:xfrm>
          <a:prstGeom prst="wedgeRoundRectCallout">
            <a:avLst>
              <a:gd fmla="val 31067" name="adj1"/>
              <a:gd fmla="val -75422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Lição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: aplicar técnicas e modificações específicas ao domínio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eb859933cc_0_127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g1eb859933cc_0_1270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037" name="Google Shape;1037;g1eb859933cc_0_1270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1eb859933cc_0_1270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g1eb859933cc_0_1270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g1eb859933cc_0_1270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g1eb859933cc_0_1270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g1eb859933cc_0_1270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g1eb859933cc_0_1270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g1eb859933cc_0_1270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5" name="Google Shape;1045;g1eb859933cc_0_1270"/>
          <p:cNvCxnSpPr>
            <a:endCxn id="1038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6" name="Google Shape;1046;g1eb859933cc_0_1270"/>
          <p:cNvCxnSpPr>
            <a:stCxn id="1038" idx="3"/>
            <a:endCxn id="1039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7" name="Google Shape;1047;g1eb859933cc_0_1270"/>
          <p:cNvCxnSpPr>
            <a:stCxn id="1039" idx="3"/>
            <a:endCxn id="1040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8" name="Google Shape;1048;g1eb859933cc_0_1270"/>
          <p:cNvCxnSpPr>
            <a:stCxn id="1041" idx="3"/>
            <a:endCxn id="1042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9" name="Google Shape;1049;g1eb859933cc_0_1270"/>
          <p:cNvCxnSpPr>
            <a:stCxn id="1042" idx="3"/>
            <a:endCxn id="1043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0" name="Google Shape;1050;g1eb859933cc_0_1270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" name="Google Shape;1051;g1eb859933cc_0_1270"/>
          <p:cNvCxnSpPr>
            <a:stCxn id="1043" idx="2"/>
            <a:endCxn id="1044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2" name="Google Shape;1052;g1eb859933cc_0_1270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g1eb859933cc_0_1270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1eb859933cc_0_1270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5" name="Google Shape;1055;g1eb859933cc_0_1270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6" name="Google Shape;1056;g1eb859933cc_0_1270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g1eb859933cc_0_1270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1eb859933cc_0_1270"/>
          <p:cNvSpPr/>
          <p:nvPr/>
        </p:nvSpPr>
        <p:spPr>
          <a:xfrm>
            <a:off x="4317925" y="1772975"/>
            <a:ext cx="1634700" cy="9615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1eb859933cc_0_1270"/>
          <p:cNvSpPr/>
          <p:nvPr/>
        </p:nvSpPr>
        <p:spPr>
          <a:xfrm>
            <a:off x="2037375" y="3089475"/>
            <a:ext cx="3464100" cy="1243200"/>
          </a:xfrm>
          <a:prstGeom prst="wedgeRoundRectCallout">
            <a:avLst>
              <a:gd fmla="val 31067" name="adj1"/>
              <a:gd fmla="val -75422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Há métodos e técnicas específicas ao domínio?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1eb859933cc_0_129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g1eb859933cc_0_1299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AutoML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Engenharia de Características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066" name="Google Shape;1066;g1eb859933cc_0_1299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Foco inicial: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seleção de características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específica ao domínio e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transparência</a:t>
            </a:r>
            <a:endParaRPr b="1" i="0" sz="2000" u="none" cap="none" strike="noStrike">
              <a:solidFill>
                <a:schemeClr val="dk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cxnSp>
        <p:nvCxnSpPr>
          <p:cNvPr id="1067" name="Google Shape;1067;g1eb859933cc_0_1299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eb859933cc_0_33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g1eb859933cc_0_336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074" name="Google Shape;1074;g1eb859933cc_0_3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172" y="3540800"/>
            <a:ext cx="1875875" cy="15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g1eb859933cc_0_336"/>
          <p:cNvSpPr/>
          <p:nvPr/>
        </p:nvSpPr>
        <p:spPr>
          <a:xfrm>
            <a:off x="3139025" y="2734513"/>
            <a:ext cx="5135700" cy="2191200"/>
          </a:xfrm>
          <a:prstGeom prst="wedgeEllipseCallout">
            <a:avLst>
              <a:gd fmla="val -60853" name="adj1"/>
              <a:gd fmla="val 2848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o melhor?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avaliar métodos de seleção de características de forma sistemática?</a:t>
            </a:r>
            <a:endParaRPr b="0" i="0" sz="22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g1eb859933cc_0_336"/>
          <p:cNvSpPr/>
          <p:nvPr/>
        </p:nvSpPr>
        <p:spPr>
          <a:xfrm>
            <a:off x="2534975" y="1538475"/>
            <a:ext cx="5711400" cy="92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muitos métodos especializados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seleção de características.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1eb859933cc_0_147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1eb859933cc_0_1473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083" name="Google Shape;1083;g1eb859933cc_0_1473"/>
          <p:cNvSpPr/>
          <p:nvPr/>
        </p:nvSpPr>
        <p:spPr>
          <a:xfrm>
            <a:off x="76200" y="1354625"/>
            <a:ext cx="5135700" cy="2134200"/>
          </a:xfrm>
          <a:prstGeom prst="wedgeEllipseCallout">
            <a:avLst>
              <a:gd fmla="val 69159" name="adj1"/>
              <a:gd fmla="val 6060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avaliação sistemática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reprodutibilidade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métodos de seleção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4" name="Google Shape;1084;g1eb859933cc_0_14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2000" y="3564675"/>
            <a:ext cx="1537601" cy="15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g1eb859933cc_0_14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425" y="3566100"/>
            <a:ext cx="1537600" cy="1560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g1eb859933cc_0_14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5650" y="3576375"/>
            <a:ext cx="1537600" cy="15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g1eb859933cc_0_14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4473" y="4068635"/>
            <a:ext cx="654800" cy="7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g1eb859933cc_0_14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85289" y="1556712"/>
            <a:ext cx="1847973" cy="17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g1eb859933cc_0_14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7523" y="4068635"/>
            <a:ext cx="654800" cy="7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g1eb859933cc_0_14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373" y="4051685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1eb859933cc_0_34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1eb859933cc_0_348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097" name="Google Shape;1097;g1eb859933cc_0_3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5650" y="3576375"/>
            <a:ext cx="1537600" cy="15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g1eb859933cc_0_3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550" y="1056300"/>
            <a:ext cx="6300100" cy="41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g1eb859933cc_0_3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4473" y="4068635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1eb859933cc_0_35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g1eb859933cc_0_359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106" name="Google Shape;1106;g1eb859933cc_0_3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50" y="1056300"/>
            <a:ext cx="6300100" cy="41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g1eb859933cc_0_359"/>
          <p:cNvSpPr/>
          <p:nvPr/>
        </p:nvSpPr>
        <p:spPr>
          <a:xfrm>
            <a:off x="926150" y="1348038"/>
            <a:ext cx="7816200" cy="1145700"/>
          </a:xfrm>
          <a:prstGeom prst="wedgeRoundRectCallout">
            <a:avLst>
              <a:gd fmla="val -58174" name="adj1"/>
              <a:gd fmla="val 1730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 1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implementação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métodos de seleção de características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raramente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disponível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1eb859933cc_0_148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g1eb859933cc_0_1488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114" name="Google Shape;1114;g1eb859933cc_0_14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50" y="1056300"/>
            <a:ext cx="6300100" cy="41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g1eb859933cc_0_1488"/>
          <p:cNvSpPr/>
          <p:nvPr/>
        </p:nvSpPr>
        <p:spPr>
          <a:xfrm>
            <a:off x="926150" y="1348038"/>
            <a:ext cx="7816200" cy="1145700"/>
          </a:xfrm>
          <a:prstGeom prst="wedgeRoundRectCallout">
            <a:avLst>
              <a:gd fmla="val -58174" name="adj1"/>
              <a:gd fmla="val 1730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 1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implementação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métodos de seleção de características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raramente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disponível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g1eb859933cc_0_1488"/>
          <p:cNvSpPr/>
          <p:nvPr/>
        </p:nvSpPr>
        <p:spPr>
          <a:xfrm>
            <a:off x="926150" y="2643438"/>
            <a:ext cx="7816200" cy="1145700"/>
          </a:xfrm>
          <a:prstGeom prst="wedgeRoundRectCallout">
            <a:avLst>
              <a:gd fmla="val -58174" name="adj1"/>
              <a:gd fmla="val 1730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2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os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métodos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tipicamente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comparados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apenas com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técnicas clássicas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PCA, SQ)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seleção de características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1eb859933cc_0_149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g1eb859933cc_0_1498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123" name="Google Shape;1123;g1eb859933cc_0_14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50" y="1056300"/>
            <a:ext cx="6300100" cy="41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g1eb859933cc_0_1498"/>
          <p:cNvSpPr/>
          <p:nvPr/>
        </p:nvSpPr>
        <p:spPr>
          <a:xfrm>
            <a:off x="926150" y="1348038"/>
            <a:ext cx="7816200" cy="1145700"/>
          </a:xfrm>
          <a:prstGeom prst="wedgeRoundRectCallout">
            <a:avLst>
              <a:gd fmla="val -58174" name="adj1"/>
              <a:gd fmla="val 1730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 1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implementação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métodos de seleção de características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raramente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disponível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g1eb859933cc_0_1498"/>
          <p:cNvSpPr/>
          <p:nvPr/>
        </p:nvSpPr>
        <p:spPr>
          <a:xfrm>
            <a:off x="926150" y="2643438"/>
            <a:ext cx="7816200" cy="1145700"/>
          </a:xfrm>
          <a:prstGeom prst="wedgeRoundRectCallout">
            <a:avLst>
              <a:gd fmla="val -58174" name="adj1"/>
              <a:gd fmla="val 1730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2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os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métodos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tipicamente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comparados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apenas com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técnicas clássicas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PCA, SQ)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seleção de características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g1eb859933cc_0_1498"/>
          <p:cNvSpPr/>
          <p:nvPr/>
        </p:nvSpPr>
        <p:spPr>
          <a:xfrm>
            <a:off x="926150" y="3938838"/>
            <a:ext cx="7816200" cy="1145700"/>
          </a:xfrm>
          <a:prstGeom prst="wedgeRoundRectCallout">
            <a:avLst>
              <a:gd fmla="val -58174" name="adj1"/>
              <a:gd fmla="val 17301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3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os trabalhos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utilizam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apenas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poucos </a:t>
            </a:r>
            <a:r>
              <a:rPr b="1" i="1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avaliação e a maioria deles é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defasado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pouco representativo.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eb859933cc_0_37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g1eb859933cc_0_370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133" name="Google Shape;1133;g1eb859933cc_0_3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5650" y="3500175"/>
            <a:ext cx="1537600" cy="15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g1eb859933cc_0_3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550" y="980100"/>
            <a:ext cx="6300100" cy="41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g1eb859933cc_0_370"/>
          <p:cNvSpPr/>
          <p:nvPr/>
        </p:nvSpPr>
        <p:spPr>
          <a:xfrm>
            <a:off x="1056325" y="2788675"/>
            <a:ext cx="1488000" cy="984300"/>
          </a:xfrm>
          <a:prstGeom prst="donut">
            <a:avLst>
              <a:gd fmla="val 5338" name="adj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g1eb859933cc_0_370"/>
          <p:cNvSpPr/>
          <p:nvPr/>
        </p:nvSpPr>
        <p:spPr>
          <a:xfrm>
            <a:off x="2659825" y="1161725"/>
            <a:ext cx="2761800" cy="380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SigPID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SigAPI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JOWMDroid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FSDroid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SemiDroid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g1eb859933cc_0_370"/>
          <p:cNvSpPr/>
          <p:nvPr/>
        </p:nvSpPr>
        <p:spPr>
          <a:xfrm>
            <a:off x="1056325" y="4160275"/>
            <a:ext cx="1488000" cy="984300"/>
          </a:xfrm>
          <a:prstGeom prst="donut">
            <a:avLst>
              <a:gd fmla="val 5338" name="adj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8" name="Google Shape;1138;g1eb859933cc_0_3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4473" y="4068635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1eb859933cc_0_38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g1eb859933cc_0_384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145" name="Google Shape;1145;g1eb859933cc_0_3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50" y="980100"/>
            <a:ext cx="6300100" cy="41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g1eb859933cc_0_384"/>
          <p:cNvSpPr/>
          <p:nvPr/>
        </p:nvSpPr>
        <p:spPr>
          <a:xfrm>
            <a:off x="2902325" y="2774575"/>
            <a:ext cx="1488000" cy="984300"/>
          </a:xfrm>
          <a:prstGeom prst="donut">
            <a:avLst>
              <a:gd fmla="val 5338" name="adj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g1eb859933cc_0_384"/>
          <p:cNvSpPr/>
          <p:nvPr/>
        </p:nvSpPr>
        <p:spPr>
          <a:xfrm>
            <a:off x="376950" y="1562275"/>
            <a:ext cx="2824800" cy="12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g1eb859933cc_0_384"/>
          <p:cNvSpPr/>
          <p:nvPr/>
        </p:nvSpPr>
        <p:spPr>
          <a:xfrm>
            <a:off x="2902325" y="4159200"/>
            <a:ext cx="1488000" cy="984300"/>
          </a:xfrm>
          <a:prstGeom prst="donut">
            <a:avLst>
              <a:gd fmla="val 5338" name="adj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g1eb859933cc_0_384"/>
          <p:cNvSpPr/>
          <p:nvPr/>
        </p:nvSpPr>
        <p:spPr>
          <a:xfrm>
            <a:off x="4530588" y="3835075"/>
            <a:ext cx="2824800" cy="12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Métricas como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MCC, ROC AUC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1eb859933cc_0_39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1eb859933cc_0_395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156" name="Google Shape;1156;g1eb859933cc_0_3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50" y="980100"/>
            <a:ext cx="6300100" cy="41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g1eb859933cc_0_395"/>
          <p:cNvSpPr/>
          <p:nvPr/>
        </p:nvSpPr>
        <p:spPr>
          <a:xfrm>
            <a:off x="4731125" y="2774575"/>
            <a:ext cx="1488000" cy="984300"/>
          </a:xfrm>
          <a:prstGeom prst="donut">
            <a:avLst>
              <a:gd fmla="val 5338" name="adj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g1eb859933cc_0_395"/>
          <p:cNvSpPr/>
          <p:nvPr/>
        </p:nvSpPr>
        <p:spPr>
          <a:xfrm>
            <a:off x="1806075" y="2640175"/>
            <a:ext cx="2824800" cy="12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Bibliotecas de geração de gráficos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g1eb859933cc_0_395"/>
          <p:cNvSpPr/>
          <p:nvPr/>
        </p:nvSpPr>
        <p:spPr>
          <a:xfrm>
            <a:off x="4742600" y="4159200"/>
            <a:ext cx="1488000" cy="984300"/>
          </a:xfrm>
          <a:prstGeom prst="donut">
            <a:avLst>
              <a:gd fmla="val 5338" name="adj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g1eb859933cc_0_395"/>
          <p:cNvSpPr/>
          <p:nvPr/>
        </p:nvSpPr>
        <p:spPr>
          <a:xfrm>
            <a:off x="6319363" y="3758875"/>
            <a:ext cx="2824800" cy="12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Gráficos para visualização das métricas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1eb859933cc_0_40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g1eb859933cc_0_406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graphicFrame>
        <p:nvGraphicFramePr>
          <p:cNvPr id="1167" name="Google Shape;1167;g1eb859933cc_0_406"/>
          <p:cNvGraphicFramePr/>
          <p:nvPr/>
        </p:nvGraphicFramePr>
        <p:xfrm>
          <a:off x="50106" y="13965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{0884D208-1C20-4E25-95DE-A7844D65D1D9}</a:tableStyleId>
              </a:tblPr>
              <a:tblGrid>
                <a:gridCol w="2138350"/>
                <a:gridCol w="1978500"/>
                <a:gridCol w="1470600"/>
                <a:gridCol w="1090650"/>
                <a:gridCol w="2365700"/>
              </a:tblGrid>
              <a:tr h="45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Dataset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Tipo Carac.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Amostras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Cars.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% M / B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Adroit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 11476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166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29.8 / 70.2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Androcrawl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I, CAPI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96732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141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10.5 / 89.5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8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Android_Per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26864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151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66.21 / 33.79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54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200" u="none" cap="none" strike="noStrike"/>
                        <a:t>DefenseDroid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I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11975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2938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50.1 / 49.9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200" u="none" cap="none" strike="noStrike"/>
                        <a:t>Drebin-215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CAPI, CS, I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15036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215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37 / 63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KronoDroid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CS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78137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383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53 / 47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1eb859933cc_0_41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g1eb859933cc_0_418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graphicFrame>
        <p:nvGraphicFramePr>
          <p:cNvPr id="1174" name="Google Shape;1174;g1eb859933cc_0_418"/>
          <p:cNvGraphicFramePr/>
          <p:nvPr/>
        </p:nvGraphicFramePr>
        <p:xfrm>
          <a:off x="50106" y="13965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{0884D208-1C20-4E25-95DE-A7844D65D1D9}</a:tableStyleId>
              </a:tblPr>
              <a:tblGrid>
                <a:gridCol w="2138350"/>
                <a:gridCol w="1978500"/>
                <a:gridCol w="1470600"/>
                <a:gridCol w="1090650"/>
                <a:gridCol w="2365700"/>
              </a:tblGrid>
              <a:tr h="45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Dataset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Tipo Carac.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Amostras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Cars.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% M / B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Adroit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 11476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166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29.8 / 70.2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Androcrawl</a:t>
                      </a:r>
                      <a:endParaRPr b="1"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P, I, CAPI</a:t>
                      </a:r>
                      <a:endParaRPr b="1"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96732</a:t>
                      </a:r>
                      <a:endParaRPr b="1"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141</a:t>
                      </a:r>
                      <a:endParaRPr b="1"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10.5 / 89.5</a:t>
                      </a:r>
                      <a:endParaRPr b="1"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8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FF0000"/>
                          </a:solidFill>
                        </a:rPr>
                        <a:t>Android_Per</a:t>
                      </a:r>
                      <a:endParaRPr b="1" sz="2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FF0000"/>
                          </a:solidFill>
                        </a:rPr>
                        <a:t>P</a:t>
                      </a:r>
                      <a:endParaRPr b="1" sz="2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FF0000"/>
                          </a:solidFill>
                        </a:rPr>
                        <a:t>26864</a:t>
                      </a:r>
                      <a:endParaRPr b="1" sz="2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FF0000"/>
                          </a:solidFill>
                        </a:rPr>
                        <a:t>151</a:t>
                      </a:r>
                      <a:endParaRPr b="1" sz="2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FF0000"/>
                          </a:solidFill>
                        </a:rPr>
                        <a:t>66.21 / 33.79</a:t>
                      </a:r>
                      <a:endParaRPr b="1" sz="2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54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38761D"/>
                          </a:solidFill>
                        </a:rPr>
                        <a:t>DefenseDroid</a:t>
                      </a:r>
                      <a:endParaRPr b="1" sz="22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38761D"/>
                          </a:solidFill>
                        </a:rPr>
                        <a:t>P, I</a:t>
                      </a:r>
                      <a:endParaRPr b="1" sz="22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38761D"/>
                          </a:solidFill>
                        </a:rPr>
                        <a:t>11975</a:t>
                      </a:r>
                      <a:endParaRPr b="1" sz="22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38761D"/>
                          </a:solidFill>
                        </a:rPr>
                        <a:t>2938</a:t>
                      </a:r>
                      <a:endParaRPr b="1" sz="22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>
                          <a:solidFill>
                            <a:srgbClr val="38761D"/>
                          </a:solidFill>
                        </a:rPr>
                        <a:t>50.1 / 49.9</a:t>
                      </a:r>
                      <a:endParaRPr b="1" sz="22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200" u="none" cap="none" strike="noStrike"/>
                        <a:t>Drebin-215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CAPI, CS, I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15036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215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37 / 63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KronoDroid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CS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78137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383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53 / 47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175" name="Google Shape;1175;g1eb859933cc_0_418"/>
          <p:cNvSpPr/>
          <p:nvPr/>
        </p:nvSpPr>
        <p:spPr>
          <a:xfrm>
            <a:off x="6728200" y="1396500"/>
            <a:ext cx="2362500" cy="36591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g1eb859933cc_0_418"/>
          <p:cNvSpPr/>
          <p:nvPr/>
        </p:nvSpPr>
        <p:spPr>
          <a:xfrm>
            <a:off x="2264650" y="2215125"/>
            <a:ext cx="4200600" cy="2199000"/>
          </a:xfrm>
          <a:prstGeom prst="wedgeRoundRectCallout">
            <a:avLst>
              <a:gd fmla="val 54696" name="adj1"/>
              <a:gd fmla="val 14984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desbalanceados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pt-BR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com desbalanceamento </a:t>
            </a:r>
            <a:r>
              <a:rPr b="1" i="0" lang="pt-BR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inverso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pt-BR" sz="2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balanceados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1eb859933cc_0_42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g1eb859933cc_0_426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graphicFrame>
        <p:nvGraphicFramePr>
          <p:cNvPr id="1183" name="Google Shape;1183;g1eb859933cc_0_426"/>
          <p:cNvGraphicFramePr/>
          <p:nvPr/>
        </p:nvGraphicFramePr>
        <p:xfrm>
          <a:off x="176319" y="13522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{0884D208-1C20-4E25-95DE-A7844D65D1D9}</a:tableStyleId>
              </a:tblPr>
              <a:tblGrid>
                <a:gridCol w="2107850"/>
                <a:gridCol w="1135725"/>
                <a:gridCol w="892025"/>
                <a:gridCol w="1751075"/>
                <a:gridCol w="1048225"/>
                <a:gridCol w="1856450"/>
              </a:tblGrid>
              <a:tr h="83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Dataset</a:t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Recall</a:t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MCC</a:t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ROC AUC</a:t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# Car.</a:t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000000"/>
                          </a:solidFill>
                        </a:rPr>
                        <a:t>% R.</a:t>
                      </a:r>
                      <a:endParaRPr sz="2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Adroit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70.22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0.73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83.69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29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82.63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</a:tr>
              <a:tr h="46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Androcrawl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89.76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0.91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94.56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29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79.58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</a:tr>
              <a:tr h="72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/>
                        <a:t>DefenseDroid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85.05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0.77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88.57 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32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98.89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</a:tr>
              <a:tr h="5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/>
                        <a:t>Drebin-215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88.03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0.87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92.59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20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90.74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KronoDroid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93.92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0.85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92.57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/>
                        <a:t>32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/>
                        <a:t>88.85</a:t>
                      </a:r>
                      <a:endParaRPr b="1" sz="2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184" name="Google Shape;1184;g1eb859933cc_0_426"/>
          <p:cNvSpPr/>
          <p:nvPr/>
        </p:nvSpPr>
        <p:spPr>
          <a:xfrm>
            <a:off x="1622375" y="1353600"/>
            <a:ext cx="2537100" cy="3553500"/>
          </a:xfrm>
          <a:prstGeom prst="wedgeRoundRectCallout">
            <a:avLst>
              <a:gd fmla="val 62616" name="adj1"/>
              <a:gd fmla="val 14747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FSDroid e SemiDroid atingem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ltas taxas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redução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boas taxas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g1eb859933cc_0_426"/>
          <p:cNvSpPr/>
          <p:nvPr/>
        </p:nvSpPr>
        <p:spPr>
          <a:xfrm>
            <a:off x="7111225" y="1502175"/>
            <a:ext cx="1861200" cy="35535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g1eb859933cc_0_426"/>
          <p:cNvSpPr/>
          <p:nvPr/>
        </p:nvSpPr>
        <p:spPr>
          <a:xfrm>
            <a:off x="4441725" y="1502175"/>
            <a:ext cx="1621200" cy="35535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1eb859933cc_0_44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g1eb859933cc_0_447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graphicFrame>
        <p:nvGraphicFramePr>
          <p:cNvPr id="1193" name="Google Shape;1193;g1eb859933cc_0_447"/>
          <p:cNvGraphicFramePr/>
          <p:nvPr/>
        </p:nvGraphicFramePr>
        <p:xfrm>
          <a:off x="50106" y="13965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{0884D208-1C20-4E25-95DE-A7844D65D1D9}</a:tableStyleId>
              </a:tblPr>
              <a:tblGrid>
                <a:gridCol w="2138350"/>
                <a:gridCol w="1978500"/>
                <a:gridCol w="1470600"/>
                <a:gridCol w="1090650"/>
                <a:gridCol w="2365700"/>
              </a:tblGrid>
              <a:tr h="45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Dataset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Tipo Carac.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Amostras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Cars.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% M / B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Adroit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 11476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166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29.8 / 70.2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Androcrawl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I, CAPI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96732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141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10.5 / 89.5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8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Android_Per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26864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151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66.21 / 33.79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54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200" u="none" cap="none" strike="noStrike"/>
                        <a:t>DefeseDroid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I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11975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2938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50.1 / 49.9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200" u="none" cap="none" strike="noStrike"/>
                        <a:t>Drebin-215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CAPI, CS, I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15036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215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37 / 63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49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KronoDroid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P, CS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78137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383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pt-BR" sz="2200" u="none" cap="none" strike="noStrike"/>
                        <a:t>53 / 47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1194" name="Google Shape;1194;g1eb859933cc_0_4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4622" y="2274025"/>
            <a:ext cx="2336152" cy="2353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</p:pic>
      <p:sp>
        <p:nvSpPr>
          <p:cNvPr id="1195" name="Google Shape;1195;g1eb859933cc_0_447"/>
          <p:cNvSpPr/>
          <p:nvPr/>
        </p:nvSpPr>
        <p:spPr>
          <a:xfrm>
            <a:off x="1149475" y="2434325"/>
            <a:ext cx="2857800" cy="1634400"/>
          </a:xfrm>
          <a:prstGeom prst="wedgeRoundRectCallout">
            <a:avLst>
              <a:gd fmla="val 82607" name="adj1"/>
              <a:gd fmla="val 1504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Comparação detalhada entre os métodos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6" name="Google Shape;1196;g1eb859933cc_0_4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7773" y="3226160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1eb859933cc_0_45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g1eb859933cc_0_456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graphicFrame>
        <p:nvGraphicFramePr>
          <p:cNvPr id="1203" name="Google Shape;1203;g1eb859933cc_0_456"/>
          <p:cNvGraphicFramePr/>
          <p:nvPr/>
        </p:nvGraphicFramePr>
        <p:xfrm>
          <a:off x="406563" y="175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{86F2B583-A35F-4F6F-97DF-5F98447E5283}</a:tableStyleId>
              </a:tblPr>
              <a:tblGrid>
                <a:gridCol w="1666175"/>
                <a:gridCol w="1666175"/>
                <a:gridCol w="1666175"/>
                <a:gridCol w="1666175"/>
                <a:gridCol w="1666175"/>
              </a:tblGrid>
              <a:tr h="30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PCA %</a:t>
                      </a:r>
                      <a:endParaRPr b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# car.</a:t>
                      </a:r>
                      <a:endParaRPr b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Acurácia</a:t>
                      </a:r>
                      <a:endParaRPr b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1" lang="pt-BR" sz="2200" u="none" cap="none" strike="noStrike"/>
                        <a:t>Recall</a:t>
                      </a:r>
                      <a:endParaRPr b="1" i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AUC</a:t>
                      </a:r>
                      <a:endParaRPr b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5%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10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89.40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86.18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93.33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10%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20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89.40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86.18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93.33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20%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41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89.40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86.18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93.33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30%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62</a:t>
                      </a:r>
                      <a:endParaRPr b="1"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95.52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93.23</a:t>
                      </a:r>
                      <a:endParaRPr b="1"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98.68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40%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83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97.10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95.19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99.45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50%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104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97.37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94.74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99.61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4" name="Google Shape;1204;g1eb859933cc_0_456"/>
          <p:cNvGraphicFramePr/>
          <p:nvPr/>
        </p:nvGraphicFramePr>
        <p:xfrm>
          <a:off x="406575" y="457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{86F2B583-A35F-4F6F-97DF-5F98447E5283}</a:tableStyleId>
              </a:tblPr>
              <a:tblGrid>
                <a:gridCol w="1666175"/>
                <a:gridCol w="1666175"/>
                <a:gridCol w="1666175"/>
                <a:gridCol w="1666175"/>
                <a:gridCol w="1666175"/>
              </a:tblGrid>
              <a:tr h="49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FSDroid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62</a:t>
                      </a:r>
                      <a:endParaRPr b="1"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98.23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96.95</a:t>
                      </a:r>
                      <a:endParaRPr b="1"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97.96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205" name="Google Shape;1205;g1eb859933cc_0_456"/>
          <p:cNvSpPr/>
          <p:nvPr/>
        </p:nvSpPr>
        <p:spPr>
          <a:xfrm>
            <a:off x="758025" y="1171225"/>
            <a:ext cx="7258500" cy="489900"/>
          </a:xfrm>
          <a:prstGeom prst="wedgeRoundRectCallout">
            <a:avLst>
              <a:gd fmla="val 16551" name="adj1"/>
              <a:gd fmla="val 66780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Drebin-251 e FSDroid com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30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1eb859933cc_0_151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g1eb859933cc_0_1510"/>
          <p:cNvSpPr txBox="1"/>
          <p:nvPr/>
        </p:nvSpPr>
        <p:spPr>
          <a:xfrm>
            <a:off x="297600" y="202150"/>
            <a:ext cx="7258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FS3E (v2): seleção de características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graphicFrame>
        <p:nvGraphicFramePr>
          <p:cNvPr id="1212" name="Google Shape;1212;g1eb859933cc_0_1510"/>
          <p:cNvGraphicFramePr/>
          <p:nvPr/>
        </p:nvGraphicFramePr>
        <p:xfrm>
          <a:off x="406563" y="175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{86F2B583-A35F-4F6F-97DF-5F98447E5283}</a:tableStyleId>
              </a:tblPr>
              <a:tblGrid>
                <a:gridCol w="1666175"/>
                <a:gridCol w="1666175"/>
                <a:gridCol w="1666175"/>
                <a:gridCol w="1666175"/>
                <a:gridCol w="1666175"/>
              </a:tblGrid>
              <a:tr h="30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PCA %</a:t>
                      </a:r>
                      <a:endParaRPr b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# car.</a:t>
                      </a:r>
                      <a:endParaRPr b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Acurácia</a:t>
                      </a:r>
                      <a:endParaRPr b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1" lang="pt-BR" sz="2200" u="none" cap="none" strike="noStrike"/>
                        <a:t>Recall</a:t>
                      </a:r>
                      <a:endParaRPr b="1" i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pt-BR" sz="2200" u="none" cap="none" strike="noStrike"/>
                        <a:t>AUC</a:t>
                      </a:r>
                      <a:endParaRPr b="1" sz="2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5%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10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89.40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86.18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93.33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10%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20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89.40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86.18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93.33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20%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41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89.40</a:t>
                      </a:r>
                      <a:endParaRPr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86.18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00"/>
                          </a:solidFill>
                        </a:rPr>
                        <a:t>93.33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30%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62</a:t>
                      </a:r>
                      <a:endParaRPr b="1"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95.52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93.23</a:t>
                      </a:r>
                      <a:endParaRPr b="1"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98.68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40%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83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97.10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95.19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99.45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50%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104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97.37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94.74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99.61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3" name="Google Shape;1213;g1eb859933cc_0_1510"/>
          <p:cNvGraphicFramePr/>
          <p:nvPr/>
        </p:nvGraphicFramePr>
        <p:xfrm>
          <a:off x="406575" y="457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{86F2B583-A35F-4F6F-97DF-5F98447E5283}</a:tableStyleId>
              </a:tblPr>
              <a:tblGrid>
                <a:gridCol w="1666175"/>
                <a:gridCol w="1666175"/>
                <a:gridCol w="1666175"/>
                <a:gridCol w="1666175"/>
                <a:gridCol w="1666175"/>
              </a:tblGrid>
              <a:tr h="49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FSDroid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62</a:t>
                      </a:r>
                      <a:endParaRPr b="1"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98.23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/>
                        <a:t>96.95</a:t>
                      </a:r>
                      <a:endParaRPr b="1"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97.96</a:t>
                      </a:r>
                      <a:endParaRPr sz="20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214" name="Google Shape;1214;g1eb859933cc_0_1510"/>
          <p:cNvSpPr/>
          <p:nvPr/>
        </p:nvSpPr>
        <p:spPr>
          <a:xfrm>
            <a:off x="256975" y="2894050"/>
            <a:ext cx="6471000" cy="1341900"/>
          </a:xfrm>
          <a:prstGeom prst="wedgeRoundRectCallout">
            <a:avLst>
              <a:gd fmla="val -36802" name="adj1"/>
              <a:gd fmla="val -10309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andamento): incorporar também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técnicas clássicas no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(FS3E)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métodos de seleção de características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1eb859933cc_0_136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g1eb859933cc_0_136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221" name="Google Shape;1221;g1eb859933cc_0_1363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g1eb859933cc_0_1363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g1eb859933cc_0_1363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g1eb859933cc_0_1363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g1eb859933cc_0_1363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g1eb859933cc_0_1363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g1eb859933cc_0_1363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g1eb859933cc_0_1363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9" name="Google Shape;1229;g1eb859933cc_0_1363"/>
          <p:cNvCxnSpPr>
            <a:endCxn id="1222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0" name="Google Shape;1230;g1eb859933cc_0_1363"/>
          <p:cNvCxnSpPr>
            <a:stCxn id="1222" idx="3"/>
            <a:endCxn id="1223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1" name="Google Shape;1231;g1eb859933cc_0_1363"/>
          <p:cNvCxnSpPr>
            <a:stCxn id="1223" idx="3"/>
            <a:endCxn id="1224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2" name="Google Shape;1232;g1eb859933cc_0_1363"/>
          <p:cNvCxnSpPr>
            <a:stCxn id="1225" idx="3"/>
            <a:endCxn id="1226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3" name="Google Shape;1233;g1eb859933cc_0_1363"/>
          <p:cNvCxnSpPr>
            <a:stCxn id="1226" idx="3"/>
            <a:endCxn id="1227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4" name="Google Shape;1234;g1eb859933cc_0_1363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5" name="Google Shape;1235;g1eb859933cc_0_1363"/>
          <p:cNvCxnSpPr>
            <a:stCxn id="1227" idx="2"/>
            <a:endCxn id="1228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6" name="Google Shape;1236;g1eb859933cc_0_1363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g1eb859933cc_0_1363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g1eb859933cc_0_1363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9" name="Google Shape;1239;g1eb859933cc_0_1363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0" name="Google Shape;1240;g1eb859933cc_0_1363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g1eb859933cc_0_1363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g1eb859933cc_0_1363"/>
          <p:cNvSpPr/>
          <p:nvPr/>
        </p:nvSpPr>
        <p:spPr>
          <a:xfrm>
            <a:off x="4317925" y="1758900"/>
            <a:ext cx="1634700" cy="9756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g1eb859933cc_0_1363"/>
          <p:cNvSpPr/>
          <p:nvPr/>
        </p:nvSpPr>
        <p:spPr>
          <a:xfrm>
            <a:off x="948875" y="3241875"/>
            <a:ext cx="5285400" cy="1650300"/>
          </a:xfrm>
          <a:prstGeom prst="wedgeRoundRectCallout">
            <a:avLst>
              <a:gd fmla="val 26811" name="adj1"/>
              <a:gd fmla="val -7818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Lição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AutoML de propósito geral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raramente incorporam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recursos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específicos ao domínio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1eb859933cc_0_134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g1eb859933cc_0_1347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transparência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250" name="Google Shape;1250;g1eb859933cc_0_1347"/>
          <p:cNvSpPr/>
          <p:nvPr/>
        </p:nvSpPr>
        <p:spPr>
          <a:xfrm>
            <a:off x="3113675" y="2191775"/>
            <a:ext cx="3089100" cy="143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Black Box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g1eb859933cc_0_1347"/>
          <p:cNvSpPr/>
          <p:nvPr/>
        </p:nvSpPr>
        <p:spPr>
          <a:xfrm>
            <a:off x="2064300" y="2721525"/>
            <a:ext cx="813000" cy="50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g1eb859933cc_0_1347"/>
          <p:cNvSpPr txBox="1"/>
          <p:nvPr/>
        </p:nvSpPr>
        <p:spPr>
          <a:xfrm>
            <a:off x="224650" y="2687375"/>
            <a:ext cx="1630500" cy="61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g1eb859933cc_0_1347"/>
          <p:cNvSpPr/>
          <p:nvPr/>
        </p:nvSpPr>
        <p:spPr>
          <a:xfrm>
            <a:off x="6422100" y="2721525"/>
            <a:ext cx="813000" cy="50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g1eb859933cc_0_1347"/>
          <p:cNvSpPr txBox="1"/>
          <p:nvPr/>
        </p:nvSpPr>
        <p:spPr>
          <a:xfrm>
            <a:off x="7454425" y="2634975"/>
            <a:ext cx="1389300" cy="6156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g1eb859933cc_0_1347"/>
          <p:cNvSpPr txBox="1"/>
          <p:nvPr/>
        </p:nvSpPr>
        <p:spPr>
          <a:xfrm>
            <a:off x="3428975" y="3549275"/>
            <a:ext cx="245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AutoML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1eb859933cc_0_154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g1eb859933cc_0_1546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transparência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262" name="Google Shape;1262;g1eb859933cc_0_15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591125"/>
            <a:ext cx="6344356" cy="35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g1eb859933cc_0_1546"/>
          <p:cNvSpPr/>
          <p:nvPr/>
        </p:nvSpPr>
        <p:spPr>
          <a:xfrm>
            <a:off x="3673475" y="3897775"/>
            <a:ext cx="5348100" cy="1189500"/>
          </a:xfrm>
          <a:prstGeom prst="wedgeRoundRectCallout">
            <a:avLst>
              <a:gd fmla="val -63829" name="adj1"/>
              <a:gd fmla="val 13974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qual foi o conjunto de características gerado e/ou selecionado?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1eb859933cc_0_135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g1eb859933cc_0_1354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transparência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270" name="Google Shape;1270;g1eb859933cc_0_13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591125"/>
            <a:ext cx="6344356" cy="35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g1eb859933cc_0_1354"/>
          <p:cNvSpPr/>
          <p:nvPr/>
        </p:nvSpPr>
        <p:spPr>
          <a:xfrm>
            <a:off x="3673475" y="3822150"/>
            <a:ext cx="5348100" cy="1265100"/>
          </a:xfrm>
          <a:prstGeom prst="wedgeRoundRectCallout">
            <a:avLst>
              <a:gd fmla="val -62531" name="adj1"/>
              <a:gd fmla="val 17761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modificar as ferramentas para registrar e visualizar os conjuntos de características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2" name="Google Shape;1272;g1eb859933cc_0_13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2772750"/>
            <a:ext cx="8686800" cy="10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g1eb859933cc_0_13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1553550"/>
            <a:ext cx="8686800" cy="10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1eb859933cc_0_151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g1eb859933cc_0_1518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280" name="Google Shape;1280;g1eb859933cc_0_1518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g1eb859933cc_0_1518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g1eb859933cc_0_1518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g1eb859933cc_0_1518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g1eb859933cc_0_1518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g1eb859933cc_0_1518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g1eb859933cc_0_1518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g1eb859933cc_0_1518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8" name="Google Shape;1288;g1eb859933cc_0_1518"/>
          <p:cNvCxnSpPr>
            <a:endCxn id="1281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9" name="Google Shape;1289;g1eb859933cc_0_1518"/>
          <p:cNvCxnSpPr>
            <a:stCxn id="1281" idx="3"/>
            <a:endCxn id="1282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0" name="Google Shape;1290;g1eb859933cc_0_1518"/>
          <p:cNvCxnSpPr>
            <a:stCxn id="1282" idx="3"/>
            <a:endCxn id="1283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1" name="Google Shape;1291;g1eb859933cc_0_1518"/>
          <p:cNvCxnSpPr>
            <a:stCxn id="1284" idx="3"/>
            <a:endCxn id="1285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2" name="Google Shape;1292;g1eb859933cc_0_1518"/>
          <p:cNvCxnSpPr>
            <a:stCxn id="1285" idx="3"/>
            <a:endCxn id="1286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3" name="Google Shape;1293;g1eb859933cc_0_1518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4" name="Google Shape;1294;g1eb859933cc_0_1518"/>
          <p:cNvCxnSpPr>
            <a:stCxn id="1286" idx="2"/>
            <a:endCxn id="1287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5" name="Google Shape;1295;g1eb859933cc_0_1518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g1eb859933cc_0_1518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g1eb859933cc_0_1518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8" name="Google Shape;1298;g1eb859933cc_0_1518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9" name="Google Shape;1299;g1eb859933cc_0_1518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g1eb859933cc_0_1518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g1eb859933cc_0_1518"/>
          <p:cNvSpPr/>
          <p:nvPr/>
        </p:nvSpPr>
        <p:spPr>
          <a:xfrm>
            <a:off x="4317925" y="1758900"/>
            <a:ext cx="1634700" cy="9756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g1eb859933cc_0_1518"/>
          <p:cNvSpPr/>
          <p:nvPr/>
        </p:nvSpPr>
        <p:spPr>
          <a:xfrm>
            <a:off x="948875" y="3241875"/>
            <a:ext cx="5285400" cy="1650300"/>
          </a:xfrm>
          <a:prstGeom prst="wedgeRoundRectCallout">
            <a:avLst>
              <a:gd fmla="val 26811" name="adj1"/>
              <a:gd fmla="val -7818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Lição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AutoML de propósito geral </a:t>
            </a:r>
            <a:r>
              <a:rPr b="1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raramente incorporam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etapas como engenharia de características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1eb859933cc_0_156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g1eb859933cc_0_1560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309" name="Google Shape;1309;g1eb859933cc_0_1560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g1eb859933cc_0_1560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g1eb859933cc_0_1560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g1eb859933cc_0_1560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g1eb859933cc_0_1560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g1eb859933cc_0_1560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g1eb859933cc_0_1560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g1eb859933cc_0_1560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7" name="Google Shape;1317;g1eb859933cc_0_1560"/>
          <p:cNvCxnSpPr>
            <a:endCxn id="1310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8" name="Google Shape;1318;g1eb859933cc_0_1560"/>
          <p:cNvCxnSpPr>
            <a:stCxn id="1310" idx="3"/>
            <a:endCxn id="1311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9" name="Google Shape;1319;g1eb859933cc_0_1560"/>
          <p:cNvCxnSpPr>
            <a:stCxn id="1311" idx="3"/>
            <a:endCxn id="1312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0" name="Google Shape;1320;g1eb859933cc_0_1560"/>
          <p:cNvCxnSpPr>
            <a:stCxn id="1313" idx="3"/>
            <a:endCxn id="1314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1" name="Google Shape;1321;g1eb859933cc_0_1560"/>
          <p:cNvCxnSpPr>
            <a:stCxn id="1314" idx="3"/>
            <a:endCxn id="1315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2" name="Google Shape;1322;g1eb859933cc_0_1560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3" name="Google Shape;1323;g1eb859933cc_0_1560"/>
          <p:cNvCxnSpPr>
            <a:stCxn id="1315" idx="2"/>
            <a:endCxn id="1316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4" name="Google Shape;1324;g1eb859933cc_0_1560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g1eb859933cc_0_1560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g1eb859933cc_0_1560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7" name="Google Shape;1327;g1eb859933cc_0_1560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8" name="Google Shape;1328;g1eb859933cc_0_1560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g1eb859933cc_0_1560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g1eb859933cc_0_1560"/>
          <p:cNvSpPr/>
          <p:nvPr/>
        </p:nvSpPr>
        <p:spPr>
          <a:xfrm>
            <a:off x="4274425" y="2900200"/>
            <a:ext cx="2911800" cy="9756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g1eb859933cc_0_1560"/>
          <p:cNvSpPr/>
          <p:nvPr/>
        </p:nvSpPr>
        <p:spPr>
          <a:xfrm>
            <a:off x="1105125" y="3111175"/>
            <a:ext cx="2524800" cy="1676400"/>
          </a:xfrm>
          <a:prstGeom prst="wedgeRoundRectCallout">
            <a:avLst>
              <a:gd fmla="val 74539" name="adj1"/>
              <a:gd fmla="val -3186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Próximo estágio: seleção e treinamento dos modelos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1eb859933cc_0_159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g1eb859933cc_0_1590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AutoML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Seleção e Treinamento de Modelos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338" name="Google Shape;1338;g1eb859933cc_0_1590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Foco inicial: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complexidade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,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comportamento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e otimização de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hiperparâmetros</a:t>
            </a:r>
            <a:endParaRPr b="1" i="0" sz="2000" u="none" cap="none" strike="noStrike">
              <a:solidFill>
                <a:schemeClr val="dk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cxnSp>
        <p:nvCxnSpPr>
          <p:cNvPr id="1339" name="Google Shape;1339;g1eb859933cc_0_1590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1eb859933cc_0_209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g1eb859933cc_0_2093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complexidade dos modelos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346" name="Google Shape;1346;g1eb859933cc_0_2093"/>
          <p:cNvSpPr txBox="1"/>
          <p:nvPr/>
        </p:nvSpPr>
        <p:spPr>
          <a:xfrm>
            <a:off x="19175" y="2346075"/>
            <a:ext cx="86502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7" name="Google Shape;1347;g1eb859933cc_0_2093"/>
          <p:cNvSpPr/>
          <p:nvPr/>
        </p:nvSpPr>
        <p:spPr>
          <a:xfrm>
            <a:off x="196975" y="1547075"/>
            <a:ext cx="6809400" cy="846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pt-BR" sz="3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Top 10 Reasons Why AI Projects Fail</a:t>
            </a:r>
            <a:endParaRPr b="0" i="0" sz="34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8" name="Google Shape;1348;g1eb859933cc_0_2093"/>
          <p:cNvSpPr/>
          <p:nvPr/>
        </p:nvSpPr>
        <p:spPr>
          <a:xfrm>
            <a:off x="196975" y="3077325"/>
            <a:ext cx="4977600" cy="151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Underestimating time and cost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data component of AI projects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9" name="Google Shape;1349;g1eb859933cc_0_20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2030" y="3628125"/>
            <a:ext cx="628220" cy="7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g1eb859933cc_0_20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9075" y="3034225"/>
            <a:ext cx="1692150" cy="17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g1eb859933cc_0_2093"/>
          <p:cNvSpPr/>
          <p:nvPr/>
        </p:nvSpPr>
        <p:spPr>
          <a:xfrm>
            <a:off x="7294000" y="1561675"/>
            <a:ext cx="1692300" cy="1372200"/>
          </a:xfrm>
          <a:prstGeom prst="wedgeRoundRectCallout">
            <a:avLst>
              <a:gd fmla="val 14118" name="adj1"/>
              <a:gd fmla="val 98909" name="adj2"/>
              <a:gd fmla="val 0" name="adj3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85% dos projetos de ML falham</a:t>
            </a:r>
            <a:endParaRPr b="0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2" name="Google Shape;1352;g1eb859933cc_0_20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0049" y="3689866"/>
            <a:ext cx="1126950" cy="875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1eb846a2d6f_0_20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g1eb846a2d6f_0_206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complexidade dos modelos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359" name="Google Shape;1359;g1eb846a2d6f_0_206"/>
          <p:cNvSpPr txBox="1"/>
          <p:nvPr/>
        </p:nvSpPr>
        <p:spPr>
          <a:xfrm>
            <a:off x="19175" y="2346075"/>
            <a:ext cx="86502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0" name="Google Shape;1360;g1eb846a2d6f_0_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372" y="2855000"/>
            <a:ext cx="1875875" cy="15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g1eb846a2d6f_0_206"/>
          <p:cNvSpPr/>
          <p:nvPr/>
        </p:nvSpPr>
        <p:spPr>
          <a:xfrm>
            <a:off x="3672425" y="1561150"/>
            <a:ext cx="4816800" cy="2919300"/>
          </a:xfrm>
          <a:prstGeom prst="wedgeEllipseCallout">
            <a:avLst>
              <a:gd fmla="val -63680" name="adj1"/>
              <a:gd fmla="val 7086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comportamento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teórico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empírico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variados tamanhos (amostras &amp; características)?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1eb859933cc_0_159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g1eb859933cc_0_1599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complexidade dos modelos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368" name="Google Shape;1368;g1eb859933cc_0_1599"/>
          <p:cNvSpPr txBox="1"/>
          <p:nvPr/>
        </p:nvSpPr>
        <p:spPr>
          <a:xfrm>
            <a:off x="19175" y="2346075"/>
            <a:ext cx="86502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g1eb859933cc_0_1599"/>
          <p:cNvSpPr/>
          <p:nvPr/>
        </p:nvSpPr>
        <p:spPr>
          <a:xfrm>
            <a:off x="152400" y="1427775"/>
            <a:ext cx="5135700" cy="3591600"/>
          </a:xfrm>
          <a:prstGeom prst="wedgeEllipseCallout">
            <a:avLst>
              <a:gd fmla="val 69159" name="adj1"/>
              <a:gd fmla="val 6060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Entender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comportamento dos modelos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como as escolhas no pipeline de AutoML podem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afetar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termos de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métricas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recursos computacionais 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0" name="Google Shape;1370;g1eb859933cc_0_15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7689" y="2242512"/>
            <a:ext cx="1847973" cy="17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1eb846a2d6f_0_23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g1eb846a2d6f_0_238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complexidade dos modelos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377" name="Google Shape;1377;g1eb846a2d6f_0_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02675"/>
            <a:ext cx="6541400" cy="383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g1eb846a2d6f_0_238"/>
          <p:cNvSpPr/>
          <p:nvPr/>
        </p:nvSpPr>
        <p:spPr>
          <a:xfrm rot="1273964">
            <a:off x="3796620" y="3331102"/>
            <a:ext cx="1352727" cy="26774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g1eb846a2d6f_0_238"/>
          <p:cNvSpPr/>
          <p:nvPr/>
        </p:nvSpPr>
        <p:spPr>
          <a:xfrm>
            <a:off x="6681475" y="1334100"/>
            <a:ext cx="2231700" cy="2855400"/>
          </a:xfrm>
          <a:prstGeom prst="wedgeRoundRectCallout">
            <a:avLst>
              <a:gd fmla="val -75734" name="adj1"/>
              <a:gd fmla="val -1241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a partir de 8k, o número de amostras tende a gerar um consumo de recursos maior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g1eb846a2d6f_0_2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46175"/>
            <a:ext cx="6583675" cy="379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g1eb846a2d6f_0_21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g1eb846a2d6f_0_218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complexidade dos modelos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387" name="Google Shape;1387;g1eb846a2d6f_0_218"/>
          <p:cNvSpPr/>
          <p:nvPr/>
        </p:nvSpPr>
        <p:spPr>
          <a:xfrm>
            <a:off x="6757675" y="1334100"/>
            <a:ext cx="2231700" cy="2720400"/>
          </a:xfrm>
          <a:prstGeom prst="wedgeRoundRectCallout">
            <a:avLst>
              <a:gd fmla="val -75837" name="adj1"/>
              <a:gd fmla="val -15045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# de características tem um custo computacional ligeiramente maior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" name="Google Shape;1392;g1eb846a2d6f_0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1602" y="1322525"/>
            <a:ext cx="666182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g1eb846a2d6f_0_22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g1eb846a2d6f_0_227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complexidade dos modelos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395" name="Google Shape;1395;g1eb846a2d6f_0_227"/>
          <p:cNvSpPr/>
          <p:nvPr/>
        </p:nvSpPr>
        <p:spPr>
          <a:xfrm>
            <a:off x="6681475" y="1410300"/>
            <a:ext cx="2231700" cy="2720400"/>
          </a:xfrm>
          <a:prstGeom prst="wedgeRoundRectCallout">
            <a:avLst>
              <a:gd fmla="val -72422" name="adj1"/>
              <a:gd fmla="val -1567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# de características aumenta mais significativamente o consumo de recursos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1eb846a2d6f_0_25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g1eb846a2d6f_0_250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desempenho dos modelos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graphicFrame>
        <p:nvGraphicFramePr>
          <p:cNvPr id="1402" name="Google Shape;1402;g1eb846a2d6f_0_250"/>
          <p:cNvGraphicFramePr/>
          <p:nvPr/>
        </p:nvGraphicFramePr>
        <p:xfrm>
          <a:off x="384573" y="14863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{7F7FF4F9-E4D9-4A49-AADA-620B59364ACB}</a:tableStyleId>
              </a:tblPr>
              <a:tblGrid>
                <a:gridCol w="2785575"/>
                <a:gridCol w="2101750"/>
                <a:gridCol w="2045200"/>
                <a:gridCol w="1515200"/>
              </a:tblGrid>
              <a:tr h="6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Acurácia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Precisão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6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4"/>
                            </a:ext>
                          </a:extLst>
                        </a:rPr>
                        <a:t>Gradient Boosting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5"/>
                            </a:ext>
                          </a:extLst>
                        </a:rPr>
                        <a:t>0.93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6"/>
                            </a:ext>
                          </a:extLst>
                        </a:rPr>
                        <a:t>0.92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7"/>
                            </a:ext>
                          </a:extLst>
                        </a:rPr>
                        <a:t>0.85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8"/>
                            </a:ext>
                          </a:extLst>
                        </a:rPr>
                        <a:t>Extra Trees</a:t>
                      </a:r>
                      <a:endParaRPr b="1"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9"/>
                            </a:ext>
                          </a:extLst>
                        </a:rPr>
                        <a:t>0.96</a:t>
                      </a:r>
                      <a:endParaRPr b="1"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0"/>
                            </a:ext>
                          </a:extLst>
                        </a:rPr>
                        <a:t>0.96</a:t>
                      </a:r>
                      <a:endParaRPr b="1"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1"/>
                            </a:ext>
                          </a:extLst>
                        </a:rPr>
                        <a:t>0.93</a:t>
                      </a:r>
                      <a:endParaRPr b="1"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2"/>
                            </a:ext>
                          </a:extLst>
                        </a:rPr>
                        <a:t>Decision Tree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3"/>
                            </a:ext>
                          </a:extLst>
                        </a:rPr>
                        <a:t>0.95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4"/>
                            </a:ext>
                          </a:extLst>
                        </a:rPr>
                        <a:t>0.94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5"/>
                            </a:ext>
                          </a:extLst>
                        </a:rPr>
                        <a:t>0.93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403" name="Google Shape;1403;g1eb846a2d6f_0_250"/>
          <p:cNvSpPr/>
          <p:nvPr/>
        </p:nvSpPr>
        <p:spPr>
          <a:xfrm>
            <a:off x="1366075" y="4181100"/>
            <a:ext cx="6708900" cy="846600"/>
          </a:xfrm>
          <a:prstGeom prst="wedgeRoundRectCallout">
            <a:avLst>
              <a:gd fmla="val -30442" name="adj1"/>
              <a:gd fmla="val -14651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Extra Trees apresentou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melhor desempenho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menor custo computacional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1eb859933cc_0_161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g1eb859933cc_0_1610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complexidade dos modelos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410" name="Google Shape;1410;g1eb859933cc_0_1610"/>
          <p:cNvSpPr txBox="1"/>
          <p:nvPr/>
        </p:nvSpPr>
        <p:spPr>
          <a:xfrm>
            <a:off x="19175" y="2346075"/>
            <a:ext cx="86502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1" name="Google Shape;1411;g1eb859933cc_0_1610"/>
          <p:cNvSpPr/>
          <p:nvPr/>
        </p:nvSpPr>
        <p:spPr>
          <a:xfrm>
            <a:off x="152400" y="1427775"/>
            <a:ext cx="5135700" cy="3591600"/>
          </a:xfrm>
          <a:prstGeom prst="wedgeEllipseCallout">
            <a:avLst>
              <a:gd fmla="val 69159" name="adj1"/>
              <a:gd fmla="val 6060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bons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métodos de seleção de características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beneficiar o pipeline de AutoML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modelos baseados em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 Trees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por exemplo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2" name="Google Shape;1412;g1eb859933cc_0_16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1050" y="2396675"/>
            <a:ext cx="1978200" cy="19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1eb846a2d6f_0_25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g1eb846a2d6f_0_259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otimização de hiperparâmetros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419" name="Google Shape;1419;g1eb846a2d6f_0_2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4290" y="1675838"/>
            <a:ext cx="1611520" cy="16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Google Shape;1420;g1eb846a2d6f_0_2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5450" y="3658425"/>
            <a:ext cx="2892799" cy="9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1" name="Google Shape;1421;g1eb846a2d6f_0_2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3761" y="1675837"/>
            <a:ext cx="1521026" cy="163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2" name="Google Shape;1422;g1eb846a2d6f_0_2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100" y="1495774"/>
            <a:ext cx="1870062" cy="16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g1eb846a2d6f_0_259"/>
          <p:cNvSpPr/>
          <p:nvPr/>
        </p:nvSpPr>
        <p:spPr>
          <a:xfrm>
            <a:off x="5285200" y="3713775"/>
            <a:ext cx="3172500" cy="1332600"/>
          </a:xfrm>
          <a:prstGeom prst="wedgeRoundRectCallout">
            <a:avLst>
              <a:gd fmla="val 7910" name="adj1"/>
              <a:gd fmla="val -8125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2200" u="none" cap="none" strike="noStrike">
                <a:solidFill>
                  <a:srgbClr val="FF0000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caso emblemático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de ferramentas como o AutoGluon.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1eb859933cc_0_162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g1eb859933cc_0_1621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otimização de hiperparâmetros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430" name="Google Shape;1430;g1eb859933cc_0_1621"/>
          <p:cNvSpPr txBox="1"/>
          <p:nvPr/>
        </p:nvSpPr>
        <p:spPr>
          <a:xfrm>
            <a:off x="19175" y="2346075"/>
            <a:ext cx="86502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1" name="Google Shape;1431;g1eb859933cc_0_16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372" y="2855000"/>
            <a:ext cx="1875875" cy="15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g1eb859933cc_0_1621"/>
          <p:cNvSpPr/>
          <p:nvPr/>
        </p:nvSpPr>
        <p:spPr>
          <a:xfrm>
            <a:off x="3596225" y="1879050"/>
            <a:ext cx="4326300" cy="2525400"/>
          </a:xfrm>
          <a:prstGeom prst="wedgeEllipseCallout">
            <a:avLst>
              <a:gd fmla="val -63680" name="adj1"/>
              <a:gd fmla="val 7086" name="adj2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Hiperparâmetros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pré-definidos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selecionados dinamicamente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em tempo de execução?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1eb846a2d6f_0_26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g1eb846a2d6f_0_267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otimização de hiperparâmetros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439" name="Google Shape;1439;g1eb846a2d6f_0_267"/>
          <p:cNvPicPr preferRelativeResize="0"/>
          <p:nvPr/>
        </p:nvPicPr>
        <p:blipFill rotWithShape="1">
          <a:blip r:embed="rId4">
            <a:alphaModFix/>
          </a:blip>
          <a:srcRect b="0" l="0" r="0" t="8659"/>
          <a:stretch/>
        </p:blipFill>
        <p:spPr>
          <a:xfrm>
            <a:off x="26300" y="1247318"/>
            <a:ext cx="5563350" cy="38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g1eb846a2d6f_0_267"/>
          <p:cNvSpPr txBox="1"/>
          <p:nvPr/>
        </p:nvSpPr>
        <p:spPr>
          <a:xfrm>
            <a:off x="19175" y="2346075"/>
            <a:ext cx="86502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1" name="Google Shape;1441;g1eb846a2d6f_0_2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5600" y="3602473"/>
            <a:ext cx="1322462" cy="133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g1eb846a2d6f_0_267"/>
          <p:cNvSpPr/>
          <p:nvPr/>
        </p:nvSpPr>
        <p:spPr>
          <a:xfrm>
            <a:off x="5742050" y="1446825"/>
            <a:ext cx="3172500" cy="1785600"/>
          </a:xfrm>
          <a:prstGeom prst="wedgeRoundRectCallout">
            <a:avLst>
              <a:gd fmla="val -67002" name="adj1"/>
              <a:gd fmla="val 25034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Estado da arte (HPO)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versus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otimização manual com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Grid Search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3" name="Google Shape;1443;g1eb846a2d6f_0_2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3573" y="3988160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1eb846a2d6f_0_28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g1eb846a2d6f_0_286"/>
          <p:cNvSpPr txBox="1"/>
          <p:nvPr/>
        </p:nvSpPr>
        <p:spPr>
          <a:xfrm>
            <a:off x="297600" y="202150"/>
            <a:ext cx="670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otimização de hiperparâmetros</a:t>
            </a:r>
            <a:endParaRPr b="0" i="0" sz="28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graphicFrame>
        <p:nvGraphicFramePr>
          <p:cNvPr id="1450" name="Google Shape;1450;g1eb846a2d6f_0_286"/>
          <p:cNvGraphicFramePr/>
          <p:nvPr/>
        </p:nvGraphicFramePr>
        <p:xfrm>
          <a:off x="513998" y="2857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{7F7FF4F9-E4D9-4A49-AADA-620B59364ACB}</a:tableStyleId>
              </a:tblPr>
              <a:tblGrid>
                <a:gridCol w="2686950"/>
                <a:gridCol w="1918550"/>
                <a:gridCol w="1523825"/>
                <a:gridCol w="2036575"/>
              </a:tblGrid>
              <a:tr h="6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Ferramenta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Acurácia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Tempo</a:t>
                      </a:r>
                      <a:endParaRPr sz="2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6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6"/>
                            </a:ext>
                          </a:extLst>
                        </a:rPr>
                        <a:t>AutoGluon</a:t>
                      </a:r>
                      <a:endParaRPr b="1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7"/>
                            </a:ext>
                          </a:extLst>
                        </a:rPr>
                        <a:t>0,98</a:t>
                      </a:r>
                      <a:endParaRPr b="1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8"/>
                            </a:ext>
                          </a:extLst>
                        </a:rPr>
                        <a:t>0,98</a:t>
                      </a:r>
                      <a:endParaRPr b="1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9"/>
                            </a:ext>
                          </a:extLst>
                        </a:rPr>
                        <a:t>00:00:13</a:t>
                      </a:r>
                      <a:endParaRPr b="1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0"/>
                            </a:ext>
                          </a:extLst>
                        </a:rPr>
                        <a:t>Auto-Sklearn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1"/>
                            </a:ext>
                          </a:extLst>
                        </a:rPr>
                        <a:t>0,98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2"/>
                            </a:ext>
                          </a:extLst>
                        </a:rPr>
                        <a:t>0,99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3"/>
                            </a:ext>
                          </a:extLst>
                        </a:rPr>
                        <a:t>00:02:00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451" name="Google Shape;1451;g1eb846a2d6f_0_286"/>
          <p:cNvSpPr/>
          <p:nvPr/>
        </p:nvSpPr>
        <p:spPr>
          <a:xfrm>
            <a:off x="1664075" y="1389875"/>
            <a:ext cx="5638200" cy="1334400"/>
          </a:xfrm>
          <a:prstGeom prst="wedgeRoundRectCallout">
            <a:avLst>
              <a:gd fmla="val -25747" name="adj1"/>
              <a:gd fmla="val 7391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AutoGluon utiliza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hiperparâmetros pré-definidos (fixos)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e consegue um ótimo desempenho em muitos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1eb859933cc_0_1644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g1eb859933cc_0_1644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 almejado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458" name="Google Shape;1458;g1eb859933cc_0_1644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g1eb859933cc_0_1644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g1eb859933cc_0_1644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g1eb859933cc_0_1644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g1eb859933cc_0_1644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g1eb859933cc_0_1644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g1eb859933cc_0_1644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g1eb859933cc_0_1644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6" name="Google Shape;1466;g1eb859933cc_0_1644"/>
          <p:cNvCxnSpPr>
            <a:endCxn id="1459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7" name="Google Shape;1467;g1eb859933cc_0_1644"/>
          <p:cNvCxnSpPr>
            <a:stCxn id="1459" idx="3"/>
            <a:endCxn id="1460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8" name="Google Shape;1468;g1eb859933cc_0_1644"/>
          <p:cNvCxnSpPr>
            <a:stCxn id="1460" idx="3"/>
            <a:endCxn id="1461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9" name="Google Shape;1469;g1eb859933cc_0_1644"/>
          <p:cNvCxnSpPr>
            <a:stCxn id="1462" idx="3"/>
            <a:endCxn id="1463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0" name="Google Shape;1470;g1eb859933cc_0_1644"/>
          <p:cNvCxnSpPr>
            <a:stCxn id="1463" idx="3"/>
            <a:endCxn id="1464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1" name="Google Shape;1471;g1eb859933cc_0_1644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2" name="Google Shape;1472;g1eb859933cc_0_1644"/>
          <p:cNvCxnSpPr>
            <a:stCxn id="1464" idx="2"/>
            <a:endCxn id="1465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3" name="Google Shape;1473;g1eb859933cc_0_1644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g1eb859933cc_0_1644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g1eb859933cc_0_1644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6" name="Google Shape;1476;g1eb859933cc_0_1644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7" name="Google Shape;1477;g1eb859933cc_0_1644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g1eb859933cc_0_1644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g1eb859933cc_0_1644"/>
          <p:cNvSpPr/>
          <p:nvPr/>
        </p:nvSpPr>
        <p:spPr>
          <a:xfrm>
            <a:off x="7221775" y="2895050"/>
            <a:ext cx="1779900" cy="9756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g1eb859933cc_0_1644"/>
          <p:cNvSpPr/>
          <p:nvPr/>
        </p:nvSpPr>
        <p:spPr>
          <a:xfrm>
            <a:off x="1253675" y="3241875"/>
            <a:ext cx="5285400" cy="1650300"/>
          </a:xfrm>
          <a:prstGeom prst="wedgeRoundRectCallout">
            <a:avLst>
              <a:gd fmla="val 62416" name="adj1"/>
              <a:gd fmla="val -27377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Lição (?)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otimizar hiperparâmetros em tempo de execução pode levar a custos computacionais desnecessários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1eb859933cc_0_1700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g1eb859933cc_0_1700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AutoML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Transparência e Interpretabilidade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487" name="Google Shape;1487;g1eb859933cc_0_1700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Foco inicial: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compreender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melhor as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ferramentas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de AutoML e os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resultados</a:t>
            </a:r>
            <a:endParaRPr b="1" i="0" sz="2000" u="none" cap="none" strike="noStrike">
              <a:solidFill>
                <a:schemeClr val="dk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cxnSp>
        <p:nvCxnSpPr>
          <p:cNvPr id="1488" name="Google Shape;1488;g1eb859933cc_0_1700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1eb859933cc_0_167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g1eb859933cc_0_1672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transparência (transversal)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495" name="Google Shape;1495;g1eb859933cc_0_1672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g1eb859933cc_0_1672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g1eb859933cc_0_1672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g1eb859933cc_0_1672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g1eb859933cc_0_1672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g1eb859933cc_0_1672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g1eb859933cc_0_1672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g1eb859933cc_0_1672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3" name="Google Shape;1503;g1eb859933cc_0_1672"/>
          <p:cNvCxnSpPr>
            <a:endCxn id="1496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4" name="Google Shape;1504;g1eb859933cc_0_1672"/>
          <p:cNvCxnSpPr>
            <a:stCxn id="1496" idx="3"/>
            <a:endCxn id="1497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5" name="Google Shape;1505;g1eb859933cc_0_1672"/>
          <p:cNvCxnSpPr>
            <a:stCxn id="1497" idx="3"/>
            <a:endCxn id="1498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6" name="Google Shape;1506;g1eb859933cc_0_1672"/>
          <p:cNvCxnSpPr>
            <a:stCxn id="1499" idx="3"/>
            <a:endCxn id="1500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7" name="Google Shape;1507;g1eb859933cc_0_1672"/>
          <p:cNvCxnSpPr>
            <a:stCxn id="1500" idx="3"/>
            <a:endCxn id="1501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8" name="Google Shape;1508;g1eb859933cc_0_1672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9" name="Google Shape;1509;g1eb859933cc_0_1672"/>
          <p:cNvCxnSpPr>
            <a:stCxn id="1501" idx="2"/>
            <a:endCxn id="1502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0" name="Google Shape;1510;g1eb859933cc_0_1672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g1eb859933cc_0_1672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g1eb859933cc_0_1672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3" name="Google Shape;1513;g1eb859933cc_0_1672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4" name="Google Shape;1514;g1eb859933cc_0_1672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g1eb859933cc_0_1672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g1eb859933cc_0_1672"/>
          <p:cNvSpPr/>
          <p:nvPr/>
        </p:nvSpPr>
        <p:spPr>
          <a:xfrm>
            <a:off x="263075" y="2399175"/>
            <a:ext cx="7976700" cy="1959600"/>
          </a:xfrm>
          <a:prstGeom prst="wedgeRoundRectCallout">
            <a:avLst>
              <a:gd fmla="val 13629" name="adj1"/>
              <a:gd fmla="val -8297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4"/>
                  </a:ext>
                </a:extLst>
              </a:rPr>
              <a:t>Qual etapa está sendo executada?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35"/>
                </a:ext>
              </a:extLst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6"/>
                  </a:ext>
                </a:extLst>
              </a:rPr>
              <a:t>Qual método de seleção de características foi utilizado?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37"/>
                </a:ext>
              </a:extLst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8"/>
                  </a:ext>
                </a:extLst>
              </a:rPr>
              <a:t>Quais foram as características selecionadas?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39"/>
                </a:ext>
              </a:extLst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0"/>
                  </a:ext>
                </a:extLst>
              </a:rPr>
              <a:t>Quais hiperparâmetros foram otimizados?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1eb859933cc_0_170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g1eb859933cc_0_1707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transparência (transversal)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523" name="Google Shape;1523;g1eb859933cc_0_1707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g1eb859933cc_0_1707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g1eb859933cc_0_1707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g1eb859933cc_0_1707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g1eb859933cc_0_1707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g1eb859933cc_0_1707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g1eb859933cc_0_1707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g1eb859933cc_0_1707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1" name="Google Shape;1531;g1eb859933cc_0_1707"/>
          <p:cNvCxnSpPr>
            <a:endCxn id="1524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2" name="Google Shape;1532;g1eb859933cc_0_1707"/>
          <p:cNvCxnSpPr>
            <a:stCxn id="1524" idx="3"/>
            <a:endCxn id="1525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3" name="Google Shape;1533;g1eb859933cc_0_1707"/>
          <p:cNvCxnSpPr>
            <a:stCxn id="1525" idx="3"/>
            <a:endCxn id="1526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4" name="Google Shape;1534;g1eb859933cc_0_1707"/>
          <p:cNvCxnSpPr>
            <a:stCxn id="1527" idx="3"/>
            <a:endCxn id="1528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5" name="Google Shape;1535;g1eb859933cc_0_1707"/>
          <p:cNvCxnSpPr>
            <a:stCxn id="1528" idx="3"/>
            <a:endCxn id="1529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6" name="Google Shape;1536;g1eb859933cc_0_1707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7" name="Google Shape;1537;g1eb859933cc_0_1707"/>
          <p:cNvCxnSpPr>
            <a:stCxn id="1529" idx="2"/>
            <a:endCxn id="1530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8" name="Google Shape;1538;g1eb859933cc_0_1707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g1eb859933cc_0_1707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g1eb859933cc_0_1707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1" name="Google Shape;1541;g1eb859933cc_0_1707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2" name="Google Shape;1542;g1eb859933cc_0_1707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g1eb859933cc_0_1707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g1eb859933cc_0_1707"/>
          <p:cNvSpPr/>
          <p:nvPr/>
        </p:nvSpPr>
        <p:spPr>
          <a:xfrm>
            <a:off x="263075" y="2399175"/>
            <a:ext cx="7976700" cy="1959600"/>
          </a:xfrm>
          <a:prstGeom prst="wedgeRoundRectCallout">
            <a:avLst>
              <a:gd fmla="val 13629" name="adj1"/>
              <a:gd fmla="val -8297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1"/>
                  </a:ext>
                </a:extLst>
              </a:rPr>
              <a:t>Qual etapa está sendo executada?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42"/>
                </a:ext>
              </a:extLst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3"/>
                  </a:ext>
                </a:extLst>
              </a:rPr>
              <a:t>Qual método de seleção de características foi utilizado?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44"/>
                </a:ext>
              </a:extLst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5"/>
                  </a:ext>
                </a:extLst>
              </a:rPr>
              <a:t>Quais foram as características selecionadas?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46"/>
                </a:ext>
              </a:extLst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7"/>
                  </a:ext>
                </a:extLst>
              </a:rPr>
              <a:t>Quais hiperparâmetros foram otimizados?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5" name="Google Shape;1545;g1eb859933cc_0_17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4750" y="1785645"/>
            <a:ext cx="1112850" cy="1132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g1eb859933cc_0_17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8650" y="1850649"/>
            <a:ext cx="1050334" cy="113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g1eb859933cc_0_17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5725" y="1850650"/>
            <a:ext cx="1239300" cy="1086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g1eb859933cc_0_170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6721" y="3564693"/>
            <a:ext cx="1611500" cy="1251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1eb846a2d6f_0_39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g1eb846a2d6f_0_396"/>
          <p:cNvSpPr txBox="1"/>
          <p:nvPr/>
        </p:nvSpPr>
        <p:spPr>
          <a:xfrm>
            <a:off x="297600" y="202150"/>
            <a:ext cx="739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transparência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555" name="Google Shape;1555;g1eb846a2d6f_0_3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850" y="1302800"/>
            <a:ext cx="5382650" cy="373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g1eb846a2d6f_0_3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5392" y="3735975"/>
            <a:ext cx="244792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g1eb846a2d6f_0_396"/>
          <p:cNvSpPr/>
          <p:nvPr/>
        </p:nvSpPr>
        <p:spPr>
          <a:xfrm>
            <a:off x="4292575" y="1355525"/>
            <a:ext cx="4443600" cy="2186100"/>
          </a:xfrm>
          <a:prstGeom prst="wedgeRoundRectCallout">
            <a:avLst>
              <a:gd fmla="val -10491" name="adj1"/>
              <a:gd fmla="val 63069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Saídas da MH-AutoML: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melhor modelo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características selecionadas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hiperparâmetros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Arial"/>
              <a:buChar char="●"/>
            </a:pP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ranking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dos modelos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8" name="Google Shape;1558;g1eb846a2d6f_0_3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5397" y="3812173"/>
            <a:ext cx="1359100" cy="1305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1eb859933cc_0_174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g1eb859933cc_0_174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interpretabilidade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565" name="Google Shape;1565;g1eb859933cc_0_1743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g1eb859933cc_0_1743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g1eb859933cc_0_1743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g1eb859933cc_0_1743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g1eb859933cc_0_1743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g1eb859933cc_0_1743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g1eb859933cc_0_1743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g1eb859933cc_0_1743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3" name="Google Shape;1573;g1eb859933cc_0_1743"/>
          <p:cNvCxnSpPr>
            <a:endCxn id="1566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4" name="Google Shape;1574;g1eb859933cc_0_1743"/>
          <p:cNvCxnSpPr>
            <a:stCxn id="1566" idx="3"/>
            <a:endCxn id="1567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5" name="Google Shape;1575;g1eb859933cc_0_1743"/>
          <p:cNvCxnSpPr>
            <a:stCxn id="1567" idx="3"/>
            <a:endCxn id="1568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6" name="Google Shape;1576;g1eb859933cc_0_1743"/>
          <p:cNvCxnSpPr>
            <a:stCxn id="1569" idx="3"/>
            <a:endCxn id="1570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7" name="Google Shape;1577;g1eb859933cc_0_1743"/>
          <p:cNvCxnSpPr>
            <a:stCxn id="1570" idx="3"/>
            <a:endCxn id="1571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8" name="Google Shape;1578;g1eb859933cc_0_1743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9" name="Google Shape;1579;g1eb859933cc_0_1743"/>
          <p:cNvCxnSpPr>
            <a:stCxn id="1571" idx="2"/>
            <a:endCxn id="1572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0" name="Google Shape;1580;g1eb859933cc_0_1743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g1eb859933cc_0_1743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g1eb859933cc_0_1743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3" name="Google Shape;1583;g1eb859933cc_0_1743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4" name="Google Shape;1584;g1eb859933cc_0_1743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g1eb859933cc_0_1743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g1eb859933cc_0_1743"/>
          <p:cNvSpPr/>
          <p:nvPr/>
        </p:nvSpPr>
        <p:spPr>
          <a:xfrm>
            <a:off x="263075" y="2399175"/>
            <a:ext cx="7976700" cy="1187700"/>
          </a:xfrm>
          <a:prstGeom prst="wedgeRoundRectCallout">
            <a:avLst>
              <a:gd fmla="val 13073" name="adj1"/>
              <a:gd fmla="val 84744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classe tem mais impacto na predição?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características mais contribuem para a predição?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1eb846a2d6f_0_407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g1eb846a2d6f_0_407"/>
          <p:cNvSpPr txBox="1"/>
          <p:nvPr/>
        </p:nvSpPr>
        <p:spPr>
          <a:xfrm>
            <a:off x="297600" y="202150"/>
            <a:ext cx="739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interpretabilidade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593" name="Google Shape;1593;g1eb846a2d6f_0_4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46325"/>
            <a:ext cx="8991600" cy="3417235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g1eb846a2d6f_0_407"/>
          <p:cNvSpPr txBox="1"/>
          <p:nvPr/>
        </p:nvSpPr>
        <p:spPr>
          <a:xfrm>
            <a:off x="-2172750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g1eb846a2d6f_0_407"/>
          <p:cNvSpPr/>
          <p:nvPr/>
        </p:nvSpPr>
        <p:spPr>
          <a:xfrm>
            <a:off x="152400" y="2254800"/>
            <a:ext cx="2652000" cy="2832300"/>
          </a:xfrm>
          <a:prstGeom prst="wedgeRoundRectCallout">
            <a:avLst>
              <a:gd fmla="val 59845" name="adj1"/>
              <a:gd fmla="val -2435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Utilizar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frameworks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como LIME e SHAP para produzir explicações independentes de modelo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1eb846a2d6f_0_42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g1eb846a2d6f_0_421"/>
          <p:cNvSpPr txBox="1"/>
          <p:nvPr/>
        </p:nvSpPr>
        <p:spPr>
          <a:xfrm>
            <a:off x="297600" y="202150"/>
            <a:ext cx="739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interpretabilidade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602" name="Google Shape;1602;g1eb846a2d6f_0_421"/>
          <p:cNvSpPr txBox="1"/>
          <p:nvPr/>
        </p:nvSpPr>
        <p:spPr>
          <a:xfrm>
            <a:off x="-2172750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3" name="Google Shape;1603;g1eb846a2d6f_0_4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5075" y="2048450"/>
            <a:ext cx="5448925" cy="30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4" name="Google Shape;1604;g1eb846a2d6f_0_4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75" y="1901888"/>
            <a:ext cx="3707900" cy="318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g1eb846a2d6f_0_421"/>
          <p:cNvSpPr/>
          <p:nvPr/>
        </p:nvSpPr>
        <p:spPr>
          <a:xfrm>
            <a:off x="624725" y="1329950"/>
            <a:ext cx="8018100" cy="514200"/>
          </a:xfrm>
          <a:prstGeom prst="wedgeRoundRectCallout">
            <a:avLst>
              <a:gd fmla="val 16551" name="adj1"/>
              <a:gd fmla="val 8763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SHAP: características que mais contribuem para a predição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g1eb846a2d6f_0_421"/>
          <p:cNvSpPr/>
          <p:nvPr/>
        </p:nvSpPr>
        <p:spPr>
          <a:xfrm>
            <a:off x="3821575" y="4151450"/>
            <a:ext cx="5239500" cy="6621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g1eb846a2d6f_0_421"/>
          <p:cNvSpPr/>
          <p:nvPr/>
        </p:nvSpPr>
        <p:spPr>
          <a:xfrm>
            <a:off x="6217075" y="2271500"/>
            <a:ext cx="2632500" cy="1623000"/>
          </a:xfrm>
          <a:prstGeom prst="wedgeRoundRectCallout">
            <a:avLst>
              <a:gd fmla="val 15744" name="adj1"/>
              <a:gd fmla="val 65832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SEND_SMS, READ_PHONE_STATE, GET_ACCOUNTS, READ_SMS, RECEIVE_SMS</a:t>
            </a:r>
            <a:endParaRPr b="0" i="0" sz="16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eb859933cc_0_183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g1eb859933cc_0_1833"/>
          <p:cNvSpPr txBox="1"/>
          <p:nvPr/>
        </p:nvSpPr>
        <p:spPr>
          <a:xfrm>
            <a:off x="297600" y="202150"/>
            <a:ext cx="739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interpretabilidade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614" name="Google Shape;1614;g1eb859933cc_0_1833"/>
          <p:cNvSpPr txBox="1"/>
          <p:nvPr/>
        </p:nvSpPr>
        <p:spPr>
          <a:xfrm>
            <a:off x="-2172750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g1eb859933cc_0_1833"/>
          <p:cNvSpPr/>
          <p:nvPr/>
        </p:nvSpPr>
        <p:spPr>
          <a:xfrm>
            <a:off x="624725" y="1329950"/>
            <a:ext cx="4031100" cy="1354200"/>
          </a:xfrm>
          <a:prstGeom prst="wedgeRoundRectCallout">
            <a:avLst>
              <a:gd fmla="val 16551" name="adj1"/>
              <a:gd fmla="val 8763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XAI: um estudo de caso 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com múltiplos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1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6" name="Google Shape;1616;g1eb859933cc_0_18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4560" y="3239500"/>
            <a:ext cx="1669814" cy="17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7" name="Google Shape;1617;g1eb859933cc_0_18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4573" y="3988160"/>
            <a:ext cx="654800" cy="7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8" name="Google Shape;1618;g1eb859933cc_0_18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98786" y="3239500"/>
            <a:ext cx="1713362" cy="1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g1eb859933cc_0_18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1048" y="3988160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1eb859933cc_0_1848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g1eb859933cc_0_1848"/>
          <p:cNvSpPr txBox="1"/>
          <p:nvPr/>
        </p:nvSpPr>
        <p:spPr>
          <a:xfrm>
            <a:off x="297600" y="202150"/>
            <a:ext cx="739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interpretabilidade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626" name="Google Shape;1626;g1eb859933cc_0_1848"/>
          <p:cNvSpPr txBox="1"/>
          <p:nvPr/>
        </p:nvSpPr>
        <p:spPr>
          <a:xfrm>
            <a:off x="-2172750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7" name="Google Shape;1627;g1eb859933cc_0_1848"/>
          <p:cNvPicPr preferRelativeResize="0"/>
          <p:nvPr/>
        </p:nvPicPr>
        <p:blipFill rotWithShape="1">
          <a:blip r:embed="rId4">
            <a:alphaModFix/>
          </a:blip>
          <a:srcRect b="8088" l="0" r="0" t="0"/>
          <a:stretch/>
        </p:blipFill>
        <p:spPr>
          <a:xfrm>
            <a:off x="37125" y="1317550"/>
            <a:ext cx="7251992" cy="37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g1eb859933cc_0_1848"/>
          <p:cNvSpPr/>
          <p:nvPr/>
        </p:nvSpPr>
        <p:spPr>
          <a:xfrm>
            <a:off x="7289125" y="1429650"/>
            <a:ext cx="1761300" cy="1354200"/>
          </a:xfrm>
          <a:prstGeom prst="wedgeRoundRectCallout">
            <a:avLst>
              <a:gd fmla="val -50148" name="adj1"/>
              <a:gd fmla="val 6773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Drebin-215</a:t>
            </a:r>
            <a:endParaRPr b="0" i="1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g1eb859933cc_0_1848"/>
          <p:cNvSpPr/>
          <p:nvPr/>
        </p:nvSpPr>
        <p:spPr>
          <a:xfrm>
            <a:off x="297600" y="1479200"/>
            <a:ext cx="5895000" cy="207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g1eb859933cc_0_1848"/>
          <p:cNvSpPr/>
          <p:nvPr/>
        </p:nvSpPr>
        <p:spPr>
          <a:xfrm>
            <a:off x="297600" y="2317400"/>
            <a:ext cx="5895000" cy="207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g1eb859933cc_0_1848"/>
          <p:cNvSpPr/>
          <p:nvPr/>
        </p:nvSpPr>
        <p:spPr>
          <a:xfrm>
            <a:off x="297600" y="2850800"/>
            <a:ext cx="5895000" cy="207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g1eb859933cc_0_1848"/>
          <p:cNvSpPr/>
          <p:nvPr/>
        </p:nvSpPr>
        <p:spPr>
          <a:xfrm>
            <a:off x="297600" y="4129700"/>
            <a:ext cx="5895000" cy="207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eb859933cc_0_186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g1eb859933cc_0_1862"/>
          <p:cNvSpPr txBox="1"/>
          <p:nvPr/>
        </p:nvSpPr>
        <p:spPr>
          <a:xfrm>
            <a:off x="297600" y="202150"/>
            <a:ext cx="739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interpretabilidade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639" name="Google Shape;1639;g1eb859933cc_0_1862"/>
          <p:cNvSpPr txBox="1"/>
          <p:nvPr/>
        </p:nvSpPr>
        <p:spPr>
          <a:xfrm>
            <a:off x="-2172750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0" name="Google Shape;1640;g1eb859933cc_0_1862"/>
          <p:cNvPicPr preferRelativeResize="0"/>
          <p:nvPr/>
        </p:nvPicPr>
        <p:blipFill rotWithShape="1">
          <a:blip r:embed="rId4">
            <a:alphaModFix/>
          </a:blip>
          <a:srcRect b="10474" l="0" r="0" t="0"/>
          <a:stretch/>
        </p:blipFill>
        <p:spPr>
          <a:xfrm>
            <a:off x="-57002" y="1271030"/>
            <a:ext cx="7399199" cy="38684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g1eb859933cc_0_1862"/>
          <p:cNvSpPr/>
          <p:nvPr/>
        </p:nvSpPr>
        <p:spPr>
          <a:xfrm>
            <a:off x="7286625" y="1429650"/>
            <a:ext cx="1763700" cy="1354200"/>
          </a:xfrm>
          <a:prstGeom prst="wedgeRoundRectCallout">
            <a:avLst>
              <a:gd fmla="val -50148" name="adj1"/>
              <a:gd fmla="val 6773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KronoDroid</a:t>
            </a:r>
            <a:endParaRPr b="0" i="1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g1eb859933cc_0_1862"/>
          <p:cNvSpPr/>
          <p:nvPr/>
        </p:nvSpPr>
        <p:spPr>
          <a:xfrm>
            <a:off x="297600" y="4586900"/>
            <a:ext cx="5895000" cy="1473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g1eb859933cc_0_1862"/>
          <p:cNvSpPr/>
          <p:nvPr/>
        </p:nvSpPr>
        <p:spPr>
          <a:xfrm>
            <a:off x="297600" y="1930400"/>
            <a:ext cx="5895000" cy="213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g1eb859933cc_0_1862"/>
          <p:cNvSpPr/>
          <p:nvPr/>
        </p:nvSpPr>
        <p:spPr>
          <a:xfrm>
            <a:off x="297600" y="1615100"/>
            <a:ext cx="5895000" cy="213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1eb859933cc_0_187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g1eb859933cc_0_1872"/>
          <p:cNvSpPr txBox="1"/>
          <p:nvPr/>
        </p:nvSpPr>
        <p:spPr>
          <a:xfrm>
            <a:off x="297600" y="202150"/>
            <a:ext cx="739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interpretabilidade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651" name="Google Shape;1651;g1eb859933cc_0_1872"/>
          <p:cNvSpPr txBox="1"/>
          <p:nvPr/>
        </p:nvSpPr>
        <p:spPr>
          <a:xfrm>
            <a:off x="-2172750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2" name="Google Shape;1652;g1eb859933cc_0_1872"/>
          <p:cNvPicPr preferRelativeResize="0"/>
          <p:nvPr/>
        </p:nvPicPr>
        <p:blipFill rotWithShape="1">
          <a:blip r:embed="rId4">
            <a:alphaModFix/>
          </a:blip>
          <a:srcRect b="10515" l="0" r="0" t="0"/>
          <a:stretch/>
        </p:blipFill>
        <p:spPr>
          <a:xfrm>
            <a:off x="-18450" y="1279975"/>
            <a:ext cx="7399199" cy="388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g1eb859933cc_0_1872"/>
          <p:cNvSpPr/>
          <p:nvPr/>
        </p:nvSpPr>
        <p:spPr>
          <a:xfrm>
            <a:off x="7286625" y="1429650"/>
            <a:ext cx="1763700" cy="1354200"/>
          </a:xfrm>
          <a:prstGeom prst="wedgeRoundRectCallout">
            <a:avLst>
              <a:gd fmla="val -50148" name="adj1"/>
              <a:gd fmla="val 67736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KronoDroid</a:t>
            </a:r>
            <a:endParaRPr b="0" i="1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g1eb859933cc_0_1872"/>
          <p:cNvSpPr/>
          <p:nvPr/>
        </p:nvSpPr>
        <p:spPr>
          <a:xfrm>
            <a:off x="297600" y="2159000"/>
            <a:ext cx="5895000" cy="213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g1eb859933cc_0_1872"/>
          <p:cNvSpPr/>
          <p:nvPr/>
        </p:nvSpPr>
        <p:spPr>
          <a:xfrm>
            <a:off x="297600" y="1767500"/>
            <a:ext cx="5895000" cy="2130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1eb859933cc_0_188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g1eb859933cc_0_1882"/>
          <p:cNvSpPr txBox="1"/>
          <p:nvPr/>
        </p:nvSpPr>
        <p:spPr>
          <a:xfrm>
            <a:off x="297600" y="202150"/>
            <a:ext cx="739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interpretabilidade</a:t>
            </a:r>
            <a:endParaRPr b="0" i="0" sz="28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662" name="Google Shape;1662;g1eb859933cc_0_1882"/>
          <p:cNvSpPr txBox="1"/>
          <p:nvPr/>
        </p:nvSpPr>
        <p:spPr>
          <a:xfrm>
            <a:off x="-2172750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3" name="Google Shape;1663;g1eb859933cc_0_1882"/>
          <p:cNvPicPr preferRelativeResize="0"/>
          <p:nvPr/>
        </p:nvPicPr>
        <p:blipFill rotWithShape="1">
          <a:blip r:embed="rId4">
            <a:alphaModFix/>
          </a:blip>
          <a:srcRect b="10515" l="0" r="0" t="0"/>
          <a:stretch/>
        </p:blipFill>
        <p:spPr>
          <a:xfrm>
            <a:off x="-18450" y="1279975"/>
            <a:ext cx="7399199" cy="388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g1eb859933cc_0_18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4600" y="3337600"/>
            <a:ext cx="1978200" cy="19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g1eb859933cc_0_1882"/>
          <p:cNvSpPr/>
          <p:nvPr/>
        </p:nvSpPr>
        <p:spPr>
          <a:xfrm>
            <a:off x="102800" y="1445825"/>
            <a:ext cx="7278000" cy="1891800"/>
          </a:xfrm>
          <a:prstGeom prst="wedgeRoundRectCallout">
            <a:avLst>
              <a:gd fmla="val 38958" name="adj1"/>
              <a:gd fmla="val 7326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Insights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há interseção direta entre os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Importância de utilizar e avaliar múltiplos 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Papel das características criadas por especialistas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6" name="Google Shape;1666;g1eb859933cc_0_18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48186" y="3463700"/>
            <a:ext cx="1713362" cy="1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g1eb859933cc_0_18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448" y="4212360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1eb859933cc_0_1771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g1eb859933cc_0_1771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AutoML: pipeline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674" name="Google Shape;1674;g1eb859933cc_0_1771"/>
          <p:cNvSpPr/>
          <p:nvPr/>
        </p:nvSpPr>
        <p:spPr>
          <a:xfrm>
            <a:off x="70100" y="1758975"/>
            <a:ext cx="1404300" cy="9756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g1eb859933cc_0_1771"/>
          <p:cNvSpPr/>
          <p:nvPr/>
        </p:nvSpPr>
        <p:spPr>
          <a:xfrm>
            <a:off x="1626375" y="1899525"/>
            <a:ext cx="11775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g1eb859933cc_0_1771"/>
          <p:cNvSpPr/>
          <p:nvPr/>
        </p:nvSpPr>
        <p:spPr>
          <a:xfrm>
            <a:off x="2966825" y="1899525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g1eb859933cc_0_1771"/>
          <p:cNvSpPr/>
          <p:nvPr/>
        </p:nvSpPr>
        <p:spPr>
          <a:xfrm>
            <a:off x="4369075" y="1899525"/>
            <a:ext cx="15171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g1eb859933cc_0_1771"/>
          <p:cNvSpPr/>
          <p:nvPr/>
        </p:nvSpPr>
        <p:spPr>
          <a:xfrm>
            <a:off x="4369075" y="3022600"/>
            <a:ext cx="12393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g1eb859933cc_0_1771"/>
          <p:cNvSpPr/>
          <p:nvPr/>
        </p:nvSpPr>
        <p:spPr>
          <a:xfrm>
            <a:off x="5781175" y="3022600"/>
            <a:ext cx="13266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g1eb859933cc_0_1771"/>
          <p:cNvSpPr/>
          <p:nvPr/>
        </p:nvSpPr>
        <p:spPr>
          <a:xfrm>
            <a:off x="7280575" y="3022600"/>
            <a:ext cx="1634700" cy="69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Hiperparâmetros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g1eb859933cc_0_1771"/>
          <p:cNvSpPr/>
          <p:nvPr/>
        </p:nvSpPr>
        <p:spPr>
          <a:xfrm>
            <a:off x="7339375" y="4408750"/>
            <a:ext cx="1517100" cy="694500"/>
          </a:xfrm>
          <a:prstGeom prst="ellipse">
            <a:avLst/>
          </a:prstGeom>
          <a:solidFill>
            <a:srgbClr val="FF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Predições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2" name="Google Shape;1682;g1eb859933cc_0_1771"/>
          <p:cNvCxnSpPr>
            <a:endCxn id="1675" idx="1"/>
          </p:cNvCxnSpPr>
          <p:nvPr/>
        </p:nvCxnSpPr>
        <p:spPr>
          <a:xfrm flipH="1" rot="10800000">
            <a:off x="1462575" y="2246775"/>
            <a:ext cx="163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3" name="Google Shape;1683;g1eb859933cc_0_1771"/>
          <p:cNvCxnSpPr>
            <a:stCxn id="1675" idx="3"/>
            <a:endCxn id="1676" idx="1"/>
          </p:cNvCxnSpPr>
          <p:nvPr/>
        </p:nvCxnSpPr>
        <p:spPr>
          <a:xfrm>
            <a:off x="280387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4" name="Google Shape;1684;g1eb859933cc_0_1771"/>
          <p:cNvCxnSpPr>
            <a:stCxn id="1676" idx="3"/>
            <a:endCxn id="1677" idx="1"/>
          </p:cNvCxnSpPr>
          <p:nvPr/>
        </p:nvCxnSpPr>
        <p:spPr>
          <a:xfrm>
            <a:off x="4206125" y="2246775"/>
            <a:ext cx="1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5" name="Google Shape;1685;g1eb859933cc_0_1771"/>
          <p:cNvCxnSpPr>
            <a:stCxn id="1678" idx="3"/>
            <a:endCxn id="1679" idx="1"/>
          </p:cNvCxnSpPr>
          <p:nvPr/>
        </p:nvCxnSpPr>
        <p:spPr>
          <a:xfrm>
            <a:off x="56083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6" name="Google Shape;1686;g1eb859933cc_0_1771"/>
          <p:cNvCxnSpPr>
            <a:stCxn id="1679" idx="3"/>
            <a:endCxn id="1680" idx="1"/>
          </p:cNvCxnSpPr>
          <p:nvPr/>
        </p:nvCxnSpPr>
        <p:spPr>
          <a:xfrm>
            <a:off x="7107775" y="3369850"/>
            <a:ext cx="1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7" name="Google Shape;1687;g1eb859933cc_0_1771"/>
          <p:cNvSpPr/>
          <p:nvPr/>
        </p:nvSpPr>
        <p:spPr>
          <a:xfrm>
            <a:off x="4274425" y="2895125"/>
            <a:ext cx="4727400" cy="975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8" name="Google Shape;1688;g1eb859933cc_0_1771"/>
          <p:cNvCxnSpPr>
            <a:stCxn id="1680" idx="2"/>
            <a:endCxn id="1681" idx="0"/>
          </p:cNvCxnSpPr>
          <p:nvPr/>
        </p:nvCxnSpPr>
        <p:spPr>
          <a:xfrm>
            <a:off x="8097925" y="3717100"/>
            <a:ext cx="0" cy="6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9" name="Google Shape;1689;g1eb859933cc_0_1771"/>
          <p:cNvSpPr txBox="1"/>
          <p:nvPr/>
        </p:nvSpPr>
        <p:spPr>
          <a:xfrm>
            <a:off x="6733475" y="2393100"/>
            <a:ext cx="27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Arquitetural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g1eb859933cc_0_1771"/>
          <p:cNvSpPr/>
          <p:nvPr/>
        </p:nvSpPr>
        <p:spPr>
          <a:xfrm>
            <a:off x="1533075" y="1772975"/>
            <a:ext cx="7545000" cy="219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g1eb859933cc_0_1771"/>
          <p:cNvSpPr txBox="1"/>
          <p:nvPr/>
        </p:nvSpPr>
        <p:spPr>
          <a:xfrm>
            <a:off x="1581225" y="3470475"/>
            <a:ext cx="140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2" name="Google Shape;1692;g1eb859933cc_0_1771"/>
          <p:cNvCxnSpPr/>
          <p:nvPr/>
        </p:nvCxnSpPr>
        <p:spPr>
          <a:xfrm>
            <a:off x="4968875" y="2621700"/>
            <a:ext cx="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3" name="Google Shape;1693;g1eb859933cc_0_1771"/>
          <p:cNvSpPr/>
          <p:nvPr/>
        </p:nvSpPr>
        <p:spPr>
          <a:xfrm>
            <a:off x="1533075" y="40168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Interpretabilidade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g1eb859933cc_0_1771"/>
          <p:cNvSpPr/>
          <p:nvPr/>
        </p:nvSpPr>
        <p:spPr>
          <a:xfrm>
            <a:off x="1533075" y="1404000"/>
            <a:ext cx="7545000" cy="315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g1eb859933cc_0_1771"/>
          <p:cNvSpPr/>
          <p:nvPr/>
        </p:nvSpPr>
        <p:spPr>
          <a:xfrm>
            <a:off x="263075" y="2399175"/>
            <a:ext cx="7976700" cy="1187700"/>
          </a:xfrm>
          <a:prstGeom prst="wedgeRoundRectCallout">
            <a:avLst>
              <a:gd fmla="val 13073" name="adj1"/>
              <a:gd fmla="val 84744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Lição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interpretabilidade é fundamental para compreensão e comparação das diferentes soluções de AutoML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1eb859933cc_0_1799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g1eb859933cc_0_1799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AML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: 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ações transversais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02" name="Google Shape;1702;g1eb859933cc_0_1799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Foco inicial: </a:t>
            </a:r>
            <a:r>
              <a:rPr b="1" i="0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impacto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de ataques de </a:t>
            </a:r>
            <a:r>
              <a:rPr b="1" i="1" lang="pt-BR" sz="2000" u="none" cap="none" strike="noStrik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label flipping</a:t>
            </a:r>
            <a:r>
              <a:rPr b="0" i="1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(LFA) em </a:t>
            </a:r>
            <a:r>
              <a:rPr b="0" i="1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datasets</a:t>
            </a: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rotulados</a:t>
            </a:r>
            <a:endParaRPr b="0" i="0" sz="20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cxnSp>
        <p:nvCxnSpPr>
          <p:cNvPr id="1703" name="Google Shape;1703;g1eb859933cc_0_1799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1eb859933cc_0_1806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g1eb859933cc_0_1806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AML: </a:t>
            </a:r>
            <a:r>
              <a:rPr b="0" i="1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Label Flipping Attacks</a:t>
            </a: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(LFA)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10" name="Google Shape;1710;g1eb859933cc_0_1806"/>
          <p:cNvSpPr/>
          <p:nvPr/>
        </p:nvSpPr>
        <p:spPr>
          <a:xfrm>
            <a:off x="605950" y="1720675"/>
            <a:ext cx="7654500" cy="8466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Ataques de Mudança de Rótulo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Contexto da Detecção de Malwares Android: Uma Análise Experimental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g1eb859933cc_0_1806"/>
          <p:cNvSpPr/>
          <p:nvPr/>
        </p:nvSpPr>
        <p:spPr>
          <a:xfrm>
            <a:off x="5299525" y="3050625"/>
            <a:ext cx="2142300" cy="1889400"/>
          </a:xfrm>
          <a:prstGeom prst="wedgeRoundRectCallout">
            <a:avLst>
              <a:gd fmla="val 12639" name="adj1"/>
              <a:gd fmla="val -72472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LFA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Aleatório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Entropia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Silhueta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2" name="Google Shape;1712;g1eb859933cc_0_18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2500" y="3050625"/>
            <a:ext cx="1955159" cy="196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3" name="Google Shape;1713;g1eb859933cc_0_18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3673" y="3942460"/>
            <a:ext cx="654800" cy="7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1eb859933cc_0_196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g1eb859933cc_0_196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AML: </a:t>
            </a:r>
            <a:r>
              <a:rPr b="0" i="1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Label Flipping Attacks</a:t>
            </a: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(LFA)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720" name="Google Shape;1720;g1eb859933cc_0_19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37313"/>
            <a:ext cx="9191952" cy="35727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g1eb859933cc_0_1963"/>
          <p:cNvSpPr/>
          <p:nvPr/>
        </p:nvSpPr>
        <p:spPr>
          <a:xfrm>
            <a:off x="0" y="2122250"/>
            <a:ext cx="9063900" cy="7467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g1eb859933cc_0_1963"/>
          <p:cNvSpPr/>
          <p:nvPr/>
        </p:nvSpPr>
        <p:spPr>
          <a:xfrm>
            <a:off x="5375725" y="3203025"/>
            <a:ext cx="2632500" cy="1737000"/>
          </a:xfrm>
          <a:prstGeom prst="wedgeRoundRectCallout">
            <a:avLst>
              <a:gd fmla="val 20510" name="adj1"/>
              <a:gd fmla="val -69707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Ideia do impacto do LFA silhueta nos modelos SVM, RF e DT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1eb859933cc_0_197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g1eb859933cc_0_197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AML: </a:t>
            </a:r>
            <a:r>
              <a:rPr b="0" i="1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Label Flipping Attacks</a:t>
            </a: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(LFA)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29" name="Google Shape;1729;g1eb859933cc_0_1973"/>
          <p:cNvSpPr txBox="1"/>
          <p:nvPr/>
        </p:nvSpPr>
        <p:spPr>
          <a:xfrm>
            <a:off x="526800" y="1967200"/>
            <a:ext cx="8335200" cy="25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Resultados: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LFA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aleatório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foi 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menos impactante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LFA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silhueta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foi 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impactante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mais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(aleatório e entropia)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menos impactado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pelo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silhueta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0" i="1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Drebin-215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foi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menos impactado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g1eb859933cc_0_1973"/>
          <p:cNvSpPr txBox="1"/>
          <p:nvPr/>
        </p:nvSpPr>
        <p:spPr>
          <a:xfrm>
            <a:off x="19175" y="2346075"/>
            <a:ext cx="86502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1eb859933cc_0_198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g1eb859933cc_0_1985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AML: </a:t>
            </a:r>
            <a:r>
              <a:rPr b="0" i="1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Label Flipping Attacks</a:t>
            </a: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(LFA)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pic>
        <p:nvPicPr>
          <p:cNvPr id="1737" name="Google Shape;1737;g1eb859933cc_0_19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172" y="2855000"/>
            <a:ext cx="1875875" cy="15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g1eb859933cc_0_1985"/>
          <p:cNvSpPr/>
          <p:nvPr/>
        </p:nvSpPr>
        <p:spPr>
          <a:xfrm>
            <a:off x="3096750" y="1420250"/>
            <a:ext cx="5369100" cy="3441600"/>
          </a:xfrm>
          <a:prstGeom prst="wedgeRoundRectCallout">
            <a:avLst>
              <a:gd fmla="val -61966" name="adj1"/>
              <a:gd fmla="val -438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Há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mais "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resistentes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" a ataques adversariais como LFA?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Quais características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deixam o </a:t>
            </a:r>
            <a:r>
              <a:rPr b="0" i="1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menos suscetível a ataques adversariais?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Quais são os </a:t>
            </a:r>
            <a:r>
              <a:rPr b="1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modelos menos suscetíveis</a:t>
            </a: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 aos ataques adversariais?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333333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2200" u="none" cap="none" strike="noStrike">
              <a:solidFill>
                <a:srgbClr val="333333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1eb859933cc_0_2002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g1eb859933cc_0_2002"/>
          <p:cNvSpPr txBox="1"/>
          <p:nvPr/>
        </p:nvSpPr>
        <p:spPr>
          <a:xfrm>
            <a:off x="4193750" y="962700"/>
            <a:ext cx="46023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2C2C2C"/>
                </a:solidFill>
                <a:latin typeface="Encode Sans"/>
                <a:ea typeface="Encode Sans"/>
                <a:cs typeface="Encode Sans"/>
                <a:sym typeface="Encode Sans"/>
              </a:rPr>
              <a:t>FIM</a:t>
            </a:r>
            <a:r>
              <a:rPr b="0" i="0" lang="pt-BR" sz="3600" u="none" cap="none" strike="noStrike">
                <a:solidFill>
                  <a:srgbClr val="2C2C2C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?</a:t>
            </a:r>
            <a:endParaRPr b="0" i="0" sz="3600" u="none" cap="none" strike="noStrike">
              <a:solidFill>
                <a:srgbClr val="2C2C2C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45" name="Google Shape;1745;g1eb859933cc_0_2002"/>
          <p:cNvSpPr txBox="1"/>
          <p:nvPr/>
        </p:nvSpPr>
        <p:spPr>
          <a:xfrm>
            <a:off x="4193749" y="3320407"/>
            <a:ext cx="3309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Ou apenas o início do meio de uma longa jornada?</a:t>
            </a:r>
            <a:endParaRPr b="0" i="0" sz="2000" u="none" cap="none" strike="noStrike">
              <a:solidFill>
                <a:schemeClr val="dk2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cxnSp>
        <p:nvCxnSpPr>
          <p:cNvPr id="1746" name="Google Shape;1746;g1eb859933cc_0_2002"/>
          <p:cNvCxnSpPr/>
          <p:nvPr/>
        </p:nvCxnSpPr>
        <p:spPr>
          <a:xfrm>
            <a:off x="4316150" y="3060725"/>
            <a:ext cx="1378200" cy="0"/>
          </a:xfrm>
          <a:prstGeom prst="straightConnector1">
            <a:avLst/>
          </a:prstGeom>
          <a:noFill/>
          <a:ln cap="flat" cmpd="sng" w="19050">
            <a:solidFill>
              <a:srgbClr val="C6CA1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" name="Google Shape;1751;g1eb859933cc_0_19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1075" y="3554314"/>
            <a:ext cx="1860925" cy="1419211"/>
          </a:xfrm>
          <a:prstGeom prst="rect">
            <a:avLst/>
          </a:prstGeom>
          <a:noFill/>
          <a:ln>
            <a:noFill/>
          </a:ln>
        </p:spPr>
      </p:pic>
      <p:sp>
        <p:nvSpPr>
          <p:cNvPr id="1752" name="Google Shape;1752;g1eb859933cc_0_1995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g1eb859933cc_0_1995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Considerações finais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54" name="Google Shape;1754;g1eb859933cc_0_1995"/>
          <p:cNvSpPr/>
          <p:nvPr/>
        </p:nvSpPr>
        <p:spPr>
          <a:xfrm>
            <a:off x="224675" y="1417100"/>
            <a:ext cx="7046400" cy="84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vários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desafios em todos os estágios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pipeline de AutoML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5" name="Google Shape;1755;g1eb859933cc_0_19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1096" y="1721896"/>
            <a:ext cx="1291350" cy="16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0" name="Google Shape;1760;g1eb859933cc_0_20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1075" y="3554314"/>
            <a:ext cx="1860925" cy="1419211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g1eb859933cc_0_202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g1eb859933cc_0_202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Considerações finais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63" name="Google Shape;1763;g1eb859933cc_0_2023"/>
          <p:cNvSpPr/>
          <p:nvPr/>
        </p:nvSpPr>
        <p:spPr>
          <a:xfrm>
            <a:off x="224675" y="1417100"/>
            <a:ext cx="7046400" cy="84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vários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desafios em todos os estágios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pipeline de AutoML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g1eb859933cc_0_2023"/>
          <p:cNvSpPr/>
          <p:nvPr/>
        </p:nvSpPr>
        <p:spPr>
          <a:xfrm>
            <a:off x="207450" y="2426500"/>
            <a:ext cx="7046400" cy="122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transparência e interpretabilidade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fundamental para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resultados 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comparar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diferentes soluções de AutoML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5" name="Google Shape;1765;g1eb859933cc_0_20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1096" y="1721896"/>
            <a:ext cx="1291350" cy="16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0" name="Google Shape;1770;g1eb859933cc_0_20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1075" y="3554314"/>
            <a:ext cx="1860925" cy="1419211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g1eb859933cc_0_2033"/>
          <p:cNvSpPr txBox="1"/>
          <p:nvPr/>
        </p:nvSpPr>
        <p:spPr>
          <a:xfrm>
            <a:off x="5531575" y="4939900"/>
            <a:ext cx="3612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 Autor da apresentação: &lt;Nome do autor da apresentação&gt;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g1eb859933cc_0_2033"/>
          <p:cNvSpPr txBox="1"/>
          <p:nvPr/>
        </p:nvSpPr>
        <p:spPr>
          <a:xfrm>
            <a:off x="297601" y="202149"/>
            <a:ext cx="616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Considerações finais</a:t>
            </a:r>
            <a:endParaRPr b="0" i="0" sz="2700" u="none" cap="none" strike="noStrike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73" name="Google Shape;1773;g1eb859933cc_0_2033"/>
          <p:cNvSpPr/>
          <p:nvPr/>
        </p:nvSpPr>
        <p:spPr>
          <a:xfrm>
            <a:off x="224675" y="1417100"/>
            <a:ext cx="7046400" cy="84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vários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desafios em todos os estágios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pipeline de AutoML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g1eb859933cc_0_2033"/>
          <p:cNvSpPr/>
          <p:nvPr/>
        </p:nvSpPr>
        <p:spPr>
          <a:xfrm>
            <a:off x="207450" y="2426500"/>
            <a:ext cx="7046400" cy="122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transparência e interpretabilidade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fundamental para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resultados 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comparar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diferentes soluções de AutoML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g1eb859933cc_0_2033"/>
          <p:cNvSpPr/>
          <p:nvPr/>
        </p:nvSpPr>
        <p:spPr>
          <a:xfrm>
            <a:off x="224675" y="3816600"/>
            <a:ext cx="7046400" cy="122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Há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muitos desafios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domínio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detecção de malwares Android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remoções manuais de malwares ainda são frequentes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6" name="Google Shape;1776;g1eb859933cc_0_20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1096" y="1721896"/>
            <a:ext cx="1291350" cy="16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1eb859933cc_0_2083"/>
          <p:cNvSpPr txBox="1"/>
          <p:nvPr/>
        </p:nvSpPr>
        <p:spPr>
          <a:xfrm>
            <a:off x="3718625" y="728975"/>
            <a:ext cx="4107900" cy="1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g1eb859933cc_0_2083"/>
          <p:cNvSpPr txBox="1"/>
          <p:nvPr/>
        </p:nvSpPr>
        <p:spPr>
          <a:xfrm>
            <a:off x="3936025" y="814875"/>
            <a:ext cx="48741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Ask the Experts</a:t>
            </a:r>
            <a:endParaRPr b="0" i="0" sz="36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83" name="Google Shape;1783;g1eb859933cc_0_2083"/>
          <p:cNvSpPr txBox="1"/>
          <p:nvPr/>
        </p:nvSpPr>
        <p:spPr>
          <a:xfrm>
            <a:off x="3936025" y="2334375"/>
            <a:ext cx="46488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rgbClr val="D8D8D8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Venha conversar</a:t>
            </a:r>
            <a:endParaRPr b="0" i="0" sz="2400" u="none" cap="none" strike="noStrike">
              <a:solidFill>
                <a:srgbClr val="D8D8D8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784" name="Google Shape;1784;g1eb859933cc_0_2083"/>
          <p:cNvSpPr/>
          <p:nvPr/>
        </p:nvSpPr>
        <p:spPr>
          <a:xfrm>
            <a:off x="4046375" y="4598125"/>
            <a:ext cx="2858100" cy="5451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txBody>
          <a:bodyPr anchorCtr="0" anchor="ctr" bIns="121850" lIns="243800" spcFirstLastPara="1" rIns="243800" wrap="square" tIns="121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g1eb859933cc_0_2083"/>
          <p:cNvSpPr txBox="1"/>
          <p:nvPr/>
        </p:nvSpPr>
        <p:spPr>
          <a:xfrm>
            <a:off x="3932975" y="4622225"/>
            <a:ext cx="3261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243800" spcFirstLastPara="1" rIns="243800" wrap="square" tIns="1218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Classificação da Informação: PÚBLICA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Autor da apresentação: Diego Kreutz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6" name="Google Shape;1786;g1eb859933cc_0_2083"/>
          <p:cNvCxnSpPr/>
          <p:nvPr/>
        </p:nvCxnSpPr>
        <p:spPr>
          <a:xfrm>
            <a:off x="4058425" y="2912900"/>
            <a:ext cx="1378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7" name="Google Shape;1787;g1eb859933cc_0_2083"/>
          <p:cNvSpPr txBox="1"/>
          <p:nvPr/>
        </p:nvSpPr>
        <p:spPr>
          <a:xfrm>
            <a:off x="3936025" y="3096375"/>
            <a:ext cx="46488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rgbClr val="D8D8D8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Diego Kreutz</a:t>
            </a:r>
            <a:endParaRPr b="0" i="0" sz="2400" u="none" cap="none" strike="noStrike">
              <a:solidFill>
                <a:srgbClr val="D8D8D8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2400" u="sng" cap="none" strike="noStrike">
                <a:solidFill>
                  <a:schemeClr val="hlink"/>
                </a:solidFill>
                <a:latin typeface="Encode Sans Medium"/>
                <a:ea typeface="Encode Sans Medium"/>
                <a:cs typeface="Encode Sans Medium"/>
                <a:sym typeface="Encode Sans Medium"/>
                <a:hlinkClick r:id="rId4"/>
              </a:rPr>
              <a:t>diegokreutz@unipampa.edu.br</a:t>
            </a:r>
            <a:r>
              <a:rPr b="0" i="0" lang="pt-BR" sz="2400" u="none" cap="none" strike="noStrike">
                <a:solidFill>
                  <a:srgbClr val="D8D8D8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</a:t>
            </a:r>
            <a:endParaRPr b="0" i="0" sz="2400" u="none" cap="none" strike="noStrike">
              <a:solidFill>
                <a:srgbClr val="D8D8D8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