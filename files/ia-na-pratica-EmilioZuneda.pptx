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Apresente-se em 30 segundos. Professor e pesquisador da UNIPAMPA. A noite é prática: todos os exemplos são respostas reais de IA, sem retoque.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Levante a sua mão primeiro. Conte as mãos. Pergunte a quem não levantou o que usou hoje no celular: quase sempre usou sem perceber.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as mãos para a primeira pergunta, depois para a segunda. Quase todas sobem na primeira e quase nenhuma na segunda. Guarde esse contraste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a história em uma frase: hoje de manhã pensei nisso e criei três músicas com IA. Do meu tempo, foram cinco minutos. Toque as três e só depois comente. Gancho para a noite: o que antes exigia instrumento, estúdio e anos de prática, hoje começa com uma boa descrição. O resto da palestra é sobre fazer bons pedidos.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Toque a versão 1 inteira, um trecho da versão 2 e feche com a versão 3, a melhor: repare no banjo de verdade no meio da música. Mesmo pedido, resultados diferentes: a IA sempre oferece variações, e escolher entre elas é trabalho seu. Aponte os QR Codes: quem quiser ouvir de novo pode abrir no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Lance o desafio em tom de brincadeira, sem prometer o resultado. Leia o pedido em voz alta: a IA vai receber esta apresentação, as músicas e os vídeos e tentar montar um vídeo da palestra, com momentos de animação. O recado é que um pedido claro, com material de verdade, é o que faz a diferença. Vamos ver até onde ela vai.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da esquerda para a direita. Em cima o que a pessoa fez, embaixo quem decidiu de fato. Hoje a proposta é inverter: usar a IA de propósito.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Diga logo no início que todos os exemplos são reais: pedidos feitos a uma IA na véspera, com as respostas como vieram.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esquerda mostra o poder, a direita protege. Ela não pode ser responsabilizada por nada. Quem responde é quem 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desmereça a ferramenta: quem já usa vai se desligar. Diga que você usa todo dia para as coisas da esquerda. O próximo slide é a prova.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duas linhas em voz alta, do jeito que estão: sem acento, sem ordem, com interrogação dupla. É como as anotações de reunião costumam ser. O pedido foi: transforme em ata, com tabela de tarefas, responsável e prazo, e não invente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exato da resposta, sem retoque. Repare em três coisas: onde não havia prazo, ela escreveu “a definir”, como pedido; separou o que foi decidido do que ficou em aberto; e no fim avisou o que supôs: “Atribuí a Bianca por ser do financeiro. Confirme se está correto.”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jeito clássico de a IA errar: a alucinação não chega com cara de erro, chega com cara de resposta pronta. O próximo slide mostra o que aconteceu quando eu pedi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Pedido real: três livros brasileiros sobre contabilidade e IA, com referência ABNT. Ela recusou e explicou por quê. Bom sinal. Mas no item 4 ela mandou conferir no site do ISBN da Biblioteca Nacional, que deixou de emitir ISBN em março de 2020. Hoje é a Câmara Brasileira do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à mesma IA, sem busca, que confira a fonte ajuda pouco: ela pode confirmar com toda a segurança o que acabou de inventar. O que funciona é a IA com busca na web, que mostra o link, e você abrir o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devagar. É a frase que organiza todo o resto da palestra.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Colha duas ou três respostas. A resposta que você quer ouvir: depende do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os dois em voz alta. O segundo diz quem pede, para quem é, o que quer, em que formato e com que limite. No próximo slide, o que cada um devolveu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dois textos estão corretos. O da esquerda é uma aula genérica que não serve a ninguém em particular. O da direita cabe na conversa com o dono da padaria, e a tabela fecha: 500 mais as sobras de cada dia dá 1.800. Eu conferi.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precisa usar as cinco partes sempre. Mas quando a resposta vier fraca, quase sempre faltou uma delas.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vou mostrar os quatro funcionando num caso real, um depois do outro.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tarefa veio da ata do começo da palestra: o Joel precisa vender 40 sacos de ração que vencem em dezembro. Vou mostrar cada truque com a resposta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Pedido real: “antes de sugerir qualquer coisa, me faça as perguntas que você precisa”. Vieram 19. Eu respondi em quatro linhas: ração para cães, R$ 120 de venda, R$ 85 de custo, vence em 15/12, lista de 300 clientes no WhatsApp.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versão veio com a mensagem de WhatsApp pronta, com a validade informada. Escolhi a versão 2, que ela mesma recomendou. E aí veio o truque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truque mais subestimado. Ela achou dez problemas na sugestão que ela mesma tinha feito. Mostro quatro. E repare na frase do rodapé: ela admitiu que uma afirmação anterior era hipótese.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Pergunta: 25% de desconto, 40 sacos, qual o lucro? E se descartar tudo? Dois modelos, conversas separadas. Concordaram, e a calculadora também. O ideal é usar IAs de empresas diferentes: ChatGPT, Gemini,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os cinco de uma vez. Cada um volta destacado quando chegar a vez dele. O quinto é o de vocês.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Primeiro uso: apresentações. Conte que esta própria apresentação é o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Feita com o Claude Code, na linha de comando: roteiro, slides em PPTX e HTML, capturas dos sites e os exemplos reais. Revisada por mim, slide 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passo 1 é seu e não pode ser terceirizado: se você não sabe dizer a ideia em uma frase, a IA também não sabe.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pedido está no site. Troque o tema pelo do trabalho de vocês.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slides4all reúne as regras que funcionam na prática. É gratuito e vale para qualquer apresentação, com ou sem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Segundo uso: sites. Há dez anos isso exigia um programador. Hoje exige uma boa descrição.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Navegue pelo alegrete.org ao vivo, se houver internet. Atrativos, história, sabores, hospedagem: tudo organizado com ajuda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Mesmo método, outro público. Português, espanhol e inglês com um clique.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 Pages, Netlify e Google Sites publicam de graça. Para um aluno de técnico, um site de portfólio já diferencia o currículo.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dois pedidos foram feitos de verdade, no mesmo modelo. O resultado está no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da esquerda é bonito, e esse é o perigo: parece pronto. Mas não diz a cidade, não tem WhatsApp e o formulário de encomenda não envia nada, ela mesma avisou. O da direita fez exatamente o que foi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Captura real da página em largura de celular. Gerada de uma vez, sem nenhum ajuste meu. Antes de publicar, ainda falta trocar os dados fictícios pelos reais e testar o botão.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Terceiro uso: vídeos. Vale para trabalho de aula, divulgação de empresa e treinamento.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 útil: uma pessoa fala cerca de 130 palavras por minuto. Um vídeo de 2 minutos pede um roteiro de 260 palavras.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Claude Code, na linha de comando, faz tudo isso: escreve o roteiro, monta os slides, gera a narração e junta tudo num vídeo. O NotebookLM é ótimo para estudo: transforma o seu material em resumo em áudio e em vídeo.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vídeo em desenho e depois o mais sóbrio. Mesmo roteiro e mesma narração, dois estilos visuais. Pergunte qual cada um usaria para divulgar um escritório de contabilidade e por quê. Aponte os QR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sempre o roteiro marcado por slide: fica fácil gravar um slide por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Quarto uso, e o mais importante para vocês agora: estudar.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a pergunta no ar. Não precisa de resposta em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cola dá nota hoje e branco na prova. Pior: no estágio não tem ninguém para colar. Mesma ferramenta, dois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quarto é o mais poderoso: o NotebookLM responde com base no material que você subiu, e mostra de onde tirou cada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Exemplo real: o conteúdo de livros de algoritmos foi refatorado com IA e ganhou muito mais, com exemplos das engenharias, exercícios e código que roda no próprio navegador, sem instalar nada. O mesmo vale para uma apostila de contabilidade: reorganizar, dar exemplos do comércio e criar exercícios.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pedido que eu mais recomendo. Ele transforma qualquer chat em um professor paciente.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Quinto uso, o de vocês: contabilidade e gestão. Dois exemplos reais a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Contabilidade, a regra é ainda mais dura: o número final se confere na planilha e no sistema, nunca no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Colei o extrato e o razão de outubro, com dados fictícios e três diferenças escondidas: um valor com dígitos trocados, uma tarifa não lançada e um recebimento que não aparece no banco. Ela achou as três, explicou a causa provável e fechou a conta: 270 mais 45,90 mais 650 dá 965,90. Eu conferi.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Pedido real: coluna A com datas, B com categoria, C com valor; quero o total de Aluguel em março de 2026. Repare no detalhe: ela usou “menor que 1º de abril”, e não “até 31 de março”, para não perder lançamentos com hora. Teste sempre com valores que você já conhece.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ata do começo da palestra é um exemplo deste slide. Peça exemplos da turma: quem já faz estágio? Que tarefa repete toda semana?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LGPD vale para vocês desde o primeiro dia de estágio. Ferramenta gratuita pode usar o que você digita para treinar o modelo. Repare: todos os exemplos de hoje usaram dados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der tempo para um só, fique com o primeiro: confira. Vimos hoje que até a resposta prudente tinha um detalhe vencido.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que escolham a tarefa agora, mentalmente. Quem quiser, manda o resultado: vira exemplo na próxima palestra.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Curso novo, público e gratuito, no Campus Alegrete, com a primeira turma em março de 2027. Currículo desenhado do zero para a IA, com prática desde o primeiro dia e integração com o PPGES e o AI Horizon Labs. Quem gostou desta noite já pode se preparar: aponte o QR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as duas linhas devagar. Agradeça e abra para perguntas. Aponte o QR Code: slides e pedidos estão no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alks4all.github.io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talks4all.github.io/musicas/emilio_zuneda/radical_v1.mp3" TargetMode="External"/><Relationship Id="rId4" Type="http://schemas.openxmlformats.org/officeDocument/2006/relationships/image" Target="../media/image7.png"/><Relationship Id="rId5" Type="http://schemas.openxmlformats.org/officeDocument/2006/relationships/hyperlink" Target="https://talks4all.github.io/musicas/emilio_zuneda/radical_v2.mp3" TargetMode="External"/><Relationship Id="rId6" Type="http://schemas.openxmlformats.org/officeDocument/2006/relationships/image" Target="../media/image8.png"/><Relationship Id="rId7" Type="http://schemas.openxmlformats.org/officeDocument/2006/relationships/hyperlink" Target="https://talks4all.github.io/musicas/emilio_zuneda/radical_v3.mp3" TargetMode="Externa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s://talks4all.github.io" TargetMode="External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slides4all.github.io" TargetMode="Externa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alegrete.org" TargetMode="External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ai-horizon-labs.github.io" TargetMode="External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hyperlink" Target="https://talks4all.github.io/videos/emilio_zuneda/contador_cartoon_narrado.mp4" TargetMode="External"/><Relationship Id="rId4" Type="http://schemas.openxmlformats.org/officeDocument/2006/relationships/image" Target="../media/image25.png"/><Relationship Id="rId5" Type="http://schemas.openxmlformats.org/officeDocument/2006/relationships/hyperlink" Target="https://talks4all.github.io/videos/emilio_zuneda/contador_clean_narrado.mp4" TargetMode="External"/><Relationship Id="rId6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hyperlink" Target="https://algoritmos4all.github.io" TargetMode="External"/><Relationship Id="rId5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hyperlink" Target="https://bia-unipampa.github.io" TargetMode="External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alks4all.github.io" TargetMode="External"/><Relationship Id="rId4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97A0A"/>
                </a:solidFill>
                <a:latin typeface="Arial"/>
              </a:rPr>
              <a:t>CICLO DE PALESTRAS  ·  CURSOS TÉCNICOS DE ADMINISTRAÇÃO E CONTABILIDADE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B7280"/>
                </a:solidFill>
                <a:latin typeface="Arial"/>
              </a:rPr>
              <a:t>Colégio Emílio Zuneda  ·  20 de outubro de 2026, 19h30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7863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0F2369"/>
                </a:solidFill>
                <a:latin typeface="Arial"/>
              </a:rPr>
              <a:t>IA na prática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3000" b="0">
                <a:solidFill>
                  <a:srgbClr val="0F2369"/>
                </a:solidFill>
                <a:latin typeface="Arial"/>
              </a:rPr>
              <a:t>Como usar inteligência artificial para estudar, criar e trabalhar melhor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931920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F2369"/>
                </a:solidFill>
                <a:latin typeface="Arial"/>
              </a:rPr>
              <a:t>Prof. Dr. Diego Kreutz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100" b="0">
                <a:solidFill>
                  <a:srgbClr val="6B7280"/>
                </a:solidFill>
                <a:latin typeface="Arial"/>
              </a:rPr>
              <a:t>UNIPAMPA  ·  AI Horizon Labs</a:t>
            </a:r>
          </a:p>
        </p:txBody>
      </p:sp>
      <p:pic>
        <p:nvPicPr>
          <p:cNvPr id="8" name="Picture 7" descr="qr_talks4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600200"/>
            <a:ext cx="237744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0" y="406908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Arial"/>
                <a:hlinkClick r:id="rId3"/>
              </a:rPr>
              <a:t>slides e materiais em</a:t>
            </a:r>
            <a:br/>
            <a:r>
              <a:rPr sz="1400" b="0">
                <a:solidFill>
                  <a:srgbClr val="6B7280"/>
                </a:solidFill>
                <a:latin typeface="Arial"/>
                <a:hlinkClick r:id="rId3"/>
              </a:rPr>
              <a:t>talks4all.github.io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760720"/>
            <a:ext cx="1219169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unipamp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925312"/>
            <a:ext cx="1202073" cy="749808"/>
          </a:xfrm>
          <a:prstGeom prst="rect">
            <a:avLst/>
          </a:prstGeom>
        </p:spPr>
      </p:pic>
      <p:pic>
        <p:nvPicPr>
          <p:cNvPr id="12" name="Picture 11" descr="logo_aihoriz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5494" y="6035040"/>
            <a:ext cx="2201967" cy="530352"/>
          </a:xfrm>
          <a:prstGeom prst="rect">
            <a:avLst/>
          </a:prstGeom>
        </p:spPr>
      </p:pic>
      <p:pic>
        <p:nvPicPr>
          <p:cNvPr id="13" name="Picture 12" descr="logo_ppg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642" y="5925312"/>
            <a:ext cx="798708" cy="749808"/>
          </a:xfrm>
          <a:prstGeom prst="rect">
            <a:avLst/>
          </a:prstGeom>
        </p:spPr>
      </p:pic>
      <p:pic>
        <p:nvPicPr>
          <p:cNvPr id="14" name="Picture 13" descr="logo_b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8532" y="6071616"/>
            <a:ext cx="1255922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PERGUNTA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Quem aqui usou inteligência artificial nas últimas 24 horas?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6B7280"/>
                </a:solidFill>
                <a:latin typeface="Arial"/>
              </a:rPr>
              <a:t>Pense no celular antes de responder.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PERGUNTA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Quem aqui gosta de música? E quem já criou uma música?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UMA EXPERIÊNCIA DE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Já pensou em criar músicas com IA?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4400" b="1">
                <a:solidFill>
                  <a:srgbClr val="9A5B00"/>
                </a:solidFill>
                <a:latin typeface="Arial"/>
              </a:rPr>
              <a:t>Eu pensei hoje e criei três.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16052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E1E1E"/>
                </a:solidFill>
                <a:latin typeface="Arial"/>
              </a:rPr>
              <a:t>Do meu tempo e do meu trabalho, foram </a:t>
            </a:r>
            <a:r>
              <a:rPr sz="2800" b="1">
                <a:solidFill>
                  <a:srgbClr val="1E1E1E"/>
                </a:solidFill>
                <a:latin typeface="Arial"/>
              </a:rPr>
              <a:t>só 5 minutos</a:t>
            </a:r>
            <a:r>
              <a:rPr sz="2800" b="0">
                <a:solidFill>
                  <a:srgbClr val="1E1E1E"/>
                </a:solidFill>
                <a:latin typeface="Arial"/>
              </a:rPr>
              <a:t>.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800" b="1">
                <a:solidFill>
                  <a:srgbClr val="0A866E"/>
                </a:solidFill>
                <a:latin typeface="Arial"/>
              </a:rPr>
              <a:t>Vamos ouvir.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UMA EXPERIÊNCIA DE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As três músicas, feitas com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</a:t>
            </a:r>
          </a:p>
        </p:txBody>
      </p:sp>
      <p:pic>
        <p:nvPicPr>
          <p:cNvPr id="11" name="Picture 10" descr="qr_radical_v1_m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1280160" cy="1280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77440" y="1737360"/>
            <a:ext cx="9037015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  <a:hlinkClick r:id="rId3"/>
              </a:rPr>
              <a:t>Radical, versão 1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Música criada com IA para esta palestra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>
                <a:solidFill>
                  <a:srgbClr val="9A5B00"/>
                </a:solidFill>
                <a:latin typeface="Arial"/>
                <a:hlinkClick r:id="rId3"/>
              </a:rPr>
              <a:t>talks4all.github.io/musicas/emilio_zuneda/radical_v1.mp3</a:t>
            </a:r>
          </a:p>
        </p:txBody>
      </p:sp>
      <p:pic>
        <p:nvPicPr>
          <p:cNvPr id="13" name="Picture 12" descr="qr_radical_v2_m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72968"/>
            <a:ext cx="1280160" cy="1280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77440" y="3218688"/>
            <a:ext cx="9037015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  <a:hlinkClick r:id="rId5"/>
              </a:rPr>
              <a:t>Radical, versão 2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Mesmo pedido, outro resultado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>
                <a:solidFill>
                  <a:srgbClr val="9A5B00"/>
                </a:solidFill>
                <a:latin typeface="Arial"/>
                <a:hlinkClick r:id="rId5"/>
              </a:rPr>
              <a:t>talks4all.github.io/musicas/emilio_zuneda/radical_v2.mp3</a:t>
            </a:r>
          </a:p>
        </p:txBody>
      </p:sp>
      <p:pic>
        <p:nvPicPr>
          <p:cNvPr id="15" name="Picture 14" descr="qr_radical_v3_mp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654296"/>
            <a:ext cx="1280160" cy="1280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77440" y="4700016"/>
            <a:ext cx="9037015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  <a:hlinkClick r:id="rId7"/>
              </a:rPr>
              <a:t>Radical, versão 3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A melhor: com som real de banjo no meio da música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>
                <a:solidFill>
                  <a:srgbClr val="9A5B00"/>
                </a:solidFill>
                <a:latin typeface="Arial"/>
                <a:hlinkClick r:id="rId7"/>
              </a:rPr>
              <a:t>talks4all.github.io/musicas/emilio_zuneda/radical_v3.mp3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UMA BRINCADEIRA PARA ESTA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Vamos ver o que a IA consegue nos entregar?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10637215" cy="2249170"/>
          </a:xfrm>
          <a:prstGeom prst="rect">
            <a:avLst/>
          </a:prstGeom>
          <a:noFill/>
          <a:ln w="15875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783080"/>
            <a:ext cx="73152" cy="224917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10088575" cy="197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O PEDIDO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Gere um vídeo desta apresentação, com momentos de animação: trechos das músicas que vocês acabaram de ouvir, trechos dos vídeos que vamos ver e transições entre as partes. Use os slides, as músicas e os vídeos como material.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Pedido claro, material de verdade. Vamos ver até onde ela vai.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ANTES DE COMEÇAR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A IA já está no seu 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B7280"/>
                </a:solidFill>
                <a:latin typeface="Arial"/>
              </a:rPr>
              <a:t>07h10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Você abriu o celular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310128"/>
            <a:ext cx="164592" cy="164592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238498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O feed escolheu o que você viu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6543" y="178308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B7280"/>
                </a:solidFill>
                <a:latin typeface="Arial"/>
              </a:rPr>
              <a:t>12h15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6543" y="2240280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Você pagou com Pix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36543" y="3310128"/>
            <a:ext cx="164592" cy="164592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6543" y="3657600"/>
            <a:ext cx="238498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O antifraude aprovou em milissegundos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7" y="178308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B7280"/>
                </a:solidFill>
                <a:latin typeface="Arial"/>
              </a:rPr>
              <a:t>18h30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7" y="2240280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Você mandou um currículo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5847" y="3310128"/>
            <a:ext cx="164592" cy="164592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5847" y="3657600"/>
            <a:ext cx="238498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Um software leu antes de uma pessoa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5151" y="178308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B7280"/>
                </a:solidFill>
                <a:latin typeface="Arial"/>
              </a:rPr>
              <a:t>21h00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5151" y="2240280"/>
            <a:ext cx="238498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Você abriu o streaming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55151" y="3310128"/>
            <a:ext cx="164592" cy="164592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5151" y="3657600"/>
            <a:ext cx="238498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A fila foi montada para você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383280"/>
            <a:ext cx="10637215" cy="13716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Hoje: sair do banco do passageiro e pegar o volante.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ROTEIRO DE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que vamos fazer nesta noite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1. Entender</a:t>
            </a:r>
            <a:r>
              <a:rPr sz="2800" b="0">
                <a:solidFill>
                  <a:srgbClr val="1E1E1E"/>
                </a:solidFill>
                <a:latin typeface="Arial"/>
              </a:rPr>
              <a:t> o que a IA faz bem e onde ela erra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2. Pedir bem:</a:t>
            </a:r>
            <a:r>
              <a:rPr sz="2800" b="0">
                <a:solidFill>
                  <a:srgbClr val="1E1E1E"/>
                </a:solidFill>
                <a:latin typeface="Arial"/>
              </a:rPr>
              <a:t> a receita e quatro truques, com exemplos reais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3. Cinco usos práticos,</a:t>
            </a:r>
            <a:r>
              <a:rPr sz="2800" b="0">
                <a:solidFill>
                  <a:srgbClr val="1E1E1E"/>
                </a:solidFill>
                <a:latin typeface="Arial"/>
              </a:rPr>
              <a:t> da apresentação à contabilidade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4. Cuidados</a:t>
            </a:r>
            <a:r>
              <a:rPr sz="2800" b="0">
                <a:solidFill>
                  <a:srgbClr val="1E1E1E"/>
                </a:solidFill>
                <a:latin typeface="Arial"/>
              </a:rPr>
              <a:t> e cinco hábitos para levar para casa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Todos os exemplos de hoje são respostas reais de IA, sem retoque.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1 · ENTENDER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que ela é, e o que ela não 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O que ela é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Um modelo que aprendeu </a:t>
            </a:r>
            <a:r>
              <a:rPr sz="2400" b="1">
                <a:solidFill>
                  <a:srgbClr val="1E1E1E"/>
                </a:solidFill>
                <a:latin typeface="Arial"/>
              </a:rPr>
              <a:t>padrões</a:t>
            </a:r>
            <a:r>
              <a:rPr sz="2400" b="0">
                <a:solidFill>
                  <a:srgbClr val="1E1E1E"/>
                </a:solidFill>
                <a:latin typeface="Arial"/>
              </a:rPr>
              <a:t> em bilhões de textos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Ótima para </a:t>
            </a:r>
            <a:r>
              <a:rPr sz="2400" b="1">
                <a:solidFill>
                  <a:srgbClr val="1E1E1E"/>
                </a:solidFill>
                <a:latin typeface="Arial"/>
              </a:rPr>
              <a:t>rascunho</a:t>
            </a:r>
            <a:r>
              <a:rPr sz="2400" b="0">
                <a:solidFill>
                  <a:srgbClr val="1E1E1E"/>
                </a:solidFill>
                <a:latin typeface="Arial"/>
              </a:rPr>
              <a:t>, resumo, explicação e formatação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Disponível a qualquer hora, </a:t>
            </a:r>
            <a:r>
              <a:rPr sz="2400" b="1">
                <a:solidFill>
                  <a:srgbClr val="1E1E1E"/>
                </a:solidFill>
                <a:latin typeface="Arial"/>
              </a:rPr>
              <a:t>de graça</a:t>
            </a:r>
            <a:r>
              <a:rPr sz="2400" b="0">
                <a:solidFill>
                  <a:srgbClr val="1E1E1E"/>
                </a:solidFill>
                <a:latin typeface="Arial"/>
              </a:rPr>
              <a:t> ou quase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9A5B00"/>
                </a:solidFill>
                <a:latin typeface="Arial"/>
              </a:rPr>
              <a:t>O que ela não é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Uma enciclopédia que </a:t>
            </a:r>
            <a:r>
              <a:rPr sz="2400" b="1">
                <a:solidFill>
                  <a:srgbClr val="1E1E1E"/>
                </a:solidFill>
                <a:latin typeface="Arial"/>
              </a:rPr>
              <a:t>sempre acerta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Alguém que </a:t>
            </a:r>
            <a:r>
              <a:rPr sz="2400" b="1">
                <a:solidFill>
                  <a:srgbClr val="1E1E1E"/>
                </a:solidFill>
                <a:latin typeface="Arial"/>
              </a:rPr>
              <a:t>responde</a:t>
            </a:r>
            <a:r>
              <a:rPr sz="2400" b="0">
                <a:solidFill>
                  <a:srgbClr val="1E1E1E"/>
                </a:solidFill>
                <a:latin typeface="Arial"/>
              </a:rPr>
              <a:t> pelo que escreve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Um substituto para </a:t>
            </a:r>
            <a:r>
              <a:rPr sz="2400" b="1">
                <a:solidFill>
                  <a:srgbClr val="1E1E1E"/>
                </a:solidFill>
                <a:latin typeface="Arial"/>
              </a:rPr>
              <a:t>o que você sabe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Ela prevê a palavra mais provável. Provável não é certo.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1 · ENTENDER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Onde ela acerta, e onde ela erra feio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Acerta com folga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Organizar</a:t>
            </a:r>
            <a:r>
              <a:rPr sz="2400" b="0">
                <a:solidFill>
                  <a:srgbClr val="1E1E1E"/>
                </a:solidFill>
                <a:latin typeface="Arial"/>
              </a:rPr>
              <a:t> o que está bagunçado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Resumir</a:t>
            </a:r>
            <a:r>
              <a:rPr sz="2400" b="0">
                <a:solidFill>
                  <a:srgbClr val="1E1E1E"/>
                </a:solidFill>
                <a:latin typeface="Arial"/>
              </a:rPr>
              <a:t> e </a:t>
            </a:r>
            <a:r>
              <a:rPr sz="2400" b="1">
                <a:solidFill>
                  <a:srgbClr val="1E1E1E"/>
                </a:solidFill>
                <a:latin typeface="Arial"/>
              </a:rPr>
              <a:t>reescrever</a:t>
            </a:r>
            <a:r>
              <a:rPr sz="2400" b="0">
                <a:solidFill>
                  <a:srgbClr val="1E1E1E"/>
                </a:solidFill>
                <a:latin typeface="Arial"/>
              </a:rPr>
              <a:t> com outro tom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Explicar de novo</a:t>
            </a:r>
            <a:r>
              <a:rPr sz="2400" b="0">
                <a:solidFill>
                  <a:srgbClr val="1E1E1E"/>
                </a:solidFill>
                <a:latin typeface="Arial"/>
              </a:rPr>
              <a:t>, de outro jeito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Fazer a </a:t>
            </a:r>
            <a:r>
              <a:rPr sz="2400" b="1">
                <a:solidFill>
                  <a:srgbClr val="1E1E1E"/>
                </a:solidFill>
                <a:latin typeface="Arial"/>
              </a:rPr>
              <a:t>primeira versão</a:t>
            </a:r>
            <a:r>
              <a:rPr sz="2400" b="0">
                <a:solidFill>
                  <a:srgbClr val="1E1E1E"/>
                </a:solidFill>
                <a:latin typeface="Arial"/>
              </a:rPr>
              <a:t> de qualquer coisa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9A5B00"/>
                </a:solidFill>
                <a:latin typeface="Arial"/>
              </a:rPr>
              <a:t>Erra feio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Inventa</a:t>
            </a:r>
            <a:r>
              <a:rPr sz="2400" b="0">
                <a:solidFill>
                  <a:srgbClr val="1E1E1E"/>
                </a:solidFill>
                <a:latin typeface="Arial"/>
              </a:rPr>
              <a:t> fonte, lei e número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Cálculo longo</a:t>
            </a:r>
            <a:r>
              <a:rPr sz="2400" b="0">
                <a:solidFill>
                  <a:srgbClr val="1E1E1E"/>
                </a:solidFill>
                <a:latin typeface="Arial"/>
              </a:rPr>
              <a:t> sem conferência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Fato recente</a:t>
            </a:r>
            <a:r>
              <a:rPr sz="2400" b="0">
                <a:solidFill>
                  <a:srgbClr val="1E1E1E"/>
                </a:solidFill>
                <a:latin typeface="Arial"/>
              </a:rPr>
              <a:t> ou local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Não sabe</a:t>
            </a:r>
            <a:r>
              <a:rPr sz="2400" b="0">
                <a:solidFill>
                  <a:srgbClr val="1E1E1E"/>
                </a:solidFill>
                <a:latin typeface="Arial"/>
              </a:rPr>
              <a:t> quando não sabe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1 · ENTENDER  ·  EXEMPLO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Colei minhas anotações de reunião, assim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11</a:t>
            </a:r>
          </a:p>
        </p:txBody>
      </p:sp>
      <p:pic>
        <p:nvPicPr>
          <p:cNvPr id="11" name="Picture 10" descr="real_ata_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8260427" cy="3611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37360"/>
            <a:ext cx="8260427" cy="36118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Pedi: “ata com responsável e prazo, sem inventar nada”.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1 · ENTENDER  ·  EXEMPLO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Ela devolveu a tabela de tarefas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92224"/>
            <a:ext cx="61996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Tarefa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792224"/>
            <a:ext cx="217627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Responsável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1792224"/>
            <a:ext cx="19293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2369"/>
                </a:solidFill>
                <a:latin typeface="Arial"/>
              </a:rPr>
              <a:t>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139188"/>
            <a:ext cx="1063447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194052"/>
            <a:ext cx="619963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Ver promoção para os 40 sacos de ração que vencem em dezembro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194052"/>
            <a:ext cx="217627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Joel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194052"/>
            <a:ext cx="192938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 definir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833116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87980"/>
            <a:ext cx="61996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Renegociar boleto com a Sementes Sul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887980"/>
            <a:ext cx="217627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Bianca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887980"/>
            <a:ext cx="19293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20/10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234943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289807"/>
            <a:ext cx="619963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Levantar o consumo de energia (conta de luz subiu 30%)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289807"/>
            <a:ext cx="217627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Bianca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289807"/>
            <a:ext cx="192938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 definir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928871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983735"/>
            <a:ext cx="619963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Avaliar o custo do atendimento por WhatsApp e definir quem responderá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983735"/>
            <a:ext cx="2176272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 definir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983735"/>
            <a:ext cx="1929384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 definir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622799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677663"/>
            <a:ext cx="619963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Realizar o inventário (Joel + 1 temporário, a confirmar)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677663"/>
            <a:ext cx="2176272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Joel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677663"/>
            <a:ext cx="1929384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fim do mês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024627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E avisou o que supôs: “Atribuí a Bianca. Confirme se está correto.”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1 · ENTENDER  ·  EXEMPLO ILUSTRATIVO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Formato perfeito, conteúdo falso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6B7280"/>
                </a:solidFill>
                <a:latin typeface="Arial"/>
              </a:rPr>
              <a:t>Você pede uma fonte para o trabalho. Ela responde: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423160"/>
            <a:ext cx="8229600" cy="1234440"/>
          </a:xfrm>
          <a:prstGeom prst="rect">
            <a:avLst/>
          </a:prstGeom>
          <a:noFill/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60604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E1E1E"/>
                </a:solidFill>
                <a:latin typeface="Arial"/>
              </a:rPr>
              <a:t>SILVA, J. Contabilidade e Inteligência Artificial. São Paulo: Atlas, 2021, p. 84.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9A5B00"/>
                </a:solidFill>
                <a:latin typeface="Arial"/>
              </a:rPr>
              <a:t>Esse livro não existe.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Autor, editora, ano e página: tudo inventado.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Toda fonte, lei e número que vier da IA: confira na origem.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1 · ENTENDER  ·  EXEMPLO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Pedi de verdade: ela se recusou a inventar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14</a:t>
            </a:r>
          </a:p>
        </p:txBody>
      </p:sp>
      <p:pic>
        <p:nvPicPr>
          <p:cNvPr id="11" name="Picture 10" descr="real_refere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6309360" cy="278305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83080"/>
            <a:ext cx="6309360" cy="2783055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783080"/>
            <a:ext cx="3962095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Bom sinal:</a:t>
            </a:r>
            <a:r>
              <a:rPr sz="2400" b="0">
                <a:solidFill>
                  <a:srgbClr val="1E1E1E"/>
                </a:solidFill>
                <a:latin typeface="Arial"/>
              </a:rPr>
              <a:t> os modelos atuais dizem “não sei” com mais frequência.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Mas repare no item 4:</a:t>
            </a:r>
            <a:r>
              <a:rPr sz="2400" b="0">
                <a:solidFill>
                  <a:srgbClr val="1E1E1E"/>
                </a:solidFill>
                <a:latin typeface="Arial"/>
              </a:rPr>
              <a:t> desde 2020 quem emite ISBN no Brasil é a Câmara Brasileira do Livro.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Até a resposta prudente precisa ser conferida.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1 · ENTENDER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Posso pedir para ela mesma conferir?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9A5B00"/>
                </a:solidFill>
                <a:latin typeface="Arial"/>
              </a:rPr>
              <a:t>Ajuda pouco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Perguntar “isso existe?” à </a:t>
            </a:r>
            <a:r>
              <a:rPr sz="2400" b="1">
                <a:solidFill>
                  <a:srgbClr val="1E1E1E"/>
                </a:solidFill>
                <a:latin typeface="Arial"/>
              </a:rPr>
              <a:t>mesma IA</a:t>
            </a:r>
            <a:r>
              <a:rPr sz="2400" b="0">
                <a:solidFill>
                  <a:srgbClr val="1E1E1E"/>
                </a:solidFill>
                <a:latin typeface="Arial"/>
              </a:rPr>
              <a:t>, sem busca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Ela pode </a:t>
            </a:r>
            <a:r>
              <a:rPr sz="2400" b="1">
                <a:solidFill>
                  <a:srgbClr val="1E1E1E"/>
                </a:solidFill>
                <a:latin typeface="Arial"/>
              </a:rPr>
              <a:t>confirmar</a:t>
            </a:r>
            <a:r>
              <a:rPr sz="2400" b="0">
                <a:solidFill>
                  <a:srgbClr val="1E1E1E"/>
                </a:solidFill>
                <a:latin typeface="Arial"/>
              </a:rPr>
              <a:t> o que inventou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Sem o catálogo, ela </a:t>
            </a:r>
            <a:r>
              <a:rPr sz="2400" b="1">
                <a:solidFill>
                  <a:srgbClr val="1E1E1E"/>
                </a:solidFill>
                <a:latin typeface="Arial"/>
              </a:rPr>
              <a:t>não tem como saber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Funciona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IA </a:t>
            </a:r>
            <a:r>
              <a:rPr sz="2400" b="1">
                <a:solidFill>
                  <a:srgbClr val="1E1E1E"/>
                </a:solidFill>
                <a:latin typeface="Arial"/>
              </a:rPr>
              <a:t>com busca na web</a:t>
            </a:r>
            <a:r>
              <a:rPr sz="2400" b="0">
                <a:solidFill>
                  <a:srgbClr val="1E1E1E"/>
                </a:solidFill>
                <a:latin typeface="Arial"/>
              </a:rPr>
              <a:t>, que mostra o link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Abrir o link</a:t>
            </a:r>
            <a:r>
              <a:rPr sz="2400" b="0">
                <a:solidFill>
                  <a:srgbClr val="1E1E1E"/>
                </a:solidFill>
                <a:latin typeface="Arial"/>
              </a:rPr>
              <a:t> e achar a frase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Livro: </a:t>
            </a:r>
            <a:r>
              <a:rPr sz="2400" b="1">
                <a:solidFill>
                  <a:srgbClr val="1E1E1E"/>
                </a:solidFill>
                <a:latin typeface="Arial"/>
              </a:rPr>
              <a:t>Google Livros</a:t>
            </a:r>
            <a:r>
              <a:rPr sz="2400" b="0">
                <a:solidFill>
                  <a:srgbClr val="1E1E1E"/>
                </a:solidFill>
                <a:latin typeface="Arial"/>
              </a:rPr>
              <a:t> e ISBN na CBL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Lei e norma: </a:t>
            </a:r>
            <a:r>
              <a:rPr sz="2400" b="1">
                <a:solidFill>
                  <a:srgbClr val="1E1E1E"/>
                </a:solidFill>
                <a:latin typeface="Arial"/>
              </a:rPr>
              <a:t>Planalto</a:t>
            </a:r>
            <a:r>
              <a:rPr sz="2400" b="0">
                <a:solidFill>
                  <a:srgbClr val="1E1E1E"/>
                </a:solidFill>
                <a:latin typeface="Arial"/>
              </a:rPr>
              <a:t> e </a:t>
            </a:r>
            <a:r>
              <a:rPr sz="2400" b="1">
                <a:solidFill>
                  <a:srgbClr val="1E1E1E"/>
                </a:solidFill>
                <a:latin typeface="Arial"/>
              </a:rPr>
              <a:t>CPC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Peça: “cite só o que tiver link; se não tiver certeza, diga”.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A REGRA DE OURO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3721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0F2369"/>
                </a:solidFill>
                <a:latin typeface="Arial"/>
              </a:rPr>
              <a:t>A IA faz o rascunho.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5200" b="1">
                <a:solidFill>
                  <a:srgbClr val="9A5B00"/>
                </a:solidFill>
                <a:latin typeface="Arial"/>
              </a:rPr>
              <a:t>Quem assina é você.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Na escola, no estágio e no emprego: você responde pelo que entrega.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PERGUNTA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Por que a mesma IA dá resposta ótima para um colega e fraca para outro?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PEDIR BEM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Pedido fraco, pedido bom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10637215" cy="1051560"/>
          </a:xfrm>
          <a:prstGeom prst="rect">
            <a:avLst/>
          </a:prstGeom>
          <a:noFill/>
          <a:ln w="15875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783080"/>
            <a:ext cx="73152" cy="1051560"/>
          </a:xfrm>
          <a:prstGeom prst="rect">
            <a:avLst/>
          </a:prstGeom>
          <a:solidFill>
            <a:srgbClr val="B7B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10088575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7BEC9"/>
                </a:solidFill>
                <a:latin typeface="Arial"/>
              </a:rPr>
              <a:t>PEDIDO FRACO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Faz um texto sobre fluxo de caixa.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154679"/>
            <a:ext cx="10637215" cy="1694179"/>
          </a:xfrm>
          <a:prstGeom prst="rect">
            <a:avLst/>
          </a:prstGeom>
          <a:noFill/>
          <a:ln w="15875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154679"/>
            <a:ext cx="73152" cy="1694179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37560"/>
            <a:ext cx="10088575" cy="14198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PEDIDO BOM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Sou aluno do técnico em Contabilidade. Explique fluxo de caixa para o dono de uma padaria pequena, com um exemplo de uma semana em tabela, em até 150 palavras e sem jargão.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Quanto mais contexto você dá, menos ela precisa adivinhar.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PEDIR BEM  ·  EXEMPLO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mesmo tema, dois pedidos, dois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B7280"/>
                </a:solidFill>
                <a:latin typeface="Arial"/>
              </a:rPr>
              <a:t>Fraco: aula de 400 palavras</a:t>
            </a:r>
          </a:p>
        </p:txBody>
      </p:sp>
      <p:pic>
        <p:nvPicPr>
          <p:cNvPr id="12" name="Picture 11" descr="real_fluxo_fra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03120"/>
            <a:ext cx="2686735" cy="333755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2103120"/>
            <a:ext cx="2686735" cy="3337559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79" y="1691640"/>
            <a:ext cx="643097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Bom: uma semana da padaria (R$)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2112264"/>
            <a:ext cx="941831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12264"/>
            <a:ext cx="1124712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Entrou (vendas)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79" y="2112264"/>
            <a:ext cx="1764791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Saiu (farinha, luz, salários)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112264"/>
            <a:ext cx="987552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Sobrou no 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2112264"/>
            <a:ext cx="1060704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Acumulado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79" y="2692908"/>
            <a:ext cx="642823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79" y="2747772"/>
            <a:ext cx="94183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Início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747772"/>
            <a:ext cx="112471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2747772"/>
            <a:ext cx="176479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747772"/>
            <a:ext cx="98755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2747772"/>
            <a:ext cx="1060704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83479" y="3065526"/>
            <a:ext cx="642823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79" y="3120390"/>
            <a:ext cx="94183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Segunda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120390"/>
            <a:ext cx="112471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800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79" y="3120390"/>
            <a:ext cx="176479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600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120390"/>
            <a:ext cx="98755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200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3120390"/>
            <a:ext cx="1060704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700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83479" y="3438144"/>
            <a:ext cx="642823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79" y="3493008"/>
            <a:ext cx="94183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Terça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493008"/>
            <a:ext cx="112471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750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79" y="3493008"/>
            <a:ext cx="176479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493008"/>
            <a:ext cx="98755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250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3493008"/>
            <a:ext cx="1060704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950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3479" y="3810761"/>
            <a:ext cx="642823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83479" y="3865625"/>
            <a:ext cx="94183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Quarta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3865625"/>
            <a:ext cx="112471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700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79" y="3865625"/>
            <a:ext cx="176479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900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865625"/>
            <a:ext cx="98755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-200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3865625"/>
            <a:ext cx="1060704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750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83479" y="4183379"/>
            <a:ext cx="642823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83479" y="4238243"/>
            <a:ext cx="94183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Quinta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4238243"/>
            <a:ext cx="112471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79" y="4238243"/>
            <a:ext cx="176479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450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4238243"/>
            <a:ext cx="98755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350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4238243"/>
            <a:ext cx="1060704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1.100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83479" y="4555997"/>
            <a:ext cx="642823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83479" y="4610861"/>
            <a:ext cx="94183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Sexta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4610861"/>
            <a:ext cx="112471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1.000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79" y="4610861"/>
            <a:ext cx="176479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700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4610861"/>
            <a:ext cx="98755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300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4610861"/>
            <a:ext cx="1060704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1.400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83479" y="4928615"/>
            <a:ext cx="642823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83479" y="4983479"/>
            <a:ext cx="94183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Sábado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4983479"/>
            <a:ext cx="112471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1.200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69479" y="4983479"/>
            <a:ext cx="176479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800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4983479"/>
            <a:ext cx="98755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400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4983479"/>
            <a:ext cx="1060704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1.800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3479" y="5301233"/>
            <a:ext cx="642823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Os dois estão corretos. Só um serve para alguém.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PEDIR BEM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A receita de um bom pedido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97A0A"/>
                </a:solidFill>
                <a:latin typeface="Arial"/>
              </a:rPr>
              <a:t>Quem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810512"/>
            <a:ext cx="8351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quem é você, ou que papel ela deve assumir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9631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97A0A"/>
                </a:solidFill>
                <a:latin typeface="Arial"/>
              </a:rPr>
              <a:t>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523744"/>
            <a:ext cx="8351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para quem é, qual a situação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0954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97A0A"/>
                </a:solidFill>
                <a:latin typeface="Arial"/>
              </a:rPr>
              <a:t>Tarefa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236975"/>
            <a:ext cx="8351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o que exatamente você quer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2277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97A0A"/>
                </a:solidFill>
                <a:latin typeface="Arial"/>
              </a:rPr>
              <a:t>Formato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950208"/>
            <a:ext cx="8351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tabela, lista, e-mail, slide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3600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97A0A"/>
                </a:solidFill>
                <a:latin typeface="Arial"/>
              </a:rPr>
              <a:t>Limite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663440"/>
            <a:ext cx="8351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tamanho, tom, o que evitar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E depois converse: peça ajustes, como faria com um colega.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PEDIR BEM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Quatro truques que mudam o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1. Peça que ela pergunte antes:</a:t>
            </a:r>
            <a:r>
              <a:rPr sz="2800" b="0">
                <a:solidFill>
                  <a:srgbClr val="1E1E1E"/>
                </a:solidFill>
                <a:latin typeface="Arial"/>
              </a:rPr>
              <a:t> “o que você precisa saber?”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2. Peça três versões</a:t>
            </a:r>
            <a:r>
              <a:rPr sz="2800" b="0">
                <a:solidFill>
                  <a:srgbClr val="1E1E1E"/>
                </a:solidFill>
                <a:latin typeface="Arial"/>
              </a:rPr>
              <a:t> e escolha, em vez de aceitar a primeira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3. Peça que ela critique</a:t>
            </a:r>
            <a:r>
              <a:rPr sz="2800" b="0">
                <a:solidFill>
                  <a:srgbClr val="1E1E1E"/>
                </a:solidFill>
                <a:latin typeface="Arial"/>
              </a:rPr>
              <a:t> a própria resposta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4. Pergunte a duas IAs</a:t>
            </a:r>
            <a:r>
              <a:rPr sz="2800" b="0">
                <a:solidFill>
                  <a:srgbClr val="1E1E1E"/>
                </a:solidFill>
                <a:latin typeface="Arial"/>
              </a:rPr>
              <a:t> e compare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2 · PEDIR BEM  ·  CASO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Os quatro truques numa tarefa da 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Tarefa: promover 40 sacos de ração que vencem em dezembro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1460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2419273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Pergunte antes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ela levanta o que falta saber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16553" y="251460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6553" y="2697480"/>
            <a:ext cx="2419273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Três versões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você escolhe, em vez de aceitar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251460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5867" y="2697480"/>
            <a:ext cx="2419273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Critique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ela procura os próprios erros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5181" y="251460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5181" y="2697480"/>
            <a:ext cx="2419273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Duas IAs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onde discordam, pense você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TRUQUE 1 DE 4  ·  PERGUNTE 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Antes de sugerir, ela perguntou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23</a:t>
            </a:r>
          </a:p>
        </p:txBody>
      </p:sp>
      <p:pic>
        <p:nvPicPr>
          <p:cNvPr id="11" name="Picture 10" descr="real_pergun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309360" cy="363366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37360"/>
            <a:ext cx="6309360" cy="3633662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783080"/>
            <a:ext cx="3962095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19 perguntas</a:t>
            </a:r>
            <a:r>
              <a:rPr sz="2400" b="0">
                <a:solidFill>
                  <a:srgbClr val="1E1E1E"/>
                </a:solidFill>
                <a:latin typeface="Arial"/>
              </a:rPr>
              <a:t> antes de sugerir qualquer coisa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Algumas eu não teria feito: </a:t>
            </a:r>
            <a:r>
              <a:rPr sz="2400" b="1">
                <a:solidFill>
                  <a:srgbClr val="1E1E1E"/>
                </a:solidFill>
                <a:latin typeface="Arial"/>
              </a:rPr>
              <a:t>validade avisada</a:t>
            </a:r>
            <a:r>
              <a:rPr sz="2400" b="0">
                <a:solidFill>
                  <a:srgbClr val="1E1E1E"/>
                </a:solidFill>
                <a:latin typeface="Arial"/>
              </a:rPr>
              <a:t> ao cliente, </a:t>
            </a:r>
            <a:r>
              <a:rPr sz="2400" b="1">
                <a:solidFill>
                  <a:srgbClr val="1E1E1E"/>
                </a:solidFill>
                <a:latin typeface="Arial"/>
              </a:rPr>
              <a:t>combos</a:t>
            </a:r>
            <a:r>
              <a:rPr sz="2400" b="0">
                <a:solidFill>
                  <a:srgbClr val="1E1E1E"/>
                </a:solidFill>
                <a:latin typeface="Arial"/>
              </a:rPr>
              <a:t>, </a:t>
            </a:r>
            <a:r>
              <a:rPr sz="2400" b="1">
                <a:solidFill>
                  <a:srgbClr val="1E1E1E"/>
                </a:solidFill>
                <a:latin typeface="Arial"/>
              </a:rPr>
              <a:t>eventos locais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Respondi em quatro linhas. A resposta seguinte veio sob medida.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TRUQUE 2 DE 4  ·  TRÊS VERSÕES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Três promoções diferentes, não uma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3332378" cy="36576"/>
          </a:xfrm>
          <a:prstGeom prst="rect">
            <a:avLst/>
          </a:prstGeom>
          <a:solidFill>
            <a:srgbClr val="B7B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3332378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B7280"/>
                </a:solidFill>
                <a:latin typeface="Arial"/>
              </a:rPr>
              <a:t>Versão 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600" b="1">
                <a:solidFill>
                  <a:srgbClr val="0F2369"/>
                </a:solidFill>
                <a:latin typeface="Arial"/>
              </a:rPr>
              <a:t>Preço único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R$ 99,90 o saco, até 2 por cliente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6B7280"/>
                </a:solidFill>
                <a:latin typeface="Arial"/>
              </a:rPr>
              <a:t>lucro de R$ 14,90 por saco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9658" y="1783080"/>
            <a:ext cx="3332378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9658" y="1965960"/>
            <a:ext cx="3332378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B7280"/>
                </a:solidFill>
                <a:latin typeface="Arial"/>
              </a:rPr>
              <a:t>Versão 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600" b="1">
                <a:solidFill>
                  <a:srgbClr val="0F2369"/>
                </a:solidFill>
                <a:latin typeface="Arial"/>
              </a:rPr>
              <a:t>Leve mais, pague menos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1 por R$ 105, 2 por R$ 190, 4 por R$ 360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9A5B00"/>
                </a:solidFill>
                <a:latin typeface="Arial"/>
              </a:rPr>
              <a:t>lucro de R$ 20 a R$ 5 por saco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2076" y="1783080"/>
            <a:ext cx="3332378" cy="36576"/>
          </a:xfrm>
          <a:prstGeom prst="rect">
            <a:avLst/>
          </a:prstGeom>
          <a:solidFill>
            <a:srgbClr val="B7B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2076" y="1965960"/>
            <a:ext cx="3332378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B7280"/>
                </a:solidFill>
                <a:latin typeface="Arial"/>
              </a:rPr>
              <a:t>Versão 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600" b="1">
                <a:solidFill>
                  <a:srgbClr val="0F2369"/>
                </a:solidFill>
                <a:latin typeface="Arial"/>
              </a:rPr>
              <a:t>Preço cai por etapas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R$ 105, depois R$ 98, depois R$ 90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200" b="1">
                <a:solidFill>
                  <a:srgbClr val="6B7280"/>
                </a:solidFill>
                <a:latin typeface="Arial"/>
              </a:rPr>
              <a:t>lucro de R$ 20 a R$ 5 por saco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Cada uma veio com a mensagem de WhatsApp pronta. Escolhi a 2.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TRUQUE 3 DE 4  · 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Pedi que ela criticasse a própria ideia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Taxa do cartão</a:t>
            </a:r>
            <a:r>
              <a:rPr sz="2600" b="0">
                <a:solidFill>
                  <a:srgbClr val="1E1E1E"/>
                </a:solidFill>
                <a:latin typeface="Arial"/>
              </a:rPr>
              <a:t> (3% a 5%) come quase todo o lucro de R$ 5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4 sacos são 60 kg:</a:t>
            </a:r>
            <a:r>
              <a:rPr sz="2600" b="0">
                <a:solidFill>
                  <a:srgbClr val="1E1E1E"/>
                </a:solidFill>
                <a:latin typeface="Arial"/>
              </a:rPr>
              <a:t> quem tem um cão não consome antes de 15/12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Reserva sem pagamento:</a:t>
            </a:r>
            <a:r>
              <a:rPr sz="2600" b="0">
                <a:solidFill>
                  <a:srgbClr val="1E1E1E"/>
                </a:solidFill>
                <a:latin typeface="Arial"/>
              </a:rPr>
              <a:t> o cliente some e o estoque fica preso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Faltou o preço de 3 sacos</a:t>
            </a:r>
            <a:r>
              <a:rPr sz="2600" b="0">
                <a:solidFill>
                  <a:srgbClr val="1E1E1E"/>
                </a:solidFill>
                <a:latin typeface="Arial"/>
              </a:rPr>
              <a:t> e o “de R$ 120 por...”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E admitiu: “minha afirmação anterior é uma hipótese, não um fato”.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TRUQUE 4 DE 4  ·  DUAS 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A mesma conta, em dois modelos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01752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69"/>
                </a:solidFill>
                <a:latin typeface="Arial"/>
              </a:rPr>
              <a:t>Modelo A: Claude Sonnet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Com desconto: </a:t>
            </a:r>
            <a:r>
              <a:rPr sz="2400" b="1">
                <a:solidFill>
                  <a:srgbClr val="1E1E1E"/>
                </a:solidFill>
                <a:latin typeface="Arial"/>
              </a:rPr>
              <a:t>R$ 90</a:t>
            </a:r>
            <a:r>
              <a:rPr sz="2400" b="0">
                <a:solidFill>
                  <a:srgbClr val="1E1E1E"/>
                </a:solidFill>
                <a:latin typeface="Arial"/>
              </a:rPr>
              <a:t> o saco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Lucro: </a:t>
            </a:r>
            <a:r>
              <a:rPr sz="2400" b="1">
                <a:solidFill>
                  <a:srgbClr val="1E1E1E"/>
                </a:solidFill>
                <a:latin typeface="Arial"/>
              </a:rPr>
              <a:t>R$ 200</a:t>
            </a:r>
            <a:r>
              <a:rPr sz="2400" b="0">
                <a:solidFill>
                  <a:srgbClr val="1E1E1E"/>
                </a:solidFill>
                <a:latin typeface="Arial"/>
              </a:rPr>
              <a:t> nos 40 sacos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Descartar tudo: </a:t>
            </a:r>
            <a:r>
              <a:rPr sz="2400" b="1">
                <a:solidFill>
                  <a:srgbClr val="1E1E1E"/>
                </a:solidFill>
                <a:latin typeface="Arial"/>
              </a:rPr>
              <a:t>R$ 3.400</a:t>
            </a:r>
            <a:r>
              <a:rPr sz="2400" b="0">
                <a:solidFill>
                  <a:srgbClr val="1E1E1E"/>
                </a:solidFill>
                <a:latin typeface="Arial"/>
              </a:rPr>
              <a:t> de prejuízo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01752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Modelo B: Claude Haiku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Com desconto: </a:t>
            </a:r>
            <a:r>
              <a:rPr sz="2400" b="1">
                <a:solidFill>
                  <a:srgbClr val="1E1E1E"/>
                </a:solidFill>
                <a:latin typeface="Arial"/>
              </a:rPr>
              <a:t>R$ 90</a:t>
            </a:r>
            <a:r>
              <a:rPr sz="2400" b="0">
                <a:solidFill>
                  <a:srgbClr val="1E1E1E"/>
                </a:solidFill>
                <a:latin typeface="Arial"/>
              </a:rPr>
              <a:t> o saco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Lucro: </a:t>
            </a:r>
            <a:r>
              <a:rPr sz="2400" b="1">
                <a:solidFill>
                  <a:srgbClr val="1E1E1E"/>
                </a:solidFill>
                <a:latin typeface="Arial"/>
              </a:rPr>
              <a:t>R$ 200</a:t>
            </a:r>
            <a:r>
              <a:rPr sz="2400" b="0">
                <a:solidFill>
                  <a:srgbClr val="1E1E1E"/>
                </a:solidFill>
                <a:latin typeface="Arial"/>
              </a:rPr>
              <a:t> nos 40 sacos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Descartar tudo: </a:t>
            </a:r>
            <a:r>
              <a:rPr sz="2400" b="1">
                <a:solidFill>
                  <a:srgbClr val="1E1E1E"/>
                </a:solidFill>
                <a:latin typeface="Arial"/>
              </a:rPr>
              <a:t>R$ 3.400</a:t>
            </a:r>
            <a:r>
              <a:rPr sz="2400" b="0">
                <a:solidFill>
                  <a:srgbClr val="1E1E1E"/>
                </a:solidFill>
                <a:latin typeface="Arial"/>
              </a:rPr>
              <a:t> de prejuízo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Concordaram. Mas a crítica mostrou que o lucro pode virar zero.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Cinco usos para começar amanhã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97A0A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837943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Apresentações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874519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do roteiro ao slide, e ao site da palestra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97A0A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56946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60604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página de comércio, portfólio, currículo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97A0A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30098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Vídeos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33756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roteiro, narração e legenda automática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77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97A0A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03250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Estudo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06908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a IA como professor, não como cola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97A0A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76402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Contabilidade e gestão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80060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conciliação, planilhas, normas e rotinas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NA PRÁTICA  ·  1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Cinco usos para começar amanhã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97A0A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837943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Apresentações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874519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do roteiro ao slide, e ao site da palestra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56946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60604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página de comércio, portfólio, currículo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30098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Vídeos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33756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roteiro, narração e legenda automática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77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03250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Estudo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06908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a IA como professor, não como cola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76402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Contabilidade e gestão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80060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conciliação, planilhas, normas e rotinas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1 · APRESENTAÇÕES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Esta apresentação foi feita com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29</a:t>
            </a:r>
          </a:p>
        </p:txBody>
      </p:sp>
      <p:pic>
        <p:nvPicPr>
          <p:cNvPr id="11" name="Picture 10" descr="site_talks4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5632704" cy="35204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37360"/>
            <a:ext cx="5632704" cy="352044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783080"/>
            <a:ext cx="42364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Roteiro</a:t>
            </a:r>
            <a:r>
              <a:rPr sz="2400" b="0">
                <a:solidFill>
                  <a:srgbClr val="1E1E1E"/>
                </a:solidFill>
                <a:latin typeface="Arial"/>
              </a:rPr>
              <a:t>, </a:t>
            </a:r>
            <a:r>
              <a:rPr sz="2400" b="1">
                <a:solidFill>
                  <a:srgbClr val="1E1E1E"/>
                </a:solidFill>
                <a:latin typeface="Arial"/>
              </a:rPr>
              <a:t>slides</a:t>
            </a:r>
            <a:r>
              <a:rPr sz="2400" b="0">
                <a:solidFill>
                  <a:srgbClr val="1E1E1E"/>
                </a:solidFill>
                <a:latin typeface="Arial"/>
              </a:rPr>
              <a:t> e </a:t>
            </a:r>
            <a:r>
              <a:rPr sz="2400" b="1">
                <a:solidFill>
                  <a:srgbClr val="1E1E1E"/>
                </a:solidFill>
                <a:latin typeface="Arial"/>
              </a:rPr>
              <a:t>site</a:t>
            </a:r>
            <a:r>
              <a:rPr sz="2400" b="0">
                <a:solidFill>
                  <a:srgbClr val="1E1E1E"/>
                </a:solidFill>
                <a:latin typeface="Arial"/>
              </a:rPr>
              <a:t> da palestra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Feita com o </a:t>
            </a:r>
            <a:r>
              <a:rPr sz="2400" b="1">
                <a:solidFill>
                  <a:srgbClr val="1E1E1E"/>
                </a:solidFill>
                <a:latin typeface="Arial"/>
              </a:rPr>
              <a:t>Claude Code</a:t>
            </a:r>
            <a:r>
              <a:rPr sz="2400" b="0">
                <a:solidFill>
                  <a:srgbClr val="1E1E1E"/>
                </a:solidFill>
                <a:latin typeface="Arial"/>
              </a:rPr>
              <a:t>, na linha de comando</a:t>
            </a:r>
          </a:p>
        </p:txBody>
      </p:sp>
      <p:pic>
        <p:nvPicPr>
          <p:cNvPr id="14" name="Picture 13" descr="qr_talks4all_github_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662680"/>
            <a:ext cx="1280160" cy="1280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5015992"/>
            <a:ext cx="4236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A5B00"/>
                </a:solidFill>
                <a:latin typeface="Arial"/>
                <a:hlinkClick r:id="rId4"/>
              </a:rPr>
              <a:t>talks4all.github.io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A IA fez em horas. A revisão, slide a slide, continuou sendo minha.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1 · APRESENTAÇÕES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Do zero ao slide em quatro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Ideia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escreva em uma frase o que a plateia deve levar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6553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6553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Roteiro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peça a sequência dos slides e o que falar em cada 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5867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5867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Slides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Gamma, Canva, Copilot ou Claude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5181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5181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Revisão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fonte grande, pouco texto, e teste no celular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1 · APRESENTAÇÕES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Um pedido para copiar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10637215" cy="2015490"/>
          </a:xfrm>
          <a:prstGeom prst="rect">
            <a:avLst/>
          </a:prstGeom>
          <a:noFill/>
          <a:ln w="15875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783080"/>
            <a:ext cx="73152" cy="201549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10088575" cy="1741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PEDIDO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Vou apresentar um trabalho de 10 minutos sobre controle de estoque para uma turma do técnico em Administração. Monte um roteiro de 8 slides: para cada um, um título curto, no máximo três itens e o que eu devo falar. Fundo branco, fonte grande, nada de texto corrido.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Depois peça: “agora corte pela metade o texto de cada slide”.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1 · APRESENTAÇÕES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Antes de apresentar, confira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32</a:t>
            </a:r>
          </a:p>
        </p:txBody>
      </p:sp>
      <p:pic>
        <p:nvPicPr>
          <p:cNvPr id="11" name="Picture 10" descr="site_slides4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5852160" cy="36576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37360"/>
            <a:ext cx="5852160" cy="365760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59" y="1783080"/>
            <a:ext cx="4419295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Aumente</a:t>
            </a:r>
            <a:r>
              <a:rPr sz="2400" b="0">
                <a:solidFill>
                  <a:srgbClr val="1E1E1E"/>
                </a:solidFill>
                <a:latin typeface="Arial"/>
              </a:rPr>
              <a:t> a fonte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Corte texto</a:t>
            </a:r>
            <a:r>
              <a:rPr sz="2400" b="0">
                <a:solidFill>
                  <a:srgbClr val="1E1E1E"/>
                </a:solidFill>
                <a:latin typeface="Arial"/>
              </a:rPr>
              <a:t>, nunca a fonte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Fundo branco</a:t>
            </a:r>
            <a:r>
              <a:rPr sz="2400" b="0">
                <a:solidFill>
                  <a:srgbClr val="1E1E1E"/>
                </a:solidFill>
                <a:latin typeface="Arial"/>
              </a:rPr>
              <a:t>, texto escuro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Teste no celular</a:t>
            </a:r>
            <a:r>
              <a:rPr sz="2400" b="0">
                <a:solidFill>
                  <a:srgbClr val="1E1E1E"/>
                </a:solidFill>
                <a:latin typeface="Arial"/>
              </a:rPr>
              <a:t>, a 50 cm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Ensaie</a:t>
            </a:r>
            <a:r>
              <a:rPr sz="2400" b="0">
                <a:solidFill>
                  <a:srgbClr val="1E1E1E"/>
                </a:solidFill>
                <a:latin typeface="Arial"/>
              </a:rPr>
              <a:t> cinco vezes</a:t>
            </a:r>
          </a:p>
        </p:txBody>
      </p:sp>
      <p:pic>
        <p:nvPicPr>
          <p:cNvPr id="14" name="Picture 13" descr="qr_slides4all_github_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59" y="4521199"/>
            <a:ext cx="1280160" cy="1280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199" y="5000624"/>
            <a:ext cx="2956255" cy="321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A5B00"/>
                </a:solidFill>
                <a:latin typeface="Arial"/>
                <a:hlinkClick r:id="rId4"/>
              </a:rPr>
              <a:t>slides4all.github.io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NA PRÁTICA  ·  2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Cinco usos para começar amanhã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837943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Apresentações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874519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do roteiro ao slide, e ao site da palestra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97A0A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56946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60604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página de comércio, portfólio, currículo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30098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Vídeos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33756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roteiro, narração e legenda automática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77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03250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Estudo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06908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a IA como professor, não como cola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76402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Contabilidade e gestão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80060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conciliação, planilhas, normas e rotinas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2 ·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Um site de cidade, feito com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34</a:t>
            </a:r>
          </a:p>
        </p:txBody>
      </p:sp>
      <p:pic>
        <p:nvPicPr>
          <p:cNvPr id="11" name="Picture 10" descr="site_alegre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583680" cy="4114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37360"/>
            <a:ext cx="6583680" cy="411480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1783080"/>
            <a:ext cx="3687775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Atrativos, história, sabores, eventos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Dezenas de páginas</a:t>
            </a:r>
            <a:r>
              <a:rPr sz="2400" b="0">
                <a:solidFill>
                  <a:srgbClr val="1E1E1E"/>
                </a:solidFill>
                <a:latin typeface="Arial"/>
              </a:rPr>
              <a:t>, em mais de um idioma</a:t>
            </a:r>
          </a:p>
        </p:txBody>
      </p:sp>
      <p:pic>
        <p:nvPicPr>
          <p:cNvPr id="14" name="Picture 13" descr="qr_alegrete_o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662680"/>
            <a:ext cx="1280160" cy="1280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6679" y="5015992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A5B00"/>
                </a:solidFill>
                <a:latin typeface="Arial"/>
                <a:hlinkClick r:id="rId4"/>
              </a:rPr>
              <a:t>alegrete.org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2 ·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Um site de laboratório, em três idiomas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35</a:t>
            </a:r>
          </a:p>
        </p:txBody>
      </p:sp>
      <p:pic>
        <p:nvPicPr>
          <p:cNvPr id="11" name="Picture 10" descr="site_aihoriz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583680" cy="4114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37360"/>
            <a:ext cx="6583680" cy="411480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1783080"/>
            <a:ext cx="3687775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Equipe, pesquisa, publicações, notícias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Português, espanhol e inglês</a:t>
            </a:r>
          </a:p>
        </p:txBody>
      </p:sp>
      <p:pic>
        <p:nvPicPr>
          <p:cNvPr id="14" name="Picture 13" descr="qr_ai_horizon_labs_github_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662680"/>
            <a:ext cx="1280160" cy="1280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6679" y="5015992"/>
            <a:ext cx="3687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A5B00"/>
                </a:solidFill>
                <a:latin typeface="Arial"/>
                <a:hlinkClick r:id="rId4"/>
              </a:rPr>
              <a:t>ai-horizon-labs.github.io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2 ·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Seu primeiro site em quatro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Descreva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para quem é o site e o que ele precisa 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6553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6553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Gere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peça uma página única em HTML, pronta para abrir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5867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5867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Ajuste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abra no navegador e peça as mudanças por escrito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5181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5181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Publique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de graça: GitHub Pages, Netlify ou Google Sites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2 ·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Dois pedidos para a mesma padaria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10637215" cy="1051560"/>
          </a:xfrm>
          <a:prstGeom prst="rect">
            <a:avLst/>
          </a:prstGeom>
          <a:noFill/>
          <a:ln w="15875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783080"/>
            <a:ext cx="73152" cy="1051560"/>
          </a:xfrm>
          <a:prstGeom prst="rect">
            <a:avLst/>
          </a:prstGeom>
          <a:solidFill>
            <a:srgbClr val="B7B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10088575" cy="777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7BEC9"/>
                </a:solidFill>
                <a:latin typeface="Arial"/>
              </a:rPr>
              <a:t>PEDIDO FRACO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Faça um site para uma padaria.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154679"/>
            <a:ext cx="10637215" cy="2015490"/>
          </a:xfrm>
          <a:prstGeom prst="rect">
            <a:avLst/>
          </a:prstGeom>
          <a:noFill/>
          <a:ln w="15875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154679"/>
            <a:ext cx="73152" cy="201549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37560"/>
            <a:ext cx="10088575" cy="1741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PEDIDO BOM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Crie uma página única em HTML para uma padaria de bairro em Alegrete. Quero: nome, horário de funcionamento, cardápio com preços, botão de WhatsApp e mapa. Visual limpo, que funcione bem no celular. Use dados fictícios onde faltar informação.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2 · SITES  ·  EXEMPLO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que cada pedido devolveu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509000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B7280"/>
                </a:solidFill>
                <a:latin typeface="Arial"/>
              </a:rPr>
              <a:t>Pedido fraco</a:t>
            </a:r>
          </a:p>
        </p:txBody>
      </p:sp>
      <p:pic>
        <p:nvPicPr>
          <p:cNvPr id="12" name="Picture 11" descr="real_site_fra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03120"/>
            <a:ext cx="4242816" cy="26517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2103120"/>
            <a:ext cx="4242816" cy="265176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4447" y="1691640"/>
            <a:ext cx="509000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Pedido bom</a:t>
            </a:r>
          </a:p>
        </p:txBody>
      </p:sp>
      <p:pic>
        <p:nvPicPr>
          <p:cNvPr id="15" name="Picture 14" descr="real_site_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2103120"/>
            <a:ext cx="4242816" cy="26517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324447" y="2103120"/>
            <a:ext cx="4242816" cy="265176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5090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Bonito, mas sem cidade e sem WhatsApp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4846320"/>
            <a:ext cx="5090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Alegrete, horário, preços e WhatsApp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Bonito não é o mesmo que útil. Útil vem do pedido.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2 · SITES  ·  EXEMPLO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Pedi que funcionasse no celular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39</a:t>
            </a:r>
          </a:p>
        </p:txBody>
      </p:sp>
      <p:pic>
        <p:nvPicPr>
          <p:cNvPr id="11" name="Picture 10" descr="real_site_bom_cel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1668996" cy="3611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691640"/>
            <a:ext cx="1668996" cy="361188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783080"/>
            <a:ext cx="7345375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Botão de </a:t>
            </a:r>
            <a:r>
              <a:rPr sz="2600" b="1">
                <a:solidFill>
                  <a:srgbClr val="1E1E1E"/>
                </a:solidFill>
                <a:latin typeface="Arial"/>
              </a:rPr>
              <a:t>WhatsApp fixo</a:t>
            </a:r>
            <a:r>
              <a:rPr sz="2600" b="0">
                <a:solidFill>
                  <a:srgbClr val="1E1E1E"/>
                </a:solidFill>
                <a:latin typeface="Arial"/>
              </a:rPr>
              <a:t> na tela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Selo </a:t>
            </a:r>
            <a:r>
              <a:rPr sz="2600" b="1">
                <a:solidFill>
                  <a:srgbClr val="1E1E1E"/>
                </a:solidFill>
                <a:latin typeface="Arial"/>
              </a:rPr>
              <a:t>“Aberto agora”</a:t>
            </a:r>
            <a:r>
              <a:rPr sz="2600" b="0">
                <a:solidFill>
                  <a:srgbClr val="1E1E1E"/>
                </a:solidFill>
                <a:latin typeface="Arial"/>
              </a:rPr>
              <a:t> calculado pelo horário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Cardápio em </a:t>
            </a:r>
            <a:r>
              <a:rPr sz="2600" b="1">
                <a:solidFill>
                  <a:srgbClr val="1E1E1E"/>
                </a:solidFill>
                <a:latin typeface="Arial"/>
              </a:rPr>
              <a:t>uma coluna</a:t>
            </a:r>
            <a:r>
              <a:rPr sz="2600" b="0">
                <a:solidFill>
                  <a:srgbClr val="1E1E1E"/>
                </a:solidFill>
                <a:latin typeface="Arial"/>
              </a:rPr>
              <a:t>, fácil de ler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Gerado de uma vez, </a:t>
            </a:r>
            <a:r>
              <a:rPr sz="2600" b="1">
                <a:solidFill>
                  <a:srgbClr val="1E1E1E"/>
                </a:solidFill>
                <a:latin typeface="Arial"/>
              </a:rPr>
              <a:t>sem nenhum ajuste</a:t>
            </a:r>
            <a:r>
              <a:rPr sz="2600" b="0">
                <a:solidFill>
                  <a:srgbClr val="1E1E1E"/>
                </a:solidFill>
                <a:latin typeface="Arial"/>
              </a:rPr>
              <a:t> meu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Ideia de projeto: o site do comércio da sua família ou do seu bairro.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NA PRÁTICA  ·  3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Cinco usos para começar amanhã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837943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Apresentações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874519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do roteiro ao slide, e ao site da palestra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56946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60604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página de comércio, portfólio, currículo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97A0A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30098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Vídeos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33756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roteiro, narração e legenda automática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77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03250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Estudo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06908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a IA como professor, não como cola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76402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Contabilidade e gestão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80060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conciliação, planilhas, normas e rotinas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3 · VÍDEOS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Vídeo de apresentação em quatro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Roteiro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peça o texto no tempo certo: 130 palavras por minuto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6553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6553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Slides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os mesmos do uso 1, um por ideia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5867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5867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Narração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grave a sua voz no PowerPoint ou no Canva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5181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5181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Legenda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automática no CapCut, no Canva ou no Clipchamp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3 · VÍDEOS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Ferramentas que já fazem boa parte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Claude Code:</a:t>
            </a:r>
            <a:r>
              <a:rPr sz="2600" b="0">
                <a:solidFill>
                  <a:srgbClr val="1E1E1E"/>
                </a:solidFill>
                <a:latin typeface="Arial"/>
              </a:rPr>
              <a:t> roteiro, slides, narração e vídeo, tudo pela linha de comando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PowerPoint e Canva:</a:t>
            </a:r>
            <a:r>
              <a:rPr sz="2600" b="0">
                <a:solidFill>
                  <a:srgbClr val="1E1E1E"/>
                </a:solidFill>
                <a:latin typeface="Arial"/>
              </a:rPr>
              <a:t> gravam a narração e exportam em vídeo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NotebookLM:</a:t>
            </a:r>
            <a:r>
              <a:rPr sz="2600" b="0">
                <a:solidFill>
                  <a:srgbClr val="1E1E1E"/>
                </a:solidFill>
                <a:latin typeface="Arial"/>
              </a:rPr>
              <a:t> transforma o seu material em resumo em áudio e em vídeo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CapCut e Clipchamp:</a:t>
            </a:r>
            <a:r>
              <a:rPr sz="2600" b="0">
                <a:solidFill>
                  <a:srgbClr val="1E1E1E"/>
                </a:solidFill>
                <a:latin typeface="Arial"/>
              </a:rPr>
              <a:t> cortam pausas e geram legenda automática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Voz ou rosto de outra pessoa sem autorização: nunca.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3 · VÍDEOS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Dois vídeos feitos com IA para vocês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43</a:t>
            </a:r>
          </a:p>
        </p:txBody>
      </p:sp>
      <p:pic>
        <p:nvPicPr>
          <p:cNvPr id="11" name="Picture 10" descr="qr_contador_cartoon_narrado_m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160020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7480" y="1828800"/>
            <a:ext cx="8716975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  <a:hlinkClick r:id="rId3"/>
              </a:rPr>
              <a:t>O contador, em desenho animado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Roteiro, imagens e narração gerados com IA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>
                <a:solidFill>
                  <a:srgbClr val="9A5B00"/>
                </a:solidFill>
                <a:latin typeface="Arial"/>
                <a:hlinkClick r:id="rId3"/>
              </a:rPr>
              <a:t>talks4all.github.io/videos/emilio_zuneda/contador_cartoon_narrado.mp4</a:t>
            </a:r>
          </a:p>
        </p:txBody>
      </p:sp>
      <p:pic>
        <p:nvPicPr>
          <p:cNvPr id="13" name="Picture 12" descr="qr_contador_clean_narrado_mp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49039"/>
            <a:ext cx="1600200" cy="1600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97480" y="3794759"/>
            <a:ext cx="8716975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  <a:hlinkClick r:id="rId5"/>
              </a:rPr>
              <a:t>O contador, em estilo clean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Mesmo roteiro, visual mais sóbrio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>
                <a:solidFill>
                  <a:srgbClr val="9A5B00"/>
                </a:solidFill>
                <a:latin typeface="Arial"/>
                <a:hlinkClick r:id="rId5"/>
              </a:rPr>
              <a:t>talks4all.github.io/videos/emilio_zuneda/contador_clean_narrado.mp4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3 · VÍDEOS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Um pedido para copiar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10637215" cy="2015490"/>
          </a:xfrm>
          <a:prstGeom prst="rect">
            <a:avLst/>
          </a:prstGeom>
          <a:noFill/>
          <a:ln w="15875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783080"/>
            <a:ext cx="73152" cy="201549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10088575" cy="1741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PEDIDO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Escreva o roteiro de um vídeo de 2 minutos, com cerca de 260 palavras, apresentando o curso técnico em Contabilidade para alunos do 9º ano. Divida em 5 blocos, um por slide, com uma frase de abertura que prenda a atenção. Linguagem simples e animada.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NA PRÁTICA  ·  4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Cinco usos para começar amanhã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837943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Apresentações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874519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do roteiro ao slide, e ao site da palestra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56946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60604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página de comércio, portfólio, currículo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30098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Vídeos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33756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roteiro, narração e legenda automática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77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97A0A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03250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Estudo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06908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a IA como professor, não como cola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76402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Contabilidade e gestão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80060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conciliação, planilhas, normas e rotinas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A866E"/>
                </a:solidFill>
                <a:latin typeface="Arial"/>
              </a:rPr>
              <a:t>PERGUNTA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3721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0F2369"/>
                </a:solidFill>
                <a:latin typeface="Arial"/>
              </a:rPr>
              <a:t>Você usa IA para aprender, ou para não precisar aprender?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4 · ESTUDO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Professor particular, não cola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Como professor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“Me explica de outro jeito”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“Me faz perguntas e corrige”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“Onde errei no meu raciocínio?”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Resultado: </a:t>
            </a:r>
            <a:r>
              <a:rPr sz="2400" b="1">
                <a:solidFill>
                  <a:srgbClr val="1E1E1E"/>
                </a:solidFill>
                <a:latin typeface="Arial"/>
              </a:rPr>
              <a:t>você aprende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9A5B00"/>
                </a:solidFill>
                <a:latin typeface="Arial"/>
              </a:rPr>
              <a:t>Como cola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“Faz o trabalho pra mim”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“Responde a lista inteira”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Copiar sem ler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Resultado: </a:t>
            </a:r>
            <a:r>
              <a:rPr sz="2400" b="1">
                <a:solidFill>
                  <a:srgbClr val="1E1E1E"/>
                </a:solidFill>
                <a:latin typeface="Arial"/>
              </a:rPr>
              <a:t>branco na prova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4 · ESTUDO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Cinco jeitos de estudar com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Explique de novo,</a:t>
            </a:r>
            <a:r>
              <a:rPr sz="2600" b="0">
                <a:solidFill>
                  <a:srgbClr val="1E1E1E"/>
                </a:solidFill>
                <a:latin typeface="Arial"/>
              </a:rPr>
              <a:t> com um exemplo do comércio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Me teste:</a:t>
            </a:r>
            <a:r>
              <a:rPr sz="2600" b="0">
                <a:solidFill>
                  <a:srgbClr val="1E1E1E"/>
                </a:solidFill>
                <a:latin typeface="Arial"/>
              </a:rPr>
              <a:t> uma pergunta por vez, sem dar a resposta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Corrija:</a:t>
            </a:r>
            <a:r>
              <a:rPr sz="2600" b="0">
                <a:solidFill>
                  <a:srgbClr val="1E1E1E"/>
                </a:solidFill>
                <a:latin typeface="Arial"/>
              </a:rPr>
              <a:t> mostre sua resolução e peça onde errou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Use seu material:</a:t>
            </a:r>
            <a:r>
              <a:rPr sz="2600" b="0">
                <a:solidFill>
                  <a:srgbClr val="1E1E1E"/>
                </a:solidFill>
                <a:latin typeface="Arial"/>
              </a:rPr>
              <a:t> suba a apostila no NotebookLM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Ensine de volta:</a:t>
            </a:r>
            <a:r>
              <a:rPr sz="2600" b="0">
                <a:solidFill>
                  <a:srgbClr val="1E1E1E"/>
                </a:solidFill>
                <a:latin typeface="Arial"/>
              </a:rPr>
              <a:t> explique e peça que aponte as lacunas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4 · ESTUDO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Do livro a um site que dá vontade de estudar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49</a:t>
            </a:r>
          </a:p>
        </p:txBody>
      </p:sp>
      <p:pic>
        <p:nvPicPr>
          <p:cNvPr id="11" name="Picture 10" descr="site_algoritmos4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035040" cy="35204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737360"/>
            <a:ext cx="6035040" cy="3520440"/>
          </a:xfrm>
          <a:prstGeom prst="rect">
            <a:avLst/>
          </a:prstGeom>
          <a:noFill/>
          <a:ln w="12700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783080"/>
            <a:ext cx="42364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Livros </a:t>
            </a:r>
            <a:r>
              <a:rPr sz="2400" b="1">
                <a:solidFill>
                  <a:srgbClr val="1E1E1E"/>
                </a:solidFill>
                <a:latin typeface="Arial"/>
              </a:rPr>
              <a:t>refatorados</a:t>
            </a:r>
            <a:r>
              <a:rPr sz="2400" b="0">
                <a:solidFill>
                  <a:srgbClr val="1E1E1E"/>
                </a:solidFill>
                <a:latin typeface="Arial"/>
              </a:rPr>
              <a:t> e </a:t>
            </a:r>
            <a:r>
              <a:rPr sz="2400" b="1">
                <a:solidFill>
                  <a:srgbClr val="1E1E1E"/>
                </a:solidFill>
                <a:latin typeface="Arial"/>
              </a:rPr>
              <a:t>ampliados</a:t>
            </a:r>
            <a:r>
              <a:rPr sz="2400" b="0">
                <a:solidFill>
                  <a:srgbClr val="1E1E1E"/>
                </a:solidFill>
                <a:latin typeface="Arial"/>
              </a:rPr>
              <a:t> com IA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Exemplos práticos e código que roda no navegador</a:t>
            </a:r>
          </a:p>
        </p:txBody>
      </p:sp>
      <p:pic>
        <p:nvPicPr>
          <p:cNvPr id="14" name="Picture 13" descr="qr_algoritmos4all_github_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662680"/>
            <a:ext cx="1280160" cy="1280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5015992"/>
            <a:ext cx="4236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A5B00"/>
                </a:solidFill>
                <a:latin typeface="Arial"/>
                <a:hlinkClick r:id="rId4"/>
              </a:rPr>
              <a:t>algoritmos4all.github.io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Dá para fazer o mesmo com a sua apostila de contabilidade.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4 · ESTUDO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Um pedido para copiar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10637215" cy="1694179"/>
          </a:xfrm>
          <a:prstGeom prst="rect">
            <a:avLst/>
          </a:prstGeom>
          <a:noFill/>
          <a:ln w="15875">
            <a:solidFill>
              <a:srgbClr val="D6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783080"/>
            <a:ext cx="73152" cy="1694179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10088575" cy="14198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PEDIDO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Vou ter prova de depreciação. Seja meu professor: me faça uma pergunta por vez, do mais fácil ao mais difícil. Espere a minha resposta antes de continuar. Se eu errar, não dê a resposta: me dê uma dica e me deixe tentar de novo.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Aprender dá trabalho. A IA tira o atrito, não o esforço.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3 · NA PRÁTICA  ·  5 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Cinco usos para começar amanhã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837943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Apresentações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874519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do roteiro ao slide, e ao site da palestra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56946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60604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página de comércio, portfólio, currículo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30098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Vídeos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33756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roteiro, narração e legenda automática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77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B7BEC9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03250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EC9"/>
                </a:solidFill>
                <a:latin typeface="Arial"/>
              </a:rPr>
              <a:t>Estudo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06908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7BEC9"/>
                </a:solidFill>
                <a:latin typeface="Arial"/>
              </a:rPr>
              <a:t>a IA como professor, não como cola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97A0A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76402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Contabilidade e gestão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800600"/>
            <a:ext cx="5699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conciliação, planilhas, normas e rotinas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5 · CONTABILIDADE E GESTÃO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Na Contabilidade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Conciliação bancária:</a:t>
            </a:r>
            <a:r>
              <a:rPr sz="2600" b="0">
                <a:solidFill>
                  <a:srgbClr val="1E1E1E"/>
                </a:solidFill>
                <a:latin typeface="Arial"/>
              </a:rPr>
              <a:t> achar e explicar as diferenças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Fórmulas de planilha:</a:t>
            </a:r>
            <a:r>
              <a:rPr sz="2600" b="0">
                <a:solidFill>
                  <a:srgbClr val="1E1E1E"/>
                </a:solidFill>
                <a:latin typeface="Arial"/>
              </a:rPr>
              <a:t> SOMASES, PROCV, explicadas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Norma em linguagem simples,</a:t>
            </a:r>
            <a:r>
              <a:rPr sz="2600" b="0">
                <a:solidFill>
                  <a:srgbClr val="1E1E1E"/>
                </a:solidFill>
                <a:latin typeface="Arial"/>
              </a:rPr>
              <a:t> conferida no texto oficial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Exemplo de DRE</a:t>
            </a:r>
            <a:r>
              <a:rPr sz="2600" b="0">
                <a:solidFill>
                  <a:srgbClr val="1E1E1E"/>
                </a:solidFill>
                <a:latin typeface="Arial"/>
              </a:rPr>
              <a:t> e de balancete para estudar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Checklist</a:t>
            </a:r>
            <a:r>
              <a:rPr sz="2600" b="0">
                <a:solidFill>
                  <a:srgbClr val="1E1E1E"/>
                </a:solidFill>
                <a:latin typeface="Arial"/>
              </a:rPr>
              <a:t> do fechamento do mês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O número final se confere na planilha, nunca no chat.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5 · CONTABILIDADE  ·  EXEMPLO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Conciliação bancária em segundos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Colei o extrato e o razão de outubro. Trecho da resposta: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03704"/>
            <a:ext cx="222199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Item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03704"/>
            <a:ext cx="112471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Extrato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203704"/>
            <a:ext cx="1170431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Razão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203704"/>
            <a:ext cx="5678424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Provável causa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521458"/>
            <a:ext cx="1063447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576322"/>
            <a:ext cx="2221991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05/10 Pagamento Fornecedor 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576322"/>
            <a:ext cx="1124712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-1.520,00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576322"/>
            <a:ext cx="1170431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-1.250,00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576322"/>
            <a:ext cx="5678424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Erro de digitação no razão (dígitos transpostos: 1.250 em vez de 1.520).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156966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11830"/>
            <a:ext cx="2221991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08/10 Tarifa bancária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211830"/>
            <a:ext cx="1124712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-45,90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211830"/>
            <a:ext cx="1170431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não lançada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3211830"/>
            <a:ext cx="5678424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Despesa debitada pelo banco, ainda não registrada na contabilidade.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792474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847337"/>
            <a:ext cx="2221991" cy="7886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12/10 Recebimento Cliente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847337"/>
            <a:ext cx="1124712" cy="7886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não consta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847337"/>
            <a:ext cx="1170431" cy="7886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+650,00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3847337"/>
            <a:ext cx="5678424" cy="7886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Provável depósito ainda não compensado, ou lançamento indevido. Precisa de verificação do comprovante.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690872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80060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1E1E"/>
                </a:solidFill>
                <a:latin typeface="Arial"/>
              </a:rPr>
              <a:t>Verificação:</a:t>
            </a:r>
            <a:r>
              <a:rPr sz="1800" b="0">
                <a:solidFill>
                  <a:srgbClr val="1E1E1E"/>
                </a:solidFill>
                <a:latin typeface="Arial"/>
              </a:rPr>
              <a:t> 270,00 + 45,90 + 650,00 = 965,90. As três diferenças explicam integralmente a distância entre os saldos.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Achou as três. Quem lança o ajuste e assina continua sendo você.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5 · CONTABILIDADE  ·  EXEMPLO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A fórmula que você não lembrava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Pedido: “Quero o total de Aluguel em março de 2026. Qual a fórmula?”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2369"/>
                </a:solidFill>
                <a:latin typeface="Arial"/>
              </a:rPr>
              <a:t>=SOMASES(C:C; B:B; "Aluguel"; A:A; "&gt;="&amp;DATA(2026;3;1);</a:t>
            </a:r>
            <a:br/>
            <a:r>
              <a:rPr sz="2200" b="1">
                <a:solidFill>
                  <a:srgbClr val="0F2369"/>
                </a:solidFill>
                <a:latin typeface="Arial"/>
              </a:rPr>
              <a:t>                A:A; "&lt;"&amp;DATA(2026;4;1))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72384"/>
            <a:ext cx="318211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Parte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3072384"/>
            <a:ext cx="7232903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369"/>
                </a:solidFill>
                <a:latin typeface="Arial"/>
              </a:rPr>
              <a:t>Função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390137"/>
            <a:ext cx="10634472" cy="18288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45001"/>
            <a:ext cx="318211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C:C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445001"/>
            <a:ext cx="7232903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Intervalo de soma: a coluna com os valores que serão somados.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762755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17619"/>
            <a:ext cx="3182112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B:B; "Aluguel"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817619"/>
            <a:ext cx="7232903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1ª condição: na coluna B, considerar só as linhas com a categoria “Aluguel”.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398264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53127"/>
            <a:ext cx="318211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A:A; "&gt;="&amp;DATA(2026;3;1)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453127"/>
            <a:ext cx="7232903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2ª condição: na coluna A, datas maiores ou iguais a 01/03/2026.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770881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25745"/>
            <a:ext cx="318211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A:A; "&lt;"&amp;DATA(2026;4;1)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4825745"/>
            <a:ext cx="7232903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Arial"/>
              </a:rPr>
              <a:t>3ª condição: na coluna A, datas menores que 01/04/2026.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143499"/>
            <a:ext cx="10634472" cy="10972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Teste com dois valores que você já conhece antes de confiar.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USO 5 · CONTABILIDADE E GESTÃO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Na Administração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Ata de reunião</a:t>
            </a:r>
            <a:r>
              <a:rPr sz="2600" b="0">
                <a:solidFill>
                  <a:srgbClr val="1E1E1E"/>
                </a:solidFill>
                <a:latin typeface="Arial"/>
              </a:rPr>
              <a:t> a partir das suas anotações soltas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E-mail</a:t>
            </a:r>
            <a:r>
              <a:rPr sz="2600" b="0">
                <a:solidFill>
                  <a:srgbClr val="1E1E1E"/>
                </a:solidFill>
                <a:latin typeface="Arial"/>
              </a:rPr>
              <a:t> difícil para cliente ou fornecedor, no tom certo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Promoção</a:t>
            </a:r>
            <a:r>
              <a:rPr sz="2600" b="0">
                <a:solidFill>
                  <a:srgbClr val="1E1E1E"/>
                </a:solidFill>
                <a:latin typeface="Arial"/>
              </a:rPr>
              <a:t> com margem calculada e crítica dos riscos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Plano de ação 5W2H</a:t>
            </a:r>
            <a:r>
              <a:rPr sz="2600" b="0">
                <a:solidFill>
                  <a:srgbClr val="1E1E1E"/>
                </a:solidFill>
                <a:latin typeface="Arial"/>
              </a:rPr>
              <a:t> para um problema da empresa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2600" b="1">
                <a:solidFill>
                  <a:srgbClr val="1E1E1E"/>
                </a:solidFill>
                <a:latin typeface="Arial"/>
              </a:rPr>
              <a:t>Roteiro de atendimento</a:t>
            </a:r>
            <a:r>
              <a:rPr sz="2600" b="0">
                <a:solidFill>
                  <a:srgbClr val="1E1E1E"/>
                </a:solidFill>
                <a:latin typeface="Arial"/>
              </a:rPr>
              <a:t> e respostas para dúvidas frequentes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4 · CUIDADOS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O que nunca colar numa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4864" cy="3611880"/>
          </a:xfrm>
          <a:prstGeom prst="rect">
            <a:avLst/>
          </a:prstGeom>
          <a:solidFill>
            <a:srgbClr val="9A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9A5B00"/>
                </a:solidFill>
                <a:latin typeface="Arial"/>
              </a:rPr>
              <a:t>Nunca cole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CPF</a:t>
            </a:r>
            <a:r>
              <a:rPr sz="2400" b="0">
                <a:solidFill>
                  <a:srgbClr val="1E1E1E"/>
                </a:solidFill>
                <a:latin typeface="Arial"/>
              </a:rPr>
              <a:t>, RG, endereço de cliente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Salário</a:t>
            </a:r>
            <a:r>
              <a:rPr sz="2400" b="0">
                <a:solidFill>
                  <a:srgbClr val="1E1E1E"/>
                </a:solidFill>
                <a:latin typeface="Arial"/>
              </a:rPr>
              <a:t>, extrato, folha de pagamento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Senhas</a:t>
            </a:r>
            <a:r>
              <a:rPr sz="2400" b="0">
                <a:solidFill>
                  <a:srgbClr val="1E1E1E"/>
                </a:solidFill>
                <a:latin typeface="Arial"/>
              </a:rPr>
              <a:t> e dados de acesso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Documento </a:t>
            </a:r>
            <a:r>
              <a:rPr sz="2400" b="1">
                <a:solidFill>
                  <a:srgbClr val="1E1E1E"/>
                </a:solidFill>
                <a:latin typeface="Arial"/>
              </a:rPr>
              <a:t>sigiloso</a:t>
            </a:r>
            <a:r>
              <a:rPr sz="2400" b="0">
                <a:solidFill>
                  <a:srgbClr val="1E1E1E"/>
                </a:solidFill>
                <a:latin typeface="Arial"/>
              </a:rPr>
              <a:t> da empresa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783080"/>
            <a:ext cx="54864" cy="3611880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6199" y="1783080"/>
            <a:ext cx="478825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A866E"/>
                </a:solidFill>
                <a:latin typeface="Arial"/>
              </a:rPr>
              <a:t>Faça assim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Troque por </a:t>
            </a:r>
            <a:r>
              <a:rPr sz="2400" b="1">
                <a:solidFill>
                  <a:srgbClr val="1E1E1E"/>
                </a:solidFill>
                <a:latin typeface="Arial"/>
              </a:rPr>
              <a:t>dados fictícios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Use “Cliente A”, “Empresa X”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Pergunte a </a:t>
            </a:r>
            <a:r>
              <a:rPr sz="2400" b="1">
                <a:solidFill>
                  <a:srgbClr val="1E1E1E"/>
                </a:solidFill>
                <a:latin typeface="Arial"/>
              </a:rPr>
              <a:t>regra</a:t>
            </a:r>
            <a:r>
              <a:rPr sz="2400" b="0">
                <a:solidFill>
                  <a:srgbClr val="1E1E1E"/>
                </a:solidFill>
                <a:latin typeface="Arial"/>
              </a:rPr>
              <a:t>, não o caso real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0">
                <a:solidFill>
                  <a:srgbClr val="1E1E1E"/>
                </a:solidFill>
                <a:latin typeface="Arial"/>
              </a:rPr>
              <a:t>Na dúvida, </a:t>
            </a:r>
            <a:r>
              <a:rPr sz="2400" b="1">
                <a:solidFill>
                  <a:srgbClr val="1E1E1E"/>
                </a:solidFill>
                <a:latin typeface="Arial"/>
              </a:rPr>
              <a:t>pergunte ao chefe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Todos os exemplos de hoje usaram dados fictícios. Faça o mesmo.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4 · CUIDADOS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Cinco hábitos para levar para casa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6372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1. Confira</a:t>
            </a:r>
            <a:r>
              <a:rPr sz="2800" b="0">
                <a:solidFill>
                  <a:srgbClr val="1E1E1E"/>
                </a:solidFill>
                <a:latin typeface="Arial"/>
              </a:rPr>
              <a:t> todo número, nome, lei e fonte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2. Peça que ela pergunte antes</a:t>
            </a:r>
            <a:r>
              <a:rPr sz="2800" b="0">
                <a:solidFill>
                  <a:srgbClr val="1E1E1E"/>
                </a:solidFill>
                <a:latin typeface="Arial"/>
              </a:rPr>
              <a:t> e que critique depois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3. Peça no mínimo três versões</a:t>
            </a:r>
            <a:r>
              <a:rPr sz="2800" b="0">
                <a:solidFill>
                  <a:srgbClr val="1E1E1E"/>
                </a:solidFill>
                <a:latin typeface="Arial"/>
              </a:rPr>
              <a:t> e escolha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4. Não cole dados pessoais,</a:t>
            </a:r>
            <a:r>
              <a:rPr sz="2800" b="0">
                <a:solidFill>
                  <a:srgbClr val="1E1E1E"/>
                </a:solidFill>
                <a:latin typeface="Arial"/>
              </a:rPr>
              <a:t> nunca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5. Declare</a:t>
            </a:r>
            <a:r>
              <a:rPr sz="2800" b="0">
                <a:solidFill>
                  <a:srgbClr val="1E1E1E"/>
                </a:solidFill>
                <a:latin typeface="Arial"/>
              </a:rPr>
              <a:t> quando usou IA, na escola e no trabalho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PARA ESTA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Um desafio de sete dias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Escolha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uma tarefa que você repete e detesta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6553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6553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Peça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com a receita: quem, contexto, tarefa, formato, limite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5867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5867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Confira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linha por linha, como se fosse de um colega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5181" y="1965960"/>
            <a:ext cx="2419273" cy="36576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5181" y="2148840"/>
            <a:ext cx="2419273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C97A0A"/>
                </a:solidFill>
                <a:latin typeface="Arial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2800" b="1">
                <a:solidFill>
                  <a:srgbClr val="0F2369"/>
                </a:solidFill>
                <a:latin typeface="Arial"/>
              </a:rPr>
              <a:t>Compare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Arial"/>
              </a:rPr>
              <a:t>o tempo que levou com o tempo de antes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866E"/>
                </a:solidFill>
                <a:latin typeface="Arial"/>
              </a:rPr>
              <a:t>PARA O FUTURO DE VOCÊS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F2369"/>
                </a:solidFill>
                <a:latin typeface="Arial"/>
              </a:rPr>
              <a:t>BIA: Bacharelado em IA da UNIPAMPA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1005840" cy="54864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6231" y="1371600"/>
            <a:ext cx="384048" cy="54864"/>
          </a:xfrm>
          <a:prstGeom prst="rect">
            <a:avLst/>
          </a:prstGeom>
          <a:solidFill>
            <a:srgbClr val="C9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13432" y="1371600"/>
            <a:ext cx="219456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C97A0A"/>
                </a:solidFill>
                <a:latin typeface="Arial"/>
              </a:rPr>
              <a:t>8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semestres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3736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C97A0A"/>
                </a:solidFill>
                <a:latin typeface="Arial"/>
              </a:rPr>
              <a:t>3.210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horas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737360"/>
            <a:ext cx="2514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C97A0A"/>
                </a:solidFill>
                <a:latin typeface="Arial"/>
              </a:rPr>
              <a:t>2027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>
                <a:solidFill>
                  <a:srgbClr val="6B7280"/>
                </a:solidFill>
                <a:latin typeface="Arial"/>
              </a:rPr>
              <a:t>início em março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7680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Campus Alegrete:</a:t>
            </a:r>
            <a:r>
              <a:rPr sz="2400" b="0">
                <a:solidFill>
                  <a:srgbClr val="1E1E1E"/>
                </a:solidFill>
                <a:latin typeface="Arial"/>
              </a:rPr>
              <a:t> universidade pública e gratuita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Currículo do zero,</a:t>
            </a:r>
            <a:r>
              <a:rPr sz="2400" b="0">
                <a:solidFill>
                  <a:srgbClr val="1E1E1E"/>
                </a:solidFill>
                <a:latin typeface="Arial"/>
              </a:rPr>
              <a:t> pensado para a IA desde o início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2400" b="1">
                <a:solidFill>
                  <a:srgbClr val="1E1E1E"/>
                </a:solidFill>
                <a:latin typeface="Arial"/>
              </a:rPr>
              <a:t>Prática desde o primeiro dia,</a:t>
            </a:r>
            <a:r>
              <a:rPr sz="2400" b="0">
                <a:solidFill>
                  <a:srgbClr val="1E1E1E"/>
                </a:solidFill>
                <a:latin typeface="Arial"/>
              </a:rPr>
              <a:t> com projetos reais</a:t>
            </a:r>
          </a:p>
        </p:txBody>
      </p:sp>
      <p:pic>
        <p:nvPicPr>
          <p:cNvPr id="15" name="Picture 14" descr="qr_b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737360"/>
            <a:ext cx="2103120" cy="2103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95360" y="3931920"/>
            <a:ext cx="2819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A5B00"/>
                </a:solidFill>
                <a:latin typeface="Arial"/>
                <a:hlinkClick r:id="rId3"/>
              </a:rPr>
              <a:t>bia-unipampa.github.io</a:t>
            </a:r>
          </a:p>
        </p:txBody>
      </p:sp>
      <p:pic>
        <p:nvPicPr>
          <p:cNvPr id="17" name="Picture 16" descr="logo_b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0693" y="4526280"/>
            <a:ext cx="1758292" cy="640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77240" y="5468112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A5B00"/>
                </a:solidFill>
                <a:latin typeface="Arial"/>
              </a:rPr>
              <a:t>Gostou desta noite? A primeira turma começa em março de 2027.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76809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F2369"/>
                </a:solidFill>
                <a:latin typeface="Arial"/>
              </a:rPr>
              <a:t>A entrega ficou barata.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4800" b="1">
                <a:solidFill>
                  <a:srgbClr val="9A5B00"/>
                </a:solidFill>
                <a:latin typeface="Arial"/>
              </a:rPr>
              <a:t>O julgamento ficou caro.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56616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E1E1E"/>
                </a:solidFill>
                <a:latin typeface="Arial"/>
              </a:rPr>
              <a:t>Use a IA para ir além do que você faria sozinho, não para pular o esforço.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617720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4632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F2369"/>
                </a:solidFill>
                <a:latin typeface="Arial"/>
              </a:rPr>
              <a:t>Obrigado!  Perguntas?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6B7280"/>
                </a:solidFill>
                <a:latin typeface="Arial"/>
              </a:rPr>
              <a:t>Prof. Dr. Diego Kreutz  ·  UNIPAMPA  ·  AI Horizon Labs</a:t>
            </a:r>
          </a:p>
        </p:txBody>
      </p:sp>
      <p:pic>
        <p:nvPicPr>
          <p:cNvPr id="7" name="Picture 6" descr="qr_talks4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280160"/>
            <a:ext cx="237744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78240" y="3749039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Arial"/>
                <a:hlinkClick r:id="rId3"/>
              </a:rPr>
              <a:t>slides, pedidos e materiais</a:t>
            </a:r>
            <a:br/>
            <a:r>
              <a:rPr sz="1400" b="0">
                <a:solidFill>
                  <a:srgbClr val="6B7280"/>
                </a:solidFill>
                <a:latin typeface="Arial"/>
                <a:hlinkClick r:id="rId3"/>
              </a:rPr>
              <a:t>talks4all.github.io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272784"/>
            <a:ext cx="10637215" cy="9144"/>
          </a:xfrm>
          <a:prstGeom prst="rect">
            <a:avLst/>
          </a:prstGeom>
          <a:solidFill>
            <a:srgbClr val="D6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8686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rial"/>
              </a:rPr>
              <a:t>Colégio Emílio Zuneda  ·  Ciclo de Palestras dos Cursos Técnicos  ·  20/10/2026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82935" y="636422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69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na prática</dc:title>
  <dc:subject/>
  <dc:creator>Diego Kreutz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