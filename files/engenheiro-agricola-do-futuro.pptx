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Apresente-se em 30 segundos. Professor e pesquisador da UNIPAMPA, aqui no Campus Alegrete, vizinho de corredor da Engenharia Agrícola. A conversa de hoje é sobre o curso de vocês e sobre o engenheiro que ele vai formar.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Levante a sua mão primeiro. Conte as mãos. Pergunte a quem não levantou o que usou hoje no celular: quase sempre usou sem perceber. Se houver alguém que trabalha em propriedade, pergunte se o piloto automático do trator conta.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 em uma frase: o site do curso tem um clipe de menos de dois minutos, feito com IA. Toque o clipe antes de comentar qualquer coisa. Gancho: o que antes exigia roteirista, locutor e editor de vídeo, hoje começa com uma boa descrição. A pergunta de hoje é o que isso muda no trabalho de um engenheiro.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Escolha uma versão e clique no vídeo para tocar. No PowerPoint as duas estão embutidas; no HTML, cada uma toca o arquivo da pasta midia ou, sem ele, o do site. Ao final, pergunte: quanto tempo vocês acham que levou para fazer? Repare que o clipe fala em sensores, drones e inteligência artificial. Guarde isso para a pergunta 2. Aponte os QR Codes: quem quiser rever abre no celular.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Dois reels verticais, pensados para o celular e as redes sociais, feitos com IA. Não precisa tocar: aponte os QR Codes e convide a plateia a abrir no celular.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Quatro faixas feitas com IA, todas no site do curso. Se sobrar tempo no fim, toque Garrão de Bagual na saída.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Diga logo no início que o site do curso, o clipe, os reels e as músicas foram feitos com IA, e que a revisão foi sua.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Navegue pelo site ao vivo, se houver internet. Mostre a página inicial, a matriz com o mapa de pré-requisitos, o planejador de grade, a carreira e o guia do estudante. É um site informativo e não oficial: em caso de dúvida, vale o PPC e a Coordenação do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Clique numa disciplina e o site acende de onde ela vem (pré-requisitos) e para onde ela leva (o que ela libera). Cada disciplina abre a ementa. As cores são as áreas do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estudante monta a grade semestre a semestre, escolhe as CCCGs e registra as ACGs. O site avisa quando falta pré-requisito ou quando o semestre passa de 540 horas, e exporta em PDF, planilha ou imagem. Tudo fica salvo no navegador.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página Evolução do PPC. Diga como foi feita: a IA leu os cinco PDFs inteiros, 1.846 páginas, comparou as matrizes e montou a página. Eu conferi os números com os quadros de integralização. É o exemplo de agente que volta na seção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chutes. Repita cada um em voz alta. Quase sempre alguém diz dez, vinte. Só depois avance.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Deixe o zero na tela por três segundos em silêncio. Depois leia os outros números. Drones e automação já estão no PPC, mas como equipamento, não como fonte de dados para modelos. Isso não é crítica ao NDE: o novo PPC foi escrito em 2023, quando quase ninguém escrevia IA em PPC de engenharia. É um convite para a próxima versão.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Fale dos modelos atuais em geral: Claude, ChatGPT, Gemini. A coluna da direita é o que muda o jogo para engenharia: ela lê o documento inteiro, enxerga a imagem e executa o cálculo em vez de chutar o número.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desmereça a ferramenta. Diga que você usa todo dia para as coisas da esquerda. A direita é onde o engenheiro agrícola é insubstituível: o solo do Pampa, a várzea do arroz, a norma que mudou mês passado.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Deixe a sala responder. Costuma aparecer: o jeito de perguntar, a versão paga, a sorte. Sorte quase não tem a ver: os próximos slides mostram respostas reais, geradas com pedidos de Engenharia Agrícola.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mesma pessoa, com outro pedido, outro modelo ou outra ferramenta, chega a um resultado muito diferente. Por isso vale tanto olhar como o colega fez, e não só o que ele entregou.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dois pedidos foram feitos de verdade, em 27/10/2026, ao Claude Sonnet, com um prompt de sistema neutro, sem ferramentas e sem busca. Cada um rodou uma vez. Os textos completos estão na pasta exemplos_reais.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 real do Claude Sonnet, sem retoque, resumida aqui. Conferi a conta da resposta boa: 1 mm/dia equivale a 0,1157 L/s/ha; 10 mm/dia mais 15% de perdas de condução dão cerca de 1,33 L/s/ha, ou 67 L/s em 50 ha. A resposta fraca não está errada: é genérica, e termina pedindo justamente o contexto que faltou.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Feito em 27/10/2026, uma vez por modelo, sem busca na web. Os três acertaram o número da portaria. O Sonnet disse que lembrava das distâncias e pediu para conferir, mas os números estavam errados: o Art. 5º da Portaria MAPA 298/2021 proíbe a aplicação por drone a menos de 20 m de povoações, moradias isoladas, agrupamentos de animais e mananciais de abastecimento. O Opus acertou o curso CAAR exigido do aplicador. Moral: o modelo importa, e detalhe convincente precisa de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mesma IA muda de patamar com a ferramenta. O site do curso só existe porque um agente, o Claude Code, leu os cinco PDFs inteiros, rodou código para comparar as matrizes e montou as páginas. No chat, eu teria colado trechos e perdido metade.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mesmos quatro truques da palestra dos cursos técnicos. Mostre o terceiro com a resposta do Sonnet sobre os drones: se tivéssemos pedido que ele criticasse a própria resposta, as distâncias teriam caído.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jeito mais rápido de melhorar não é um curso: é ver como o colega pediu. Proponha que a turma crie um documento compartilhado com os pedidos que funcionaram, por disciplina, e com os erros que a IA cometeu.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Colha três ou quatro respostas e anote duas. Você vai apontá-las nos exemplos reais dos próximos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página IA no campo do site: 24 tecnologias, por área de atuação, com o estágio de cada uma no Brasil em 2026. A frase que resume a página: a IA não chega como uma máquina nova, chega dentro de todas elas.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quatro famílias da página IA no campo. Toda tecnologia dos próximos slides cai em uma delas, e quase nenhuma substitui sozinha o engenheiro: muda o tipo de trabalho.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mapa da página IA no campo. Quanto mais à esquerda, mais disponível a tecnologia já está; quanto mais alto, mais ela muda o dia a dia do engenheiro agrícola. O canto superior esquerdo é o mais urgente para quem está no curso agora: drones, irrigação por sensores e assistentes de IA generativa já mudam o trabalho hoje. Estágio e impacto são avaliações do site para outubro de 2026 e mudam rápido.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Seis das 14 tecnologias que a página IA no campo classifica como em uso no Brasil em 2026, uma por área. A coluna da direita é o que importa: o que muda no trabalho do engenheiro agrícola. Drones de pulverização são regulados pela Portaria MAPA 298/2021.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última linha é a de maior alcance imediato, porque toca todas as áreas: produtividade alta, com risco de erro convincente.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Quatro números de casos reais, cada um com o seu slide a seguir. O primeiro foi medido por uma universidade, não pelo fabricante: Iowa State, cinco talhões de soja, 415 acres. O último é da UNIPAMPA, com a Embrapa Pecuária Sul.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Deere divulga 59% de economia média em milho, soja e algodão, em mais de 1 milhão de acres (número do fabricante). O teste independente da Iowa State, em 5 talhões de soja (415 acres), mediu 76% em média, de 44% a 91%. Para o engenheiro: a regulagem passa a incluir a sensibilidade do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Piloto na Tereos, em Olímpia (SP); quem informa os 50% é o cliente. No fim de 2024 havia 40 robôs no Brasil e 50 na América do Norte, a cerca de R$ 350 mil cada. Um módulo noturno também elimina insetos.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Empresa brasileira, de Pompeia (SP). Mais de 16 mil horas de validação em quase 60 mil ha; comercial desde a Agrishow 2026. A fabricante fala em até 30% mais eficiência que o pulverizador convencional de citros. Para o engenheiro: segurança de máquina sem operador e supervisão de frota.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Piloto com a Nescafé em 20 propriedades de café no Espírito Santo, em 2026. Os números são das empresas. É também o melhor número com fonte que achamos para energia: 15% menos eletricidade no bombeamento.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 Boehringer Ingelheim, em uso em pelo menos 15 países em 2023. Combina o som com temperatura e umidade. Para o engenheiro de construções rurais: a instalação passa a ser projetada com sensores, conectividade e manejo por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Gras, da Embrapa Instrumentação com a Embrapii Itech-Agro e a startup Brasil Agritest. A classificação oficial continua exigindo classificador credenciado (Lei 9.972/2000): o engenheiro valida o equipamento contra a classificação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Selecionadora óptica para arroz branco e parboilizado, comum nos engenhos. O número é do fabricante e não há dado de acurácia publicado. Arroz e soja, os grãos do RS, já são classificados por imagem.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Projeto Terrapampa Smart Systems, coordenado pelo Prof. Sandro Camargo, do mestrado em computação aplicada da UNIPAMPA. A meta no capim-annoni é 98%; o modelo processa cerca de 350 fotos por minuto, e a Nvidia apoia com cerca de R$ 1,2 milhão em computação. É da nossa universidade: vale citar com orgulho.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Classificador Random Forest no Google Earth Engine. CAR, licenciamento, perícia e crédito rural já partem desses mapas. O trabalho do engenheiro passa a ser conferir, corrigir e responder pelo mapa: no Pampa, campo, floresta e silvicultura são as classes que mais se confundem.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Startup brasileira, com a Embratel (Smart Field), em soja e cana. Os 65% são do CEO da Cromai. Levantamento que levava dias leva horas, e o mapa de prescrição fica rotineiro.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CNH Industrial é o grupo dono das marcas de máquinas Case IH e New Holland (não confundir com a carteira de motorista). MAIA (Case IH) e GUIA (New Holland), desenvolvidos com as startups Human Robotics e Mr. Turing. No mesmo ano, a Embrapa lançou o RAImundo: assistência técnica pelo WhatsApp, por texto, áudio ou foto, gratuita e em beta, para o agricultor familiar.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Fontes: McKinsey, A mente do agricultor brasileiro 2024 (757 entrevistados); McKinsey, Global Farmer Insights 2026 (5.500 produtores em 10 países). O produtor já pergunta à IA: o engenheiro precisa saber o que ela erra.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esquerda não desaparece, ela fica barata. A direita fica cara. Repare que nenhum item da direita é fazer conta: é saber se a conta faz sentido no campo.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devagar. É a frase que organiza todo o resto da palestra.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Quatro competências, na ordem em que o trabalho acontece. Nenhuma delas é programar modelos do zero. Todas exigem saber física, solos, hidráulica e máquinas, senão o engenheiro não percebe quando o modelo erra.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Deixe a sala responder. A resposta curta é: não sem dado local. Os dois próximos slides são casos reais de erro com cara de acerto.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Treinada nas fotos do banco PlantVillage (folhas sobre fundo neutro, como na imagem), acertou 99,35%. Em fotos tiradas da internet, em outras condições, acertou cerca de 31%. É o viés de bioma em miniatura: o modelo funciona onde foi treinado e erra com confiança em outro lugar. Num estudo de 2023 (PLOS ONE), aplicativos de identificação de plantas erraram cerca de uma em cada cinco espécies.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Notícia oficial do tribunal, de 18/02/2025: multa por litigância de má-fé. O caso mais famoso é o Mata v. Avianca, em Nova York (2023): seis decisões inventadas pelo ChatGPT, multa de US$ 5 mil. Leve para a engenharia: um laudo com norma ou dado inventado tem a ART de quem assinou.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Feche os dois casos anteriores: a coluna da esquerda é o PlantVillage, a da direita é o TJSC. Nos dois, o erro chegou com cara de acerto, e nos dois a saída é a mesma: conferir com o que o modelo não tem, seja o dado do Pampa, seja a fonte original. Se houver tempo, lembre que os dados da fazenda também têm dono (o produtor), com LGPD e contratos de plataforma; na proposta de PPC do futuro do site, isso vira a disciplina Ética, Legislação e Responsabilidade Técnica com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Algoritmos e Programação está no primeiro semestre da matriz da Engenharia Agrícola. Conte o que você viu na disciplina, com alunos de Engenharia que três meses antes não sabiam programar: ferramenta de payback de painel solar, simulador de calibração, análise de custo de frota. Se a sala reagir com desconfiança, diga que você estava lá e que tem o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Vale para qualquer disciplina do curso. Os três verbos da direita são mais difíceis, não mais fáceis: a formação ficou mais exigente.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Fale com os estudantes. A mesma IA serve aos dois usos: a diferença está no pedido. A cola dá nota hoje e branco no estágio, quando o produtor pergunta e não tem chat para consultar.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pedido que eu mais recomendo para estudar. Troque Hidráulica pela disciplina da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página PPC do futuro do site. Deixe claro: é uma proposta exploratória, para discussão, e não um documento oficial. Nada ali foi aprovado pelo NDE, pela Comissão de Curso ou pela UNIPAMPA. A pergunta que ela responde: se a IA já calcula, desenha, classifica imagens e redige laudos, o que o curso precisa ensinar?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perfil do egresso da proposta, uma competência por slide: o que ele sabe fazer, e não só o que cursou. Repare que só uma das seis é sobre modelo. As outras são campo, sistema, ética, gente e aprender sozinho. Esta primeira é a base de tudo: amostra de solo e voo de drone, cada medida com o seu erro.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tela, uma simulação de queda livre em Python e o gráfico que ela gera. É o tamanho de modelo que o egresso precisa dominar: simples, legível e conferido com o que a física permite.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pivô central é o exemplo perfeito: estrutura, motor, bomba, água, energia e um painel que registra tudo. O valor do engenheiro está em fazer essas partes conversarem.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 a regra de ouro de novo, agora como competência de formação: usar IA deixando registro do que ela fez e proteger os dados de quem contratou o serviço.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técnico explica o plano ao produtor, no campo, com papel na mão. Nenhum modelo faz isso por ele: entender o produtor, explicar a incerteza e chegar a uma decisão junto.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última competência fecha o perfil: quem se forma em 2032 vai usar ferramentas que hoje não existem. O curso precisa ensinar a aprender e a desconfiar do que é novo.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seis princípios da proposta. O primeiro é o mais contraintuitivo: num curso com mais IA, os fundamentos ficam mais importantes, e com avaliação sem IA, porque é a base que permite desconfiar do modelo. O quinto responde ao buraco de nove anos entre versões do PPC.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Proibir não funciona, e liberar tudo esvazia a avaliação. Cada atividade declara o nível permitido no plano de ensino, e o estudante registra como usou a ferramenta. Em todos os níveis, quem entrega responde pelo conteúdo, como na vida profissional responde pela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riscos e as mitigações da própria proposta. O último é decisivo: as atribuições do CREA e do CONFEA dependem das disciplinas cursadas, então qualquer matriz nova precisa ser conferida antes de aprovada. Além da matriz, a proposta pede área experimental instrumentada, Laboratório de Agricultura Digital, formação docente e rede de parceiros como Embrapa e Emater.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der tempo para um só, fique com o primeiro: confira. O site do PPC só é confiável porque cada número foi conferido no documento.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Olhe para os estudantes na coluna da esquerda e para os docentes na da direita, de forma explícita.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Curso novo, público e gratuito, aqui no Campus Alegrete, com a primeira turma em março de 2027. A ponte natural com a Engenharia Agrícola: agricultura digital é um dos campos onde a IA mais vai crescer, e os dois cursos dividem o mesmo campus.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as duas linhas devagar. Agradeça e abra para perguntas. Aponte os dois QR Codes: o site do PPC e os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alks4all.github.io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6.jpg"/><Relationship Id="rId5" Type="http://schemas.openxmlformats.org/officeDocument/2006/relationships/image" Target="../media/image7.png"/><Relationship Id="rId6" Type="http://schemas.openxmlformats.org/officeDocument/2006/relationships/hyperlink" Target="https://engenharia-agricola.github.io/assets/video/ea_unipampa_clip_v1.mp4" TargetMode="External"/><Relationship Id="rId7" Type="http://schemas.microsoft.com/office/2007/relationships/media" Target="../media/media2.mp4"/><Relationship Id="rId8" Type="http://schemas.openxmlformats.org/officeDocument/2006/relationships/video" Target="../media/media2.mp4"/><Relationship Id="rId9" Type="http://schemas.openxmlformats.org/officeDocument/2006/relationships/image" Target="../media/image8.jpg"/><Relationship Id="rId10" Type="http://schemas.openxmlformats.org/officeDocument/2006/relationships/image" Target="../media/image9.png"/><Relationship Id="rId11" Type="http://schemas.openxmlformats.org/officeDocument/2006/relationships/hyperlink" Target="https://engenharia-agricola.github.io/assets/video/ea_unipampa_clip_v2.mp4" TargetMode="External"/><Relationship Id="rId1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hyperlink" Target="https://engenharia-agricola.github.io/reels/reels_EA_frentes_de_atuacao.mp4" TargetMode="External"/><Relationship Id="rId8" Type="http://schemas.openxmlformats.org/officeDocument/2006/relationships/notesSlide" Target="../notesSlides/notesSlide5.xml"/><Relationship Id="rId9" Type="http://schemas.openxmlformats.org/officeDocument/2006/relationships/image" Target="../media/image60.jpg"/><Relationship Id="rId10" Type="http://schemas.openxmlformats.org/officeDocument/2006/relationships/image" Target="../media/image61.png"/><Relationship Id="rId11" Type="http://schemas.openxmlformats.org/officeDocument/2006/relationships/image" Target="../media/image62.jpg"/><Relationship Id="rId12" Type="http://schemas.openxmlformats.org/officeDocument/2006/relationships/image" Target="../media/image63.png"/><Relationship Id="rId13" Type="http://schemas.openxmlformats.org/officeDocument/2006/relationships/hyperlink" Target="https://engenharia-agricola.github.io/reels/reels_EA_vem_pra_unipampa.mp4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hyperlink" Target="https://engenharia-agricola.github.io/musicas/raiz_e_engrenagem.mp3" TargetMode="External"/><Relationship Id="rId4" Type="http://schemas.openxmlformats.org/officeDocument/2006/relationships/image" Target="../media/image15.png"/><Relationship Id="rId5" Type="http://schemas.openxmlformats.org/officeDocument/2006/relationships/hyperlink" Target="https://engenharia-agricola.github.io/musicas/pe_no_acelerador.mp3" TargetMode="External"/><Relationship Id="rId6" Type="http://schemas.openxmlformats.org/officeDocument/2006/relationships/image" Target="../media/image16.png"/><Relationship Id="rId7" Type="http://schemas.openxmlformats.org/officeDocument/2006/relationships/hyperlink" Target="https://engenharia-agricola.github.io/musicas/garrao_de_bagual.mp3" TargetMode="External"/><Relationship Id="rId8" Type="http://schemas.openxmlformats.org/officeDocument/2006/relationships/image" Target="../media/image17.png"/><Relationship Id="rId9" Type="http://schemas.openxmlformats.org/officeDocument/2006/relationships/hyperlink" Target="https://engenharia-agricola.github.io/musicas/garrao_de_bagual_instrumental.mp3" TargetMode="External"/><Relationship Id="rId1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hyperlink" Target="https://engenharia-agricola.github.io" TargetMode="Externa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hyperlink" Target="https://engenharia-agricola.github.io/evolucao.html" TargetMode="Externa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hyperlink" Target="https://engenharia-agricola.github.io/tecnologias.html" TargetMode="External"/><Relationship Id="rId5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png"/><Relationship Id="rId4" Type="http://schemas.openxmlformats.org/officeDocument/2006/relationships/hyperlink" Target="https://crops.extension.iastate.edu/cropnews/2024/08/precision-spraying-technology" TargetMode="External"/><Relationship Id="rId5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hyperlink" Target="https://revistapesquisa.fapesp.br/robo-elimina-plantas-invasoras-e-insetos-praga-que-prejudicam-a-lavoura/" TargetMode="Externa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hyperlink" Target="https://revistacultivar.com.br/noticias/jacto-avanca-na-robotica-agricola-com-arbus-4000-jav" TargetMode="External"/><Relationship Id="rId5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hyperlink" Target="https://www.baguete.com.br/noticias/nescafe-otimiza-irrigacao-com-ia" TargetMode="External"/><Relationship Id="rId5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5.png"/><Relationship Id="rId4" Type="http://schemas.openxmlformats.org/officeDocument/2006/relationships/hyperlink" Target="https://agtechnavigator.com/Article/2024/05/22/AI-powered-early-detection-system-aims-to-transform-pig-welfare" TargetMode="External"/><Relationship Id="rId5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31.png"/><Relationship Id="rId4" Type="http://schemas.openxmlformats.org/officeDocument/2006/relationships/hyperlink" Target="https://revistacultivar.com.br/noticias/tecnologia-brasileira-acelera-classificacao-da-qualidade-da-soja" TargetMode="External"/><Relationship Id="rId5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image" Target="../media/image38.png"/><Relationship Id="rId4" Type="http://schemas.openxmlformats.org/officeDocument/2006/relationships/hyperlink" Target="https://www.buhlergroup.com/global/en/products/sortex_s_ultravisionopticalsorter.html" TargetMode="External"/><Relationship Id="rId5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image" Target="../media/image40.png"/><Relationship Id="rId4" Type="http://schemas.openxmlformats.org/officeDocument/2006/relationships/hyperlink" Target="https://www.gazetadopovo.com.br/agronegocio/nvidia-modelos-ia-agropecuaria-precisao/" TargetMode="External"/><Relationship Id="rId5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42.png"/><Relationship Id="rId4" Type="http://schemas.openxmlformats.org/officeDocument/2006/relationships/hyperlink" Target="https://brasil.mapbiomas.org/wp-content/uploads/sites/4/2025/10/Factsheet-Pampa_C10_10.10.pdf" TargetMode="External"/><Relationship Id="rId5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image" Target="../media/image44.png"/><Relationship Id="rId4" Type="http://schemas.openxmlformats.org/officeDocument/2006/relationships/hyperlink" Target="https://www.noticiasagricolas.com.br/noticias/maquinas-e-tecnologias/375560-embratel-lanca-solucao-de-inteligencia-artificial-para-manejo-estrategico-de-plantas-daninhas-nas-culturas-de-soja-e-cana-de-acucar.amp.html" TargetMode="External"/><Relationship Id="rId5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png"/><Relationship Id="rId4" Type="http://schemas.openxmlformats.org/officeDocument/2006/relationships/hyperlink" Target="https://csrwire.com/press-release/interactive-robot-points-way-smarter-farm-equipment/" TargetMode="External"/><Relationship Id="rId5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image" Target="../media/image48.png"/><Relationship Id="rId4" Type="http://schemas.openxmlformats.org/officeDocument/2006/relationships/hyperlink" Target="https://www.frontiersin.org/journals/plant-science/articles/10.3389/fpls.2016.01419/full" TargetMode="External"/><Relationship Id="rId5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hyperlink" Target="https://www.tjsc.jus.br/web/imprensa/-/tjsc-multa-autor-de-recurso-por-jurisprudencia-falsa-gerada-por-ia" TargetMode="External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hyperlink" Target="https://engenharia-agricola.github.io/futuro.html" TargetMode="External"/><Relationship Id="rId5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hyperlink" Target="https://bia-unipampa.github.io" TargetMode="External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hyperlink" Target="https://engenharia-agricola.github.io" TargetMode="External"/><Relationship Id="rId4" Type="http://schemas.openxmlformats.org/officeDocument/2006/relationships/image" Target="../media/image59.png"/><Relationship Id="rId5" Type="http://schemas.openxmlformats.org/officeDocument/2006/relationships/hyperlink" Target="https://talks4all.github.io" TargetMode="External"/><Relationship Id="rId6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97A0A"/>
                </a:solidFill>
                <a:latin typeface="Arial"/>
              </a:rPr>
              <a:t>ENGENHARIA AGRÍCOLA  ·  UNIPAMPA CAMPUS ALEGRETE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B7280"/>
                </a:solidFill>
                <a:latin typeface="Arial"/>
              </a:rPr>
              <a:t>UNIPAMPA Campus Alegrete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78638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0F2369"/>
                </a:solidFill>
                <a:latin typeface="Arial"/>
              </a:rPr>
              <a:t>O Engenheiro Agrícola do futuro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3000" b="0">
                <a:solidFill>
                  <a:srgbClr val="0F2369"/>
                </a:solidFill>
                <a:latin typeface="Arial"/>
              </a:rPr>
              <a:t>O curso, o campo e a inteligência artificial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931920"/>
            <a:ext cx="1463040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160520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369"/>
                </a:solidFill>
                <a:latin typeface="Arial"/>
              </a:rPr>
              <a:t>Prof. Dr. Diego Kreutz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100" b="0">
                <a:solidFill>
                  <a:srgbClr val="6B7280"/>
                </a:solidFill>
                <a:latin typeface="Arial"/>
              </a:rPr>
              <a:t>UNIPAMPA  ·  AI Horizon Labs</a:t>
            </a:r>
          </a:p>
        </p:txBody>
      </p:sp>
      <p:pic>
        <p:nvPicPr>
          <p:cNvPr id="8" name="Picture 7" descr="qr_talks4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1600200"/>
            <a:ext cx="2377440" cy="2377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78240" y="406908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  <a:latin typeface="Arial"/>
                <a:hlinkClick r:id="rId3"/>
              </a:rPr>
              <a:t>slides e materiais em</a:t>
            </a:r>
            <a:br/>
            <a:r>
              <a:rPr sz="1400" b="0">
                <a:solidFill>
                  <a:srgbClr val="6B7280"/>
                </a:solidFill>
                <a:latin typeface="Arial"/>
                <a:hlinkClick r:id="rId3"/>
              </a:rPr>
              <a:t>talks4all.github.io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760720"/>
            <a:ext cx="1219169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_unipamp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925312"/>
            <a:ext cx="1202073" cy="749808"/>
          </a:xfrm>
          <a:prstGeom prst="rect">
            <a:avLst/>
          </a:prstGeom>
        </p:spPr>
      </p:pic>
      <p:pic>
        <p:nvPicPr>
          <p:cNvPr id="12" name="Picture 11" descr="logo_aihoriz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5494" y="6035040"/>
            <a:ext cx="2201967" cy="530352"/>
          </a:xfrm>
          <a:prstGeom prst="rect">
            <a:avLst/>
          </a:prstGeom>
        </p:spPr>
      </p:pic>
      <p:pic>
        <p:nvPicPr>
          <p:cNvPr id="13" name="Picture 12" descr="logo_ppg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3642" y="5925312"/>
            <a:ext cx="798708" cy="749808"/>
          </a:xfrm>
          <a:prstGeom prst="rect">
            <a:avLst/>
          </a:prstGeom>
        </p:spPr>
      </p:pic>
      <p:pic>
        <p:nvPicPr>
          <p:cNvPr id="14" name="Picture 13" descr="logo_bi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8532" y="6071616"/>
            <a:ext cx="1255922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866E"/>
                </a:solidFill>
                <a:latin typeface="Arial"/>
              </a:rPr>
              <a:t>PERGUNTA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637215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F2369"/>
                </a:solidFill>
                <a:latin typeface="Arial"/>
              </a:rPr>
              <a:t>Quem aqui usou inteligência artificial nas últimas 24 horas?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3434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6B7280"/>
                </a:solidFill>
                <a:latin typeface="Arial"/>
              </a:rPr>
              <a:t>Vale o celular, o trator e o drone.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866E"/>
                </a:solidFill>
                <a:latin typeface="Arial"/>
              </a:rPr>
              <a:t>NO SITE DO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5740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F2369"/>
                </a:solidFill>
                <a:latin typeface="Arial"/>
              </a:rPr>
              <a:t>Um clipe sobre a Engenharia Agrícola.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4400" b="1">
                <a:solidFill>
                  <a:srgbClr val="9A5B00"/>
                </a:solidFill>
                <a:latin typeface="Arial"/>
              </a:rPr>
              <a:t>Engenharia que alimenta o Brasil.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20624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E1E1E"/>
                </a:solidFill>
                <a:latin typeface="Arial"/>
              </a:rPr>
              <a:t>Clipe, reels e músicas, </a:t>
            </a:r>
            <a:r>
              <a:rPr sz="2800" b="1">
                <a:solidFill>
                  <a:srgbClr val="1E1E1E"/>
                </a:solidFill>
                <a:latin typeface="Arial"/>
              </a:rPr>
              <a:t>feitos com IA</a:t>
            </a:r>
            <a:r>
              <a:rPr sz="2800" b="0">
                <a:solidFill>
                  <a:srgbClr val="1E1E1E"/>
                </a:solidFill>
                <a:latin typeface="Arial"/>
              </a:rPr>
              <a:t>.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</a:pPr>
            <a:r>
              <a:rPr sz="2800" b="1">
                <a:solidFill>
                  <a:srgbClr val="0A866E"/>
                </a:solidFill>
                <a:latin typeface="Arial"/>
              </a:rPr>
              <a:t>Vamos assistir.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NO SITE DO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O clipe, em duas versões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91640"/>
            <a:ext cx="509000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866E"/>
                </a:solidFill>
                <a:latin typeface="Arial"/>
              </a:rPr>
              <a:t>Versão 1</a:t>
            </a:r>
          </a:p>
        </p:txBody>
      </p:sp>
      <p:pic>
        <p:nvPicPr>
          <p:cNvPr id="12" name="ea_unipampa_clip_v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77240" y="2103120"/>
            <a:ext cx="5090007" cy="286312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2103120"/>
            <a:ext cx="5090007" cy="2863129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qr_clipe_v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130841"/>
            <a:ext cx="914400" cy="914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5203993"/>
            <a:ext cx="39927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6"/>
              </a:rPr>
              <a:t>Abrir a versão 1 no navegador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  <a:latin typeface="Arial"/>
                <a:hlinkClick r:id="rId6"/>
              </a:rPr>
              <a:t>ea_unipampa_clip_v1.mp4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1691640"/>
            <a:ext cx="509000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A5B00"/>
                </a:solidFill>
                <a:latin typeface="Arial"/>
              </a:rPr>
              <a:t>Versão 2</a:t>
            </a:r>
          </a:p>
        </p:txBody>
      </p:sp>
      <p:pic>
        <p:nvPicPr>
          <p:cNvPr id="17" name="ea_unipampa_clip_v2.mp4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324447" y="2103120"/>
            <a:ext cx="5090007" cy="2863129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324447" y="2103120"/>
            <a:ext cx="5090007" cy="2863129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qr_clipe_v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447" y="5130841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21727" y="5203993"/>
            <a:ext cx="39927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11"/>
              </a:rPr>
              <a:t>Abrir a versão 2 no navegador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  <a:latin typeface="Arial"/>
                <a:hlinkClick r:id="rId11"/>
              </a:rPr>
              <a:t>ea_unipampa_clip_v2.mp4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NO SITE DO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Reels do curso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5</a:t>
            </a:r>
          </a:p>
        </p:txBody>
      </p:sp>
      <p:pic>
        <p:nvPicPr>
          <p:cNvPr id="11" name="Picture 10" descr="reels_completo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1691640"/>
            <a:ext cx="2494597" cy="44348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691640"/>
            <a:ext cx="2494597" cy="443484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6157" y="1783080"/>
            <a:ext cx="236681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369"/>
                </a:solidFill>
                <a:latin typeface="Arial"/>
                <a:hlinkClick r:id="rId13"/>
              </a:rPr>
              <a:t>Vem pra Unipampa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2000" b="1">
                <a:solidFill>
                  <a:srgbClr val="0A866E"/>
                </a:solidFill>
                <a:latin typeface="Arial"/>
                <a:hlinkClick r:id="rId13"/>
              </a:rPr>
              <a:t>Abrir no navegador</a:t>
            </a:r>
          </a:p>
        </p:txBody>
      </p:sp>
      <p:pic>
        <p:nvPicPr>
          <p:cNvPr id="14" name="Picture 13" descr="qr_raiz_e_engrenagem_reels_mp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46157" y="3383280"/>
            <a:ext cx="1463040" cy="1463040"/>
          </a:xfrm>
          <a:prstGeom prst="rect">
            <a:avLst/>
          </a:prstGeom>
        </p:spPr>
      </p:pic>
      <p:pic>
        <p:nvPicPr>
          <p:cNvPr id="15" name="Picture 14" descr="reels_30s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5847" y="1691640"/>
            <a:ext cx="2494597" cy="44348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095847" y="1691640"/>
            <a:ext cx="2494597" cy="443484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4765" y="1783080"/>
            <a:ext cx="236681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369"/>
                </a:solidFill>
                <a:latin typeface="Arial"/>
                <a:hlinkClick r:id="rId3"/>
              </a:rPr>
              <a:t>Frentes de atuação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2000" b="1">
                <a:solidFill>
                  <a:srgbClr val="0A866E"/>
                </a:solidFill>
                <a:latin typeface="Arial"/>
                <a:hlinkClick r:id="rId3"/>
              </a:rPr>
              <a:t>Abrir no navegador</a:t>
            </a:r>
          </a:p>
        </p:txBody>
      </p:sp>
      <p:pic>
        <p:nvPicPr>
          <p:cNvPr id="18" name="Picture 17" descr="qr_raiz_e_engrenagem_reels_30s_mp4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64765" y="338328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NO SITE DO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Músicas sobre a Engenharia Agrícola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090007" cy="36576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qr_raiz_e_engrenagem_m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1680"/>
            <a:ext cx="1417320" cy="1417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3160" y="2057400"/>
            <a:ext cx="344408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69"/>
                </a:solidFill>
                <a:latin typeface="Arial"/>
                <a:hlinkClick r:id="rId3"/>
              </a:rPr>
              <a:t>Raiz e Engrenagem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MP3, 2min53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3"/>
              </a:rPr>
              <a:t>Abrir no navegador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4447" y="1783080"/>
            <a:ext cx="5090007" cy="36576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qr_pe_no_acelerador_mp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7" y="2011680"/>
            <a:ext cx="1417320" cy="1417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70367" y="2057400"/>
            <a:ext cx="344408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69"/>
                </a:solidFill>
                <a:latin typeface="Arial"/>
                <a:hlinkClick r:id="rId5"/>
              </a:rPr>
              <a:t>Pé no Acelerador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MP3, 2min53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5"/>
              </a:rPr>
              <a:t>Abrir no navegador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886200"/>
            <a:ext cx="5090007" cy="36576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qr_garrao_de_bagual_mp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114800"/>
            <a:ext cx="1417320" cy="1417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423160" y="4160520"/>
            <a:ext cx="344408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69"/>
                </a:solidFill>
                <a:latin typeface="Arial"/>
                <a:hlinkClick r:id="rId7"/>
              </a:rPr>
              <a:t>Garrão de Bagual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MP3, 5min15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7"/>
              </a:rPr>
              <a:t>Abrir no navegador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24447" y="3886200"/>
            <a:ext cx="5090007" cy="36576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qr_garrao_de_bagual_instrumental_mp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447" y="4114800"/>
            <a:ext cx="1417320" cy="1417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970367" y="4160520"/>
            <a:ext cx="344408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69"/>
                </a:solidFill>
                <a:latin typeface="Arial"/>
                <a:hlinkClick r:id="rId9"/>
              </a:rPr>
              <a:t>Garrão de Bagual, instrumental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MP3, 5min15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9"/>
              </a:rPr>
              <a:t>Abrir no navegador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ROTEIRO DE HOJE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O que vamos conversar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1063721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1. O curso:</a:t>
            </a:r>
            <a:r>
              <a:rPr sz="2800" b="0">
                <a:solidFill>
                  <a:srgbClr val="1E1E1E"/>
                </a:solidFill>
                <a:latin typeface="Arial"/>
              </a:rPr>
              <a:t> o PPC explicado num site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2. A IA hoje:</a:t>
            </a:r>
            <a:r>
              <a:rPr sz="2800" b="0">
                <a:solidFill>
                  <a:srgbClr val="1E1E1E"/>
                </a:solidFill>
                <a:latin typeface="Arial"/>
              </a:rPr>
              <a:t> por que um colega consegue e outro não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3. O campo:</a:t>
            </a:r>
            <a:r>
              <a:rPr sz="2800" b="0">
                <a:solidFill>
                  <a:srgbClr val="1E1E1E"/>
                </a:solidFill>
                <a:latin typeface="Arial"/>
              </a:rPr>
              <a:t> tecnologias com IA que já mudam a profissão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4. A formação:</a:t>
            </a:r>
            <a:r>
              <a:rPr sz="2800" b="0">
                <a:solidFill>
                  <a:srgbClr val="1E1E1E"/>
                </a:solidFill>
                <a:latin typeface="Arial"/>
              </a:rPr>
              <a:t> o que a IA muda no jeito de aprender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5. Redesenhar:</a:t>
            </a:r>
            <a:r>
              <a:rPr sz="2800" b="0">
                <a:solidFill>
                  <a:srgbClr val="1E1E1E"/>
                </a:solidFill>
                <a:latin typeface="Arial"/>
              </a:rPr>
              <a:t> um PPC do futuro para a profissão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Site, clipe, reels e músicas feitos com IA. A revisão foi minha.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1 · O CURSO  ·  SITE DO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O PPC inteiro, explicado num 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8</a:t>
            </a:r>
          </a:p>
        </p:txBody>
      </p:sp>
      <p:pic>
        <p:nvPicPr>
          <p:cNvPr id="11" name="Picture 10" descr="site_ini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6309360" cy="271653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737360"/>
            <a:ext cx="6309360" cy="271653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1783080"/>
            <a:ext cx="3962095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E1E1E"/>
                </a:solidFill>
                <a:latin typeface="Arial"/>
              </a:rPr>
              <a:t>Matriz</a:t>
            </a:r>
            <a:r>
              <a:rPr sz="2200" b="0">
                <a:solidFill>
                  <a:srgbClr val="1E1E1E"/>
                </a:solidFill>
                <a:latin typeface="Arial"/>
              </a:rPr>
              <a:t>, </a:t>
            </a:r>
            <a:r>
              <a:rPr sz="2200" b="1">
                <a:solidFill>
                  <a:srgbClr val="1E1E1E"/>
                </a:solidFill>
                <a:latin typeface="Arial"/>
              </a:rPr>
              <a:t>grade</a:t>
            </a:r>
            <a:r>
              <a:rPr sz="2200" b="0">
                <a:solidFill>
                  <a:srgbClr val="1E1E1E"/>
                </a:solidFill>
                <a:latin typeface="Arial"/>
              </a:rPr>
              <a:t>, </a:t>
            </a:r>
            <a:r>
              <a:rPr sz="2200" b="1">
                <a:solidFill>
                  <a:srgbClr val="1E1E1E"/>
                </a:solidFill>
                <a:latin typeface="Arial"/>
              </a:rPr>
              <a:t>carreira</a:t>
            </a:r>
            <a:r>
              <a:rPr sz="2200" b="0">
                <a:solidFill>
                  <a:srgbClr val="1E1E1E"/>
                </a:solidFill>
                <a:latin typeface="Arial"/>
              </a:rPr>
              <a:t>, </a:t>
            </a:r>
            <a:r>
              <a:rPr sz="2200" b="1">
                <a:solidFill>
                  <a:srgbClr val="1E1E1E"/>
                </a:solidFill>
                <a:latin typeface="Arial"/>
              </a:rPr>
              <a:t>guia</a:t>
            </a:r>
            <a:r>
              <a:rPr sz="2200" b="0">
                <a:solidFill>
                  <a:srgbClr val="1E1E1E"/>
                </a:solidFill>
                <a:latin typeface="Arial"/>
              </a:rPr>
              <a:t> e </a:t>
            </a:r>
            <a:r>
              <a:rPr sz="2200" b="1">
                <a:solidFill>
                  <a:srgbClr val="1E1E1E"/>
                </a:solidFill>
                <a:latin typeface="Arial"/>
              </a:rPr>
              <a:t>evolução do PPC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Em português, inglês e espanhol</a:t>
            </a:r>
          </a:p>
        </p:txBody>
      </p:sp>
      <p:pic>
        <p:nvPicPr>
          <p:cNvPr id="14" name="Picture 13" descr="qr_engenharia_agricola_github_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3495039"/>
            <a:ext cx="1280160" cy="1280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52360" y="4848351"/>
            <a:ext cx="3962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A5B00"/>
                </a:solidFill>
                <a:latin typeface="Arial"/>
                <a:hlinkClick r:id="rId4"/>
              </a:rPr>
              <a:t>engenharia-agricola.github.io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1 · O CURSO  ·  SITE DO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A matriz, com mapa de pré-requisitos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9</a:t>
            </a:r>
          </a:p>
        </p:txBody>
      </p:sp>
      <p:pic>
        <p:nvPicPr>
          <p:cNvPr id="11" name="Picture 10" descr="site_matriz_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284" y="1645920"/>
            <a:ext cx="8899126" cy="45262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646284" y="1645920"/>
            <a:ext cx="8899126" cy="452628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1 · O CURSO  ·  SITE DO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O planejador de grade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10</a:t>
            </a:r>
          </a:p>
        </p:txBody>
      </p:sp>
      <p:pic>
        <p:nvPicPr>
          <p:cNvPr id="11" name="Picture 10" descr="site_grade_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159" y="1645920"/>
            <a:ext cx="9211376" cy="45262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490159" y="1645920"/>
            <a:ext cx="9211376" cy="452628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1 · O CURSO  ·  SITE DO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Cinco PDFs, uma página de comparação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11</a:t>
            </a:r>
          </a:p>
        </p:txBody>
      </p:sp>
      <p:pic>
        <p:nvPicPr>
          <p:cNvPr id="11" name="Picture 10" descr="site_evolu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6309360" cy="223456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737360"/>
            <a:ext cx="6309360" cy="2234565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1783080"/>
            <a:ext cx="3962095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A IA leu </a:t>
            </a:r>
            <a:r>
              <a:rPr sz="2200" b="1">
                <a:solidFill>
                  <a:srgbClr val="1E1E1E"/>
                </a:solidFill>
                <a:latin typeface="Arial"/>
              </a:rPr>
              <a:t>cinco PDFs inteiros</a:t>
            </a:r>
            <a:r>
              <a:rPr sz="2200" b="0">
                <a:solidFill>
                  <a:srgbClr val="1E1E1E"/>
                </a:solidFill>
                <a:latin typeface="Arial"/>
              </a:rPr>
              <a:t>, comparou e montou a página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200" b="1">
                <a:solidFill>
                  <a:srgbClr val="1E1E1E"/>
                </a:solidFill>
                <a:latin typeface="Arial"/>
              </a:rPr>
              <a:t>Eu conferi</a:t>
            </a:r>
            <a:r>
              <a:rPr sz="2200" b="0">
                <a:solidFill>
                  <a:srgbClr val="1E1E1E"/>
                </a:solidFill>
                <a:latin typeface="Arial"/>
              </a:rPr>
              <a:t> cada número no PPC</a:t>
            </a:r>
          </a:p>
        </p:txBody>
      </p:sp>
      <p:pic>
        <p:nvPicPr>
          <p:cNvPr id="14" name="Picture 13" descr="qr_engenharia_agricola_github_io_evolucao_ht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3495039"/>
            <a:ext cx="1280160" cy="1280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52360" y="4848351"/>
            <a:ext cx="3962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A5B00"/>
                </a:solidFill>
                <a:latin typeface="Arial"/>
                <a:hlinkClick r:id="rId4"/>
              </a:rPr>
              <a:t>engenharia-agricola.github.io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866E"/>
                </a:solidFill>
                <a:latin typeface="Arial"/>
              </a:rPr>
              <a:t>PERGUNTA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637215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F2369"/>
                </a:solidFill>
                <a:latin typeface="Arial"/>
              </a:rPr>
              <a:t>Quantas vezes “inteligência artificial” aparece nas cinco versões do PPC?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3434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6B7280"/>
                </a:solidFill>
                <a:latin typeface="Arial"/>
              </a:rPr>
              <a:t>São 1.846 páginas no total.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866E"/>
                </a:solidFill>
                <a:latin typeface="Arial"/>
              </a:rPr>
              <a:t>A RESPOSTA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38404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0" b="1">
                <a:solidFill>
                  <a:srgbClr val="9A5B00"/>
                </a:solidFill>
                <a:latin typeface="Arial"/>
              </a:rPr>
              <a:t>Zero.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83479" y="1600200"/>
            <a:ext cx="6430975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2369"/>
                </a:solidFill>
                <a:latin typeface="Arial"/>
              </a:rPr>
              <a:t>Nenhuma menção a “inteligência artificial” nas cinco versões.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931920"/>
            <a:ext cx="3179978" cy="13716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069080"/>
            <a:ext cx="317997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F2369"/>
                </a:solidFill>
                <a:latin typeface="Arial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200" b="0">
                <a:solidFill>
                  <a:srgbClr val="6B7280"/>
                </a:solidFill>
                <a:latin typeface="Arial"/>
              </a:rPr>
              <a:t>menções a Python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978" y="3931920"/>
            <a:ext cx="3179978" cy="13716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2978" y="4069080"/>
            <a:ext cx="317997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F2369"/>
                </a:solidFill>
                <a:latin typeface="Arial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200" b="0">
                <a:solidFill>
                  <a:srgbClr val="6B7280"/>
                </a:solidFill>
                <a:latin typeface="Arial"/>
              </a:rPr>
              <a:t>menção a “ciência de dados”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8716" y="3931920"/>
            <a:ext cx="3179978" cy="13716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8716" y="4069080"/>
            <a:ext cx="317997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F2369"/>
                </a:solidFill>
                <a:latin typeface="Arial"/>
              </a:rPr>
              <a:t>27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200" b="0">
                <a:solidFill>
                  <a:srgbClr val="6B7280"/>
                </a:solidFill>
                <a:latin typeface="Arial"/>
              </a:rPr>
              <a:t>menções a automação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532120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Drone e automação estão lá, mas como equipamento, não como dado.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2 · A IA HOJE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Em dois anos, a IA deixou de só conversar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4864" cy="361188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B7280"/>
                </a:solidFill>
                <a:latin typeface="Arial"/>
              </a:rPr>
              <a:t>Antes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Respondia </a:t>
            </a:r>
            <a:r>
              <a:rPr sz="2400" b="1">
                <a:solidFill>
                  <a:srgbClr val="1E1E1E"/>
                </a:solidFill>
                <a:latin typeface="Arial"/>
              </a:rPr>
              <a:t>perguntas curtas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Só </a:t>
            </a:r>
            <a:r>
              <a:rPr sz="2400" b="1">
                <a:solidFill>
                  <a:srgbClr val="1E1E1E"/>
                </a:solidFill>
                <a:latin typeface="Arial"/>
              </a:rPr>
              <a:t>texto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Chutava</a:t>
            </a:r>
            <a:r>
              <a:rPr sz="2400" b="0">
                <a:solidFill>
                  <a:srgbClr val="1E1E1E"/>
                </a:solidFill>
                <a:latin typeface="Arial"/>
              </a:rPr>
              <a:t> a conta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Uma resposta por vez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7" y="1783080"/>
            <a:ext cx="54864" cy="3611880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6199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A866E"/>
                </a:solidFill>
                <a:latin typeface="Arial"/>
              </a:rPr>
              <a:t>Hoje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Lê um </a:t>
            </a:r>
            <a:r>
              <a:rPr sz="2400" b="1">
                <a:solidFill>
                  <a:srgbClr val="1E1E1E"/>
                </a:solidFill>
                <a:latin typeface="Arial"/>
              </a:rPr>
              <a:t>PDF de 400 páginas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Vê</a:t>
            </a:r>
            <a:r>
              <a:rPr sz="2400" b="0">
                <a:solidFill>
                  <a:srgbClr val="1E1E1E"/>
                </a:solidFill>
                <a:latin typeface="Arial"/>
              </a:rPr>
              <a:t> lavoura e imagem de satélite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Roda código</a:t>
            </a:r>
            <a:r>
              <a:rPr sz="2400" b="0">
                <a:solidFill>
                  <a:srgbClr val="1E1E1E"/>
                </a:solidFill>
                <a:latin typeface="Arial"/>
              </a:rPr>
              <a:t> para fazer a conta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Pesquisa, monta e entrega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O site do PPC é exemplo disso: cinco PDFs, um site, uma tarde.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2 · A IA HOJE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Onde ela acerta, e onde ela erra feio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4864" cy="3611880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A866E"/>
                </a:solidFill>
                <a:latin typeface="Arial"/>
              </a:rPr>
              <a:t>Acerta com folga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Ler</a:t>
            </a:r>
            <a:r>
              <a:rPr sz="2400" b="0">
                <a:solidFill>
                  <a:srgbClr val="1E1E1E"/>
                </a:solidFill>
                <a:latin typeface="Arial"/>
              </a:rPr>
              <a:t> e </a:t>
            </a:r>
            <a:r>
              <a:rPr sz="2400" b="1">
                <a:solidFill>
                  <a:srgbClr val="1E1E1E"/>
                </a:solidFill>
                <a:latin typeface="Arial"/>
              </a:rPr>
              <a:t>comparar</a:t>
            </a:r>
            <a:r>
              <a:rPr sz="2400" b="0">
                <a:solidFill>
                  <a:srgbClr val="1E1E1E"/>
                </a:solidFill>
                <a:latin typeface="Arial"/>
              </a:rPr>
              <a:t> documentos longos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Escrever código</a:t>
            </a:r>
            <a:r>
              <a:rPr sz="2400" b="0">
                <a:solidFill>
                  <a:srgbClr val="1E1E1E"/>
                </a:solidFill>
                <a:latin typeface="Arial"/>
              </a:rPr>
              <a:t> para cálculo e gráfico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Explicar</a:t>
            </a:r>
            <a:r>
              <a:rPr sz="2400" b="0">
                <a:solidFill>
                  <a:srgbClr val="1E1E1E"/>
                </a:solidFill>
                <a:latin typeface="Arial"/>
              </a:rPr>
              <a:t> de novo, de outro jeito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Fazer a </a:t>
            </a:r>
            <a:r>
              <a:rPr sz="2400" b="1">
                <a:solidFill>
                  <a:srgbClr val="1E1E1E"/>
                </a:solidFill>
                <a:latin typeface="Arial"/>
              </a:rPr>
              <a:t>primeira versão</a:t>
            </a:r>
            <a:r>
              <a:rPr sz="2400" b="0">
                <a:solidFill>
                  <a:srgbClr val="1E1E1E"/>
                </a:solidFill>
                <a:latin typeface="Arial"/>
              </a:rPr>
              <a:t> do projeto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7" y="1783080"/>
            <a:ext cx="54864" cy="3611880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6199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9A5B00"/>
                </a:solidFill>
                <a:latin typeface="Arial"/>
              </a:rPr>
              <a:t>Erra feio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Inventa</a:t>
            </a:r>
            <a:r>
              <a:rPr sz="2400" b="0">
                <a:solidFill>
                  <a:srgbClr val="1E1E1E"/>
                </a:solidFill>
                <a:latin typeface="Arial"/>
              </a:rPr>
              <a:t> norma, dose e referência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Desconhece o local:</a:t>
            </a:r>
            <a:r>
              <a:rPr sz="2400" b="0">
                <a:solidFill>
                  <a:srgbClr val="1E1E1E"/>
                </a:solidFill>
                <a:latin typeface="Arial"/>
              </a:rPr>
              <a:t> solo, clima, várzea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Fato recente</a:t>
            </a:r>
            <a:r>
              <a:rPr sz="2400" b="0">
                <a:solidFill>
                  <a:srgbClr val="1E1E1E"/>
                </a:solidFill>
                <a:latin typeface="Arial"/>
              </a:rPr>
              <a:t> ou regional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Não sabe</a:t>
            </a:r>
            <a:r>
              <a:rPr sz="2400" b="0">
                <a:solidFill>
                  <a:srgbClr val="1E1E1E"/>
                </a:solidFill>
                <a:latin typeface="Arial"/>
              </a:rPr>
              <a:t> quando não sabe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Ela prevê o mais provável. Provável não é certo, e o campo não perdoa.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866E"/>
                </a:solidFill>
                <a:latin typeface="Arial"/>
              </a:rPr>
              <a:t>PERGUNTA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637215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F2369"/>
                </a:solidFill>
                <a:latin typeface="Arial"/>
              </a:rPr>
              <a:t>Por que a mesma IA dá resposta ótima para um colega e fraca para outro?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2 · A IA HOJE  ·  POR QUE UNS CONSEGUEM MAIS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Cinco coisas que mudam o resultado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1063721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O pedido:</a:t>
            </a:r>
            <a:r>
              <a:rPr sz="2600" b="0">
                <a:solidFill>
                  <a:srgbClr val="1E1E1E"/>
                </a:solidFill>
                <a:latin typeface="Arial"/>
              </a:rPr>
              <a:t> contexto, tarefa, formato e limites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O modelo:</a:t>
            </a:r>
            <a:r>
              <a:rPr sz="2600" b="0">
                <a:solidFill>
                  <a:srgbClr val="1E1E1E"/>
                </a:solidFill>
                <a:latin typeface="Arial"/>
              </a:rPr>
              <a:t> rápido ou avançado, com ou sem raciocínio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A ferramenta:</a:t>
            </a:r>
            <a:r>
              <a:rPr sz="2600" b="0">
                <a:solidFill>
                  <a:srgbClr val="1E1E1E"/>
                </a:solidFill>
                <a:latin typeface="Arial"/>
              </a:rPr>
              <a:t> chat, busca na web ou agente que lê e executa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O material:</a:t>
            </a:r>
            <a:r>
              <a:rPr sz="2600" b="0">
                <a:solidFill>
                  <a:srgbClr val="1E1E1E"/>
                </a:solidFill>
                <a:latin typeface="Arial"/>
              </a:rPr>
              <a:t> o seu PDF, a sua planilha, o seu dado de campo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A conversa:</a:t>
            </a:r>
            <a:r>
              <a:rPr sz="2600" b="0">
                <a:solidFill>
                  <a:srgbClr val="1E1E1E"/>
                </a:solidFill>
                <a:latin typeface="Arial"/>
              </a:rPr>
              <a:t> pedir ajuste, pedir crítica e conferir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Mesma IA, resultados diferentes: a diferença está no uso.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2 · A IA HOJE  ·  EXEMPLO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Pedido fraco, pedido bom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10637215" cy="1051560"/>
          </a:xfrm>
          <a:prstGeom prst="rect">
            <a:avLst/>
          </a:prstGeom>
          <a:noFill/>
          <a:ln w="15875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783080"/>
            <a:ext cx="73152" cy="105156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10088575" cy="777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B7280"/>
                </a:solidFill>
                <a:latin typeface="Arial"/>
              </a:rPr>
              <a:t>PEDIDO FRACO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Quanto de água precisa para irrigar arroz?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108959"/>
            <a:ext cx="10637215" cy="1898650"/>
          </a:xfrm>
          <a:prstGeom prst="rect">
            <a:avLst/>
          </a:prstGeom>
          <a:noFill/>
          <a:ln w="15875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108959"/>
            <a:ext cx="73152" cy="1898650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291839"/>
            <a:ext cx="10088575" cy="1624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PEDIDO BOM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Sou estudante de Engenharia Agrícola em Alegrete. Tenho 50 ha de arroz irrigado por inundação, em Planossolo, e quero dimensionar a bomba para janeiro. Estime a vazão em L/s por hectare e no total. Mostre as parcelas em tabela, diga de onde vem cada valor, o que medir no campo, e não invente número: quando for estimativa, diga.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2 · A IA HOJE  ·  EXEMPLO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O que cada pedido devolveu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4864" cy="361188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B7280"/>
                </a:solidFill>
                <a:latin typeface="Arial"/>
              </a:rPr>
              <a:t>Pedido fraco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200" b="1">
                <a:solidFill>
                  <a:srgbClr val="1E1E1E"/>
                </a:solidFill>
                <a:latin typeface="Arial"/>
              </a:rPr>
              <a:t>330 palavras</a:t>
            </a:r>
            <a:r>
              <a:rPr sz="2200" b="0">
                <a:solidFill>
                  <a:srgbClr val="1E1E1E"/>
                </a:solidFill>
                <a:latin typeface="Arial"/>
              </a:rPr>
              <a:t> de faixas genéricas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200" b="1">
                <a:solidFill>
                  <a:srgbClr val="1E1E1E"/>
                </a:solidFill>
                <a:latin typeface="Arial"/>
              </a:rPr>
              <a:t>1,0 a 2,0 L/s</a:t>
            </a:r>
            <a:r>
              <a:rPr sz="2200" b="0">
                <a:solidFill>
                  <a:srgbClr val="1E1E1E"/>
                </a:solidFill>
                <a:latin typeface="Arial"/>
              </a:rPr>
              <a:t> por hectare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Termina pedindo </a:t>
            </a:r>
            <a:r>
              <a:rPr sz="2200" b="1">
                <a:solidFill>
                  <a:srgbClr val="1E1E1E"/>
                </a:solidFill>
                <a:latin typeface="Arial"/>
              </a:rPr>
              <a:t>o local e a área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7" y="1783080"/>
            <a:ext cx="54864" cy="3611880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6199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A866E"/>
                </a:solidFill>
                <a:latin typeface="Arial"/>
              </a:rPr>
              <a:t>Pedido bom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200" b="1">
                <a:solidFill>
                  <a:srgbClr val="1E1E1E"/>
                </a:solidFill>
                <a:latin typeface="Arial"/>
              </a:rPr>
              <a:t>Tabela</a:t>
            </a:r>
            <a:r>
              <a:rPr sz="2200" b="0">
                <a:solidFill>
                  <a:srgbClr val="1E1E1E"/>
                </a:solidFill>
                <a:latin typeface="Arial"/>
              </a:rPr>
              <a:t> com cada parcela marcada como estimativa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200" b="1">
                <a:solidFill>
                  <a:srgbClr val="1E1E1E"/>
                </a:solidFill>
                <a:latin typeface="Arial"/>
              </a:rPr>
              <a:t>≈ 1,33 L/s/ha:</a:t>
            </a:r>
            <a:r>
              <a:rPr sz="2200" b="0">
                <a:solidFill>
                  <a:srgbClr val="1E1E1E"/>
                </a:solidFill>
                <a:latin typeface="Arial"/>
              </a:rPr>
              <a:t> bomba de </a:t>
            </a:r>
            <a:r>
              <a:rPr sz="2200" b="1">
                <a:solidFill>
                  <a:srgbClr val="1E1E1E"/>
                </a:solidFill>
                <a:latin typeface="Arial"/>
              </a:rPr>
              <a:t>67 L/s</a:t>
            </a:r>
            <a:r>
              <a:rPr sz="2200" b="0">
                <a:solidFill>
                  <a:srgbClr val="1E1E1E"/>
                </a:solidFill>
                <a:latin typeface="Arial"/>
              </a:rPr>
              <a:t> para 50 ha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O que medir: </a:t>
            </a:r>
            <a:r>
              <a:rPr sz="2200" b="1">
                <a:solidFill>
                  <a:srgbClr val="1E1E1E"/>
                </a:solidFill>
                <a:latin typeface="Arial"/>
              </a:rPr>
              <a:t>ETo do INMET</a:t>
            </a:r>
            <a:r>
              <a:rPr sz="2200" b="0">
                <a:solidFill>
                  <a:srgbClr val="1E1E1E"/>
                </a:solidFill>
                <a:latin typeface="Arial"/>
              </a:rPr>
              <a:t> de Alegrete e </a:t>
            </a:r>
            <a:r>
              <a:rPr sz="2200" b="1">
                <a:solidFill>
                  <a:srgbClr val="1E1E1E"/>
                </a:solidFill>
                <a:latin typeface="Arial"/>
              </a:rPr>
              <a:t>percolação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As duas estão corretas. Só uma dimensiona a bomba.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2 · A IA HOJE  ·  EXEMPLO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Mesma pergunta, três modelos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9164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“Qual portaria do MAPA regula a aplicação de agrotóxicos por drones? Número, ano e duas exigências.”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69464"/>
            <a:ext cx="2084831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Modelo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569464"/>
            <a:ext cx="190195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Portaria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569464"/>
            <a:ext cx="631850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O que disse sobre as exigências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16428"/>
            <a:ext cx="10634472" cy="18288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971292"/>
            <a:ext cx="2084831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Claude Haiku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971292"/>
            <a:ext cx="190195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298/2021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2971292"/>
            <a:ext cx="631850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Genérico: ANAC, ART e rótulo; não arriscou distância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318255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373120"/>
            <a:ext cx="2084831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Claude Sonnet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3373120"/>
            <a:ext cx="1901952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298/2021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3373120"/>
            <a:ext cx="6318504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“De memória”: </a:t>
            </a:r>
            <a:r>
              <a:rPr sz="2000" b="1">
                <a:solidFill>
                  <a:srgbClr val="1E1E1E"/>
                </a:solidFill>
                <a:latin typeface="Arial"/>
              </a:rPr>
              <a:t>250 m</a:t>
            </a:r>
            <a:r>
              <a:rPr sz="2000" b="0">
                <a:solidFill>
                  <a:srgbClr val="1E1E1E"/>
                </a:solidFill>
                <a:latin typeface="Arial"/>
              </a:rPr>
              <a:t> de mananciais, </a:t>
            </a:r>
            <a:r>
              <a:rPr sz="2000" b="1">
                <a:solidFill>
                  <a:srgbClr val="1E1E1E"/>
                </a:solidFill>
                <a:latin typeface="Arial"/>
              </a:rPr>
              <a:t>50 m</a:t>
            </a:r>
            <a:r>
              <a:rPr sz="2000" b="0">
                <a:solidFill>
                  <a:srgbClr val="1E1E1E"/>
                </a:solidFill>
                <a:latin typeface="Arial"/>
              </a:rPr>
              <a:t> de moradias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012183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067047"/>
            <a:ext cx="2084831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Claude Opus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4067047"/>
            <a:ext cx="190195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298/2021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4067047"/>
            <a:ext cx="631850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Cadastro no MAPA e </a:t>
            </a:r>
            <a:r>
              <a:rPr sz="2000" b="1">
                <a:solidFill>
                  <a:srgbClr val="1E1E1E"/>
                </a:solidFill>
                <a:latin typeface="Arial"/>
              </a:rPr>
              <a:t>curso CAAR</a:t>
            </a:r>
            <a:r>
              <a:rPr sz="2000" b="0">
                <a:solidFill>
                  <a:srgbClr val="1E1E1E"/>
                </a:solidFill>
                <a:latin typeface="Arial"/>
              </a:rPr>
              <a:t> para o aplicador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414012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No texto oficial: 20 m para todos. Convincente não é certo.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2 · A IA HOJE  ·  POR QUE UNS CONSEGUEM MAIS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Chat, busca ou agente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3271418" cy="3657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3271418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6B7280"/>
                </a:solidFill>
                <a:latin typeface="Arial"/>
              </a:rPr>
              <a:t>Chat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Responde </a:t>
            </a:r>
            <a:r>
              <a:rPr sz="2200" b="1">
                <a:solidFill>
                  <a:srgbClr val="1E1E1E"/>
                </a:solidFill>
                <a:latin typeface="Arial"/>
              </a:rPr>
              <a:t>do que lembra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Bom para explicar e rascunhar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60138" y="1783080"/>
            <a:ext cx="3271418" cy="36576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0138" y="1965960"/>
            <a:ext cx="3271418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9A5B00"/>
                </a:solidFill>
                <a:latin typeface="Arial"/>
              </a:rPr>
              <a:t>Com busca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Traz </a:t>
            </a:r>
            <a:r>
              <a:rPr sz="2200" b="1">
                <a:solidFill>
                  <a:srgbClr val="1E1E1E"/>
                </a:solidFill>
                <a:latin typeface="Arial"/>
              </a:rPr>
              <a:t>o link da fonte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Bom para norma, preço e notícia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43036" y="1783080"/>
            <a:ext cx="3271418" cy="36576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3036" y="1965960"/>
            <a:ext cx="3271418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A866E"/>
                </a:solidFill>
                <a:latin typeface="Arial"/>
              </a:rPr>
              <a:t>Agente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200" b="1">
                <a:solidFill>
                  <a:srgbClr val="1E1E1E"/>
                </a:solidFill>
                <a:latin typeface="Arial"/>
              </a:rPr>
              <a:t>Lê arquivos, roda código</a:t>
            </a:r>
            <a:r>
              <a:rPr sz="2200" b="0">
                <a:solidFill>
                  <a:srgbClr val="1E1E1E"/>
                </a:solidFill>
                <a:latin typeface="Arial"/>
              </a:rPr>
              <a:t> e confere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Assim foi feito o site do curso: 5 PDFs, 1.846 páginas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Quem só usa o chat está usando uma parte da ferramenta.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2 · A IA HOJE  ·  POR QUE UNS CONSEGUEM MAIS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Quatro truques que mudam o resultado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1063721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1. Peça que ela pergunte antes:</a:t>
            </a:r>
            <a:r>
              <a:rPr sz="2600" b="0">
                <a:solidFill>
                  <a:srgbClr val="1E1E1E"/>
                </a:solidFill>
                <a:latin typeface="Arial"/>
              </a:rPr>
              <a:t> “o que você precisa saber?”</a:t>
            </a:r>
          </a:p>
          <a:p>
            <a:pPr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2. Peça três versões</a:t>
            </a:r>
            <a:r>
              <a:rPr sz="2600" b="0">
                <a:solidFill>
                  <a:srgbClr val="1E1E1E"/>
                </a:solidFill>
                <a:latin typeface="Arial"/>
              </a:rPr>
              <a:t> e escolha, em vez de aceitar a primeira</a:t>
            </a:r>
          </a:p>
          <a:p>
            <a:pPr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3. Peça que ela critique</a:t>
            </a:r>
            <a:r>
              <a:rPr sz="2600" b="0">
                <a:solidFill>
                  <a:srgbClr val="1E1E1E"/>
                </a:solidFill>
                <a:latin typeface="Arial"/>
              </a:rPr>
              <a:t> a própria resposta</a:t>
            </a:r>
          </a:p>
          <a:p>
            <a:pPr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4. Pergunte a dois modelos</a:t>
            </a:r>
            <a:r>
              <a:rPr sz="2600" b="0">
                <a:solidFill>
                  <a:srgbClr val="1E1E1E"/>
                </a:solidFill>
                <a:latin typeface="Arial"/>
              </a:rPr>
              <a:t> e compare onde discordam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2 · A IA HOJE  ·  POR QUE UNS CONSEGUEM MAIS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Aprender uns com os outros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1063721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Mostre a conversa,</a:t>
            </a:r>
            <a:r>
              <a:rPr sz="2600" b="0">
                <a:solidFill>
                  <a:srgbClr val="1E1E1E"/>
                </a:solidFill>
                <a:latin typeface="Arial"/>
              </a:rPr>
              <a:t> não só o resultado</a:t>
            </a:r>
          </a:p>
          <a:p>
            <a:pPr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Monte uma biblioteca</a:t>
            </a:r>
            <a:r>
              <a:rPr sz="2600" b="0">
                <a:solidFill>
                  <a:srgbClr val="1E1E1E"/>
                </a:solidFill>
                <a:latin typeface="Arial"/>
              </a:rPr>
              <a:t> de pedidos da turma, por disciplina</a:t>
            </a:r>
          </a:p>
          <a:p>
            <a:pPr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Compare em dupla:</a:t>
            </a:r>
            <a:r>
              <a:rPr sz="2600" b="0">
                <a:solidFill>
                  <a:srgbClr val="1E1E1E"/>
                </a:solidFill>
                <a:latin typeface="Arial"/>
              </a:rPr>
              <a:t> mesmo problema, modelos diferentes</a:t>
            </a:r>
          </a:p>
          <a:p>
            <a:pPr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Conte onde a IA errou</a:t>
            </a:r>
            <a:r>
              <a:rPr sz="2600" b="0">
                <a:solidFill>
                  <a:srgbClr val="1E1E1E"/>
                </a:solidFill>
                <a:latin typeface="Arial"/>
              </a:rPr>
              <a:t> com você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Quem compartilha o pedido ensina o atalho.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866E"/>
                </a:solidFill>
                <a:latin typeface="Arial"/>
              </a:rPr>
              <a:t>PERGUNTA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637215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F2369"/>
                </a:solidFill>
                <a:latin typeface="Arial"/>
              </a:rPr>
              <a:t>Que tarefa do engenheiro agrícola a IA já faz melhor do que nós?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SITE DO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IA no campo, mapeada no 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25</a:t>
            </a:r>
          </a:p>
        </p:txBody>
      </p:sp>
      <p:pic>
        <p:nvPicPr>
          <p:cNvPr id="11" name="Picture 10" descr="site_tecnolog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6766560" cy="30073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737360"/>
            <a:ext cx="6766560" cy="300736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92040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A IA não chega como uma máquina nova, </a:t>
            </a:r>
            <a:r>
              <a:rPr sz="2000" b="1">
                <a:solidFill>
                  <a:srgbClr val="6B7280"/>
                </a:solidFill>
                <a:latin typeface="Arial"/>
              </a:rPr>
              <a:t>chega dentro de todas elas</a:t>
            </a:r>
            <a:r>
              <a:rPr sz="2000" b="0">
                <a:solidFill>
                  <a:srgbClr val="6B7280"/>
                </a:solidFill>
                <a:latin typeface="Arial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1783080"/>
            <a:ext cx="3550615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E1E1E"/>
                </a:solidFill>
                <a:latin typeface="Arial"/>
              </a:rPr>
              <a:t>24 tecnologias</a:t>
            </a:r>
            <a:r>
              <a:rPr sz="2200" b="0">
                <a:solidFill>
                  <a:srgbClr val="1E1E1E"/>
                </a:solidFill>
                <a:latin typeface="Arial"/>
              </a:rPr>
              <a:t> em seis áreas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1">
                <a:solidFill>
                  <a:srgbClr val="1E1E1E"/>
                </a:solidFill>
                <a:latin typeface="Arial"/>
              </a:rPr>
              <a:t>14 já em uso</a:t>
            </a:r>
            <a:r>
              <a:rPr sz="2200" b="0">
                <a:solidFill>
                  <a:srgbClr val="1E1E1E"/>
                </a:solidFill>
                <a:latin typeface="Arial"/>
              </a:rPr>
              <a:t> no Brasil</a:t>
            </a:r>
          </a:p>
        </p:txBody>
      </p:sp>
      <p:pic>
        <p:nvPicPr>
          <p:cNvPr id="15" name="Picture 14" descr="qr_engenharia_agricola_github_io_tecnologias_ht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148330"/>
            <a:ext cx="1280160" cy="12801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863840" y="4501642"/>
            <a:ext cx="35506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4"/>
              </a:rPr>
              <a:t>engenharia-agricola.github.io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Quatro formas de a IA chegar ao campo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96596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241927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Visão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câmeras reconhecem planta, daninha, grão e animal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6553" y="196596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6553" y="2148840"/>
            <a:ext cx="241927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2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Previsão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sensores de solo, clima, máquina e silo antecipam o que vem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5867" y="196596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5867" y="2148840"/>
            <a:ext cx="241927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3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Autonomia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máquinas, drones e robôs, com supervisão humana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5181" y="196596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5181" y="2148840"/>
            <a:ext cx="241927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4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Linguagem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IA generativa e agentes: escrevem, programam, consultam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SITE DO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Maturidade e impacto no trabalho do EA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10881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B7280"/>
                </a:solidFill>
                <a:latin typeface="Arial"/>
              </a:rPr>
              <a:t>Impacto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1783080"/>
            <a:ext cx="462960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Em uso no Brasil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4439" y="1783080"/>
            <a:ext cx="22677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Chegando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1879" y="1783080"/>
            <a:ext cx="22677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Piloto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167128"/>
            <a:ext cx="10637215" cy="18288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221992"/>
            <a:ext cx="1088136" cy="7886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Alto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2194560"/>
            <a:ext cx="4739335" cy="843533"/>
          </a:xfrm>
          <a:prstGeom prst="rect">
            <a:avLst/>
          </a:prstGeom>
          <a:noFill/>
          <a:ln w="22225">
            <a:solidFill>
              <a:srgbClr val="C97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75104" y="2221992"/>
            <a:ext cx="4629607" cy="7886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</a:rPr>
              <a:t>Drones de pulverização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</a:rPr>
              <a:t>Irrigação por sensores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</a:rPr>
              <a:t>IA generativa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4439" y="2221992"/>
            <a:ext cx="2267712" cy="7886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Pulverização seletiva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Grãos por imagem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1879" y="2221992"/>
            <a:ext cx="2267712" cy="7886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Máquinas autônomas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Modelos fundacionais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Agentes de 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065526"/>
            <a:ext cx="10637215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120390"/>
            <a:ext cx="1088136" cy="1577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Médio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75104" y="3120390"/>
            <a:ext cx="2259939" cy="1577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Piloto automático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Manutenção preditiva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Previsão do tempo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ET por satélite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Uso do solo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4771" y="3120390"/>
            <a:ext cx="2259939" cy="1577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Contagem por drone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Aeração automática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Ambiência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Plataformas digitais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Produtividade por satélite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4439" y="3120390"/>
            <a:ext cx="2267712" cy="1577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Animais por câmera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Projeto com IA e BIM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Carbono (MRV)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1879" y="3120390"/>
            <a:ext cx="2267712" cy="1577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Capina robótica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Comportas automáticas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752594"/>
            <a:ext cx="10637215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807457"/>
            <a:ext cx="1088136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Baixo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75104" y="4807457"/>
            <a:ext cx="4629607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Diagnóstico por foto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14439" y="4807457"/>
            <a:ext cx="226771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BEC9"/>
                </a:solidFill>
                <a:latin typeface="Arial"/>
              </a:rPr>
              <a:t>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1879" y="4807457"/>
            <a:ext cx="226771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BEC9"/>
                </a:solidFill>
                <a:latin typeface="Arial"/>
              </a:rPr>
              <a:t>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154422"/>
            <a:ext cx="10637215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Canto superior esquerdo: o que já muda o trabalho hoje.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JÁ EM USO NO BRASIL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Seis tecnologias com IA, uma por área (1 de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37943"/>
            <a:ext cx="217627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Área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1837943"/>
            <a:ext cx="391363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Tecnologia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837943"/>
            <a:ext cx="421538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O que muda para o 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184908"/>
            <a:ext cx="10634472" cy="18288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239772"/>
            <a:ext cx="2176272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Máquinas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239772"/>
            <a:ext cx="3913632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Drones de pulverização (DJI Agras, XAG)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239772"/>
            <a:ext cx="4215384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Planejar a missão, controlar a deriva, registrar e assinar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878836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33700"/>
            <a:ext cx="2176272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Água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2933700"/>
            <a:ext cx="3913632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Evapotranspiração por satélite (SAFER, da Embrapa)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933700"/>
            <a:ext cx="4215384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Balanço hídrico, outorga e conferência do manejo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572764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627628"/>
            <a:ext cx="2176272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Geotecnologias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3627628"/>
            <a:ext cx="3913632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Mapa de uso do solo por aprendizado de máquina (MapBiomas)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627628"/>
            <a:ext cx="4215384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Conferir, corrigir e responder pelo mapa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558792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JÁ EM USO NO BRASIL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Seis tecnologias com IA, uma por área (2 de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37943"/>
            <a:ext cx="217627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Área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1837943"/>
            <a:ext cx="391363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Tecnologia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837943"/>
            <a:ext cx="421538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O que muda para o 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184908"/>
            <a:ext cx="10634472" cy="18288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239772"/>
            <a:ext cx="2176272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Ambiência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239772"/>
            <a:ext cx="3913632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Controle inteligente de aviários e granjas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239772"/>
            <a:ext cx="4215384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Conforto térmico vira operação contínua, com dados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878836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33700"/>
            <a:ext cx="2176272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Pós-colheita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2933700"/>
            <a:ext cx="3913632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Termometria e aeração automática de silos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933700"/>
            <a:ext cx="4215384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O armazém já nasce com sensores e controle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572764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627628"/>
            <a:ext cx="2176272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Gestão e dados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3627628"/>
            <a:ext cx="3913632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Assistentes de IA generativa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627628"/>
            <a:ext cx="4215384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Produzir mais e conferir tudo: o erro convence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266692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Em todas as linhas, a última palavra continua sendo do engenheiro.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EXEMPLOS REAIS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Isso não é futuro: já está no campo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4864" cy="1417320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1783080"/>
            <a:ext cx="4769967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F2369"/>
                </a:solidFill>
                <a:latin typeface="Arial"/>
              </a:rPr>
              <a:t>76%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menos herbicida com pulverização por imagem, medido pela Iowa State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847" y="1783080"/>
            <a:ext cx="54864" cy="1417320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0167" y="1783080"/>
            <a:ext cx="4769967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F2369"/>
                </a:solidFill>
                <a:latin typeface="Arial"/>
              </a:rPr>
              <a:t>50%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menos defensivo com robô brasileiro na cana, segundo o cliente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566160"/>
            <a:ext cx="54864" cy="1417320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566160"/>
            <a:ext cx="4769967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F2369"/>
                </a:solidFill>
                <a:latin typeface="Arial"/>
              </a:rPr>
              <a:t>90 → 4 min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para classificar soja por imagem, em validação na Embrapa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5847" y="3566160"/>
            <a:ext cx="54864" cy="1417320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0167" y="3566160"/>
            <a:ext cx="4769967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F2369"/>
                </a:solidFill>
                <a:latin typeface="Arial"/>
              </a:rPr>
              <a:t>94%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de acerto contando carrapatos em bovinos, na UNIPAMPA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EXEMPLO REAL  ·  MÁQUINAS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John Deere, See &amp; Spray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31</a:t>
            </a:r>
          </a:p>
        </p:txBody>
      </p:sp>
      <p:pic>
        <p:nvPicPr>
          <p:cNvPr id="11" name="Picture 10" descr="ex_see_spr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6400800" cy="32004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691640"/>
            <a:ext cx="6400800" cy="320040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946903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Imagem: John Deere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691640"/>
            <a:ext cx="3916375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9A5B00"/>
                </a:solidFill>
                <a:latin typeface="Arial"/>
              </a:rPr>
              <a:t>76%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menos herbicida, medido pela Iowa State em 5 talhões de soja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Câmeras na barra separam a daninha da cultura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O bico só abre sobre a daninha</a:t>
            </a:r>
          </a:p>
        </p:txBody>
      </p:sp>
      <p:pic>
        <p:nvPicPr>
          <p:cNvPr id="15" name="Picture 14" descr="qr_fonte_iowa_state_2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4846320"/>
            <a:ext cx="1143000" cy="1143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78240" y="4983480"/>
            <a:ext cx="2636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Fonte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4"/>
              </a:rPr>
              <a:t>Iowa State, 2024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EXEMPLO REAL  ·  MÁQUINAS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Solinftec, robô Solix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32</a:t>
            </a:r>
          </a:p>
        </p:txBody>
      </p:sp>
      <p:pic>
        <p:nvPicPr>
          <p:cNvPr id="11" name="Picture 10" descr="ex_soli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6400800" cy="33604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691640"/>
            <a:ext cx="6400800" cy="336042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106924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Imagem: Revista Pesquisa FAPESP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691640"/>
            <a:ext cx="3916375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9A5B00"/>
                </a:solidFill>
                <a:latin typeface="Arial"/>
              </a:rPr>
              <a:t>~50%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menos defensivo na cana, segundo a usina cliente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Robô brasileiro, solar e autônomo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Acha a daninha por imagem e pulveriza só nela</a:t>
            </a:r>
          </a:p>
        </p:txBody>
      </p:sp>
      <p:pic>
        <p:nvPicPr>
          <p:cNvPr id="15" name="Picture 14" descr="qr_fonte_pesquisa_fapesp_2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4846320"/>
            <a:ext cx="1143000" cy="1143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78240" y="4983480"/>
            <a:ext cx="2636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Fonte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4"/>
              </a:rPr>
              <a:t>Pesquisa FAPESP, 2025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EXEMPLO REAL  ·  MÁQUINAS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Jacto, Arbus 4000 JAV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33</a:t>
            </a:r>
          </a:p>
        </p:txBody>
      </p:sp>
      <p:pic>
        <p:nvPicPr>
          <p:cNvPr id="11" name="Picture 10" descr="ex_jacto_arb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5969000" cy="42976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691640"/>
            <a:ext cx="5969000" cy="429768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044184"/>
            <a:ext cx="5969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Imagem: Jacto / Revista Cultivar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691640"/>
            <a:ext cx="3916375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9A5B00"/>
                </a:solidFill>
                <a:latin typeface="Arial"/>
              </a:rPr>
              <a:t>1 → 4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pulverizadores comandados por um só operador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Sem ninguém a bordo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 IA traça a rota entre as linhas do pomar</a:t>
            </a:r>
          </a:p>
        </p:txBody>
      </p:sp>
      <p:pic>
        <p:nvPicPr>
          <p:cNvPr id="15" name="Picture 14" descr="qr_fonte_revista_cultivar_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4846320"/>
            <a:ext cx="1143000" cy="1143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78240" y="4983480"/>
            <a:ext cx="2636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Fonte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4"/>
              </a:rPr>
              <a:t>Revista Cultivar, 2026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EXEMPLO REAL  ·  ÁGUA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Smart Irriga: irrigação decidida por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34</a:t>
            </a:r>
          </a:p>
        </p:txBody>
      </p:sp>
      <p:pic>
        <p:nvPicPr>
          <p:cNvPr id="11" name="Picture 10" descr="ex_smart_irrig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6400800" cy="393693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691640"/>
            <a:ext cx="6400800" cy="393693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683434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Imagem: Baguete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691640"/>
            <a:ext cx="3916375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9A5B00"/>
                </a:solidFill>
                <a:latin typeface="Arial"/>
              </a:rPr>
              <a:t>36%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menos água por kg de café, e 15% menos energia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Lê as estações meteorológicas todo dia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Decide quando e quanto irrigar</a:t>
            </a:r>
          </a:p>
        </p:txBody>
      </p:sp>
      <p:pic>
        <p:nvPicPr>
          <p:cNvPr id="15" name="Picture 14" descr="qr_fonte_baguete_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4846320"/>
            <a:ext cx="1143000" cy="1143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78240" y="4983480"/>
            <a:ext cx="2636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Fonte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4"/>
              </a:rPr>
              <a:t>Baguete, 2026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EXEMPLO REAL  ·  AMBIÊNCIA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SoundTalks: a granja que escuta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35</a:t>
            </a:r>
          </a:p>
        </p:txBody>
      </p:sp>
      <p:pic>
        <p:nvPicPr>
          <p:cNvPr id="11" name="Picture 10" descr="ex_soundtal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6400800" cy="33604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691640"/>
            <a:ext cx="6400800" cy="336042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106924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Imagem: AgTechNavigator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691640"/>
            <a:ext cx="3916375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9A5B00"/>
                </a:solidFill>
                <a:latin typeface="Arial"/>
              </a:rPr>
              <a:t>5 dias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antes, o alerta de doença respiratória (fabricante)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Microfones na baia ouvem a tosse dos suínos, 24 h por dia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Semáforo de saúde no celular</a:t>
            </a:r>
          </a:p>
        </p:txBody>
      </p:sp>
      <p:pic>
        <p:nvPicPr>
          <p:cNvPr id="15" name="Picture 14" descr="qr_fonte_agtechnavigator_2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4846320"/>
            <a:ext cx="1143000" cy="1143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78240" y="4983480"/>
            <a:ext cx="2636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Fonte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4"/>
              </a:rPr>
              <a:t>AgTechNavigator, 2024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EXEMPLO REAL  ·  PÓS-COLHEITA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Embrapa: classificação de soja por imagem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36</a:t>
            </a:r>
          </a:p>
        </p:txBody>
      </p:sp>
      <p:pic>
        <p:nvPicPr>
          <p:cNvPr id="11" name="Picture 10" descr="ex_gr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5969000" cy="42976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691640"/>
            <a:ext cx="5969000" cy="429768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044184"/>
            <a:ext cx="5969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Imagem: Revista Cultivar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691640"/>
            <a:ext cx="3916375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9A5B00"/>
                </a:solidFill>
                <a:latin typeface="Arial"/>
              </a:rPr>
              <a:t>90 → 4 min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para classificar uma amostra de soja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Câmeras e IA examinam cada grão, sem cortá-lo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Em validação final, ainda não comercial</a:t>
            </a:r>
          </a:p>
        </p:txBody>
      </p:sp>
      <p:pic>
        <p:nvPicPr>
          <p:cNvPr id="15" name="Picture 14" descr="qr_fonte_revista_cultivar_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4846320"/>
            <a:ext cx="1143000" cy="1143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78240" y="4983480"/>
            <a:ext cx="2636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Fonte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4"/>
              </a:rPr>
              <a:t>Revista Cultivar, 2026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EXEMPLO REAL  ·  PÓS-COLHEITA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Bühler SORTEX: arroz selecionado grão a grão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37</a:t>
            </a:r>
          </a:p>
        </p:txBody>
      </p:sp>
      <p:pic>
        <p:nvPicPr>
          <p:cNvPr id="11" name="Picture 10" descr="ex_sorte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4834890" cy="42976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691640"/>
            <a:ext cx="4834890" cy="429768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044184"/>
            <a:ext cx="483489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Imagem: Bühler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691640"/>
            <a:ext cx="3916375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9A5B00"/>
                </a:solidFill>
                <a:latin typeface="Arial"/>
              </a:rPr>
              <a:t>18 t/h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de arroz selecionado (fabricante)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Aprende as cores do lote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Rejeita sozinha o grão defeituoso</a:t>
            </a:r>
          </a:p>
        </p:txBody>
      </p:sp>
      <p:pic>
        <p:nvPicPr>
          <p:cNvPr id="15" name="Picture 14" descr="qr_fonte_büh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4846320"/>
            <a:ext cx="1143000" cy="1143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78240" y="4983480"/>
            <a:ext cx="2636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Fonte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4"/>
              </a:rPr>
              <a:t>Bühler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EXEMPLO REAL  ·  GEOTECNOLOGIAS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UNIPAMPA: capim-annoni e carrapatos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38</a:t>
            </a:r>
          </a:p>
        </p:txBody>
      </p:sp>
      <p:pic>
        <p:nvPicPr>
          <p:cNvPr id="11" name="Picture 10" descr="ex_terrapamp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5730240" cy="42976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691640"/>
            <a:ext cx="5730240" cy="429768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044184"/>
            <a:ext cx="573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Imagem: Gazeta do Povo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691640"/>
            <a:ext cx="3916375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A866E"/>
                </a:solidFill>
                <a:latin typeface="Arial"/>
              </a:rPr>
              <a:t>88% e 94%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de acerto: capim-annoni no campo e carrapatos no gado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UNIPAMPA, Embrapa Pecuária Sul e Nvidia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Visão computacional, aqui no Pampa</a:t>
            </a:r>
          </a:p>
        </p:txBody>
      </p:sp>
      <p:pic>
        <p:nvPicPr>
          <p:cNvPr id="15" name="Picture 14" descr="qr_fonte_gazeta_do_povo_2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4846320"/>
            <a:ext cx="1143000" cy="1143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78240" y="4983480"/>
            <a:ext cx="2636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Fonte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4"/>
              </a:rPr>
              <a:t>Gazeta do Povo, 2025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EXEMPLO REAL  ·  GEOTECNOLOGIAS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MapBiomas: 40 anos de Pampa por satélite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39</a:t>
            </a:r>
          </a:p>
        </p:txBody>
      </p:sp>
      <p:pic>
        <p:nvPicPr>
          <p:cNvPr id="11" name="Picture 10" descr="ex_mapbiomas_pamp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6400800" cy="36004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691640"/>
            <a:ext cx="6400800" cy="360045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346953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Imagem: MapBiomas, Coleção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691640"/>
            <a:ext cx="3916375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9A5B00"/>
                </a:solidFill>
                <a:latin typeface="Arial"/>
              </a:rPr>
              <a:t>9,8 → 5,9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milhões de ha de campo nativo no Pampa, de 1985 a 2024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Aprendizado de máquina classifica todo o acervo Landsat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Mapas anuais, gratuitos</a:t>
            </a:r>
          </a:p>
        </p:txBody>
      </p:sp>
      <p:pic>
        <p:nvPicPr>
          <p:cNvPr id="15" name="Picture 14" descr="qr_fonte_mapbiomas_2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4846320"/>
            <a:ext cx="1143000" cy="1143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78240" y="4983480"/>
            <a:ext cx="2636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Fonte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4"/>
              </a:rPr>
              <a:t>MapBiomas, 2025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EXEMPLO REAL  ·  GEOTECNOLOGIAS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Cromai: daninhas achadas por drone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40</a:t>
            </a:r>
          </a:p>
        </p:txBody>
      </p:sp>
      <p:pic>
        <p:nvPicPr>
          <p:cNvPr id="11" name="Picture 10" descr="ex_crom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6400800" cy="408561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691640"/>
            <a:ext cx="6400800" cy="4085617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832121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Imagem: Notícias Agrícolas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691640"/>
            <a:ext cx="3916375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9A5B00"/>
                </a:solidFill>
                <a:latin typeface="Arial"/>
              </a:rPr>
              <a:t>65%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menos herbicida, segundo a empresa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Aprendizado profundo acha a daninha na imagem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Gera o mapa de aplicação localizada</a:t>
            </a:r>
          </a:p>
        </p:txBody>
      </p:sp>
      <p:pic>
        <p:nvPicPr>
          <p:cNvPr id="15" name="Picture 14" descr="qr_fonte_notícias_agrícolas_2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4846320"/>
            <a:ext cx="1143000" cy="1143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78240" y="4983480"/>
            <a:ext cx="2636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Fonte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4"/>
              </a:rPr>
              <a:t>Notícias Agrícolas, 2024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EXEMPLO REAL  ·  IA QUE CONVERSA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Case IH e New Holland: assistente na cabine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41</a:t>
            </a:r>
          </a:p>
        </p:txBody>
      </p:sp>
      <p:pic>
        <p:nvPicPr>
          <p:cNvPr id="11" name="Picture 10" descr="ex_cnh_gu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5685472" cy="42976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691640"/>
            <a:ext cx="5685472" cy="429768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044184"/>
            <a:ext cx="5685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Imagem: CNH Industrial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691640"/>
            <a:ext cx="3916375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9A5B00"/>
                </a:solidFill>
                <a:latin typeface="Arial"/>
              </a:rPr>
              <a:t>Offline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responde por voz, sem internet, citando o manual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Assistentes MAIA e GUIA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Aciona a máquina por comando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Ainda protótipo, no Agrishow 2025</a:t>
            </a:r>
          </a:p>
        </p:txBody>
      </p:sp>
      <p:pic>
        <p:nvPicPr>
          <p:cNvPr id="15" name="Picture 14" descr="qr_fonte_cnh_industrial_2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4846320"/>
            <a:ext cx="1143000" cy="1143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78240" y="4983480"/>
            <a:ext cx="2636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Fonte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4"/>
              </a:rPr>
              <a:t>CNH Industrial, 2025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Quantos produtores já usam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42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4864" cy="1737360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1783080"/>
            <a:ext cx="2997098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0F2369"/>
                </a:solidFill>
                <a:latin typeface="Arial"/>
              </a:rPr>
              <a:t>55%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200" b="0">
                <a:solidFill>
                  <a:srgbClr val="6B7280"/>
                </a:solidFill>
                <a:latin typeface="Arial"/>
              </a:rPr>
              <a:t>dos produtores brasileiros usam ferramentas digitais (2024)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2978" y="1783080"/>
            <a:ext cx="54864" cy="1737360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7298" y="1783080"/>
            <a:ext cx="2997098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0F2369"/>
                </a:solidFill>
                <a:latin typeface="Arial"/>
              </a:rPr>
              <a:t>61%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200" b="0">
                <a:solidFill>
                  <a:srgbClr val="6B7280"/>
                </a:solidFill>
                <a:latin typeface="Arial"/>
              </a:rPr>
              <a:t>nos grãos do Sul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8716" y="1783080"/>
            <a:ext cx="54864" cy="1737360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3036" y="1783080"/>
            <a:ext cx="2997098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0F2369"/>
                </a:solidFill>
                <a:latin typeface="Arial"/>
              </a:rPr>
              <a:t>17%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200" b="0">
                <a:solidFill>
                  <a:srgbClr val="6B7280"/>
                </a:solidFill>
                <a:latin typeface="Arial"/>
              </a:rPr>
              <a:t>dos produtores do mundo já usam IA generativa (2026)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O produtor já pergunta à IA. O engenheiro precisa saber o que ela erra.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O valor do engenheiro se desloca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43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4864" cy="361188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B7280"/>
                </a:solidFill>
                <a:latin typeface="Arial"/>
              </a:rPr>
              <a:t>Fica barato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Cálculo</a:t>
            </a:r>
            <a:r>
              <a:rPr sz="2400" b="0">
                <a:solidFill>
                  <a:srgbClr val="1E1E1E"/>
                </a:solidFill>
                <a:latin typeface="Arial"/>
              </a:rPr>
              <a:t> de rotina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Memorial</a:t>
            </a:r>
            <a:r>
              <a:rPr sz="2400" b="0">
                <a:solidFill>
                  <a:srgbClr val="1E1E1E"/>
                </a:solidFill>
                <a:latin typeface="Arial"/>
              </a:rPr>
              <a:t> e relatório padrão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Classificação</a:t>
            </a:r>
            <a:r>
              <a:rPr sz="2400" b="0">
                <a:solidFill>
                  <a:srgbClr val="1E1E1E"/>
                </a:solidFill>
                <a:latin typeface="Arial"/>
              </a:rPr>
              <a:t> manual de imagem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Mapa</a:t>
            </a:r>
            <a:r>
              <a:rPr sz="2400" b="0">
                <a:solidFill>
                  <a:srgbClr val="1E1E1E"/>
                </a:solidFill>
                <a:latin typeface="Arial"/>
              </a:rPr>
              <a:t> a partir de dado pronto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7" y="1783080"/>
            <a:ext cx="54864" cy="3611880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6199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9A5B00"/>
                </a:solidFill>
                <a:latin typeface="Arial"/>
              </a:rPr>
              <a:t>Fica caro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Coletar</a:t>
            </a:r>
            <a:r>
              <a:rPr sz="2400" b="0">
                <a:solidFill>
                  <a:srgbClr val="1E1E1E"/>
                </a:solidFill>
                <a:latin typeface="Arial"/>
              </a:rPr>
              <a:t> bom dado no campo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Integrar</a:t>
            </a:r>
            <a:r>
              <a:rPr sz="2400" b="0">
                <a:solidFill>
                  <a:srgbClr val="1E1E1E"/>
                </a:solidFill>
                <a:latin typeface="Arial"/>
              </a:rPr>
              <a:t> sensor, máquina e sistema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Validar</a:t>
            </a:r>
            <a:r>
              <a:rPr sz="2400" b="0">
                <a:solidFill>
                  <a:srgbClr val="1E1E1E"/>
                </a:solidFill>
                <a:latin typeface="Arial"/>
              </a:rPr>
              <a:t> o que o modelo diz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Assinar</a:t>
            </a:r>
            <a:r>
              <a:rPr sz="2400" b="0">
                <a:solidFill>
                  <a:srgbClr val="1E1E1E"/>
                </a:solidFill>
                <a:latin typeface="Arial"/>
              </a:rPr>
              <a:t> a responsabilidade técnica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866E"/>
                </a:solidFill>
                <a:latin typeface="Arial"/>
              </a:rPr>
              <a:t>A REGRA DE OURO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1063721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0F2369"/>
                </a:solidFill>
                <a:latin typeface="Arial"/>
              </a:rPr>
              <a:t>O modelo recomenda.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5200" b="1">
                <a:solidFill>
                  <a:srgbClr val="9A5B00"/>
                </a:solidFill>
                <a:latin typeface="Arial"/>
              </a:rPr>
              <a:t>Quem assina a ART é você.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43484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E1E1E"/>
                </a:solidFill>
                <a:latin typeface="Arial"/>
              </a:rPr>
              <a:t>No estágio, no laudo e na lavoura: o engenheiro responde pelo que entrega.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O Engenheiro Agrícola do futuro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45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96596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241927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Dado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sabe gerar dado bom no campo: sensor, drone, amostra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6553" y="196596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6553" y="2148840"/>
            <a:ext cx="241927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2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Modelo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sabe usar a IA e desconfiar dela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5867" y="196596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5867" y="2148840"/>
            <a:ext cx="241927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3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Campo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confere onde o modelo não enxerga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5181" y="196596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5181" y="2148840"/>
            <a:ext cx="241927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4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Decisão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decide, assina e responde pelo resultado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866E"/>
                </a:solidFill>
                <a:latin typeface="Arial"/>
              </a:rPr>
              <a:t>PERGUNTA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637215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F2369"/>
                </a:solidFill>
                <a:latin typeface="Arial"/>
              </a:rPr>
              <a:t>Um modelo treinado no Meio-Oeste dos Estados Unidos entende uma várzea de arroz do Pampa?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ERRO COM CARA DE ACERTO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99% no laboratório, 31% fora dele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47</a:t>
            </a:r>
          </a:p>
        </p:txBody>
      </p:sp>
      <p:pic>
        <p:nvPicPr>
          <p:cNvPr id="11" name="Picture 10" descr="ex_plantvill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5027868" cy="42976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691640"/>
            <a:ext cx="5027868" cy="429768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044184"/>
            <a:ext cx="50278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Imagem: Mohanty, Hughes e Salathé, Frontiers in Plant Science, 2016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691640"/>
            <a:ext cx="3916375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9A5B00"/>
                </a:solidFill>
                <a:latin typeface="Arial"/>
              </a:rPr>
              <a:t>99% → 31%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de acerto, quando a foto saiu do banco de treino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Rede neural para diagnosticar doenças de plantas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Fora do laboratório, continuou dando diagnóstico confiante</a:t>
            </a:r>
          </a:p>
        </p:txBody>
      </p:sp>
      <p:pic>
        <p:nvPicPr>
          <p:cNvPr id="15" name="Picture 14" descr="qr_fonte_frontiers_2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4846320"/>
            <a:ext cx="1143000" cy="1143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78240" y="4983480"/>
            <a:ext cx="2636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Fonte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4"/>
              </a:rPr>
              <a:t>Frontiers, 2016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ERRO COM CARA DE ACERTO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TJSC: jurisprudência inventada pela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91640"/>
            <a:ext cx="10637215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9A5B00"/>
                </a:solidFill>
                <a:latin typeface="Arial"/>
              </a:rPr>
              <a:t>10%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400" b="0">
                <a:solidFill>
                  <a:srgbClr val="6B7280"/>
                </a:solidFill>
                <a:latin typeface="Arial"/>
              </a:rPr>
              <a:t>do valor da causa em multa, e o caso enviado à OAB/SC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Um recurso citou decisões e doutrina inexistentes, com cara de verdadeiras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O advogado alegou “uso inadvertido” do ChatGPT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No laudo, vale o mesmo: quem assina responde, mesmo que a IA tenha escrito</a:t>
            </a:r>
          </a:p>
        </p:txBody>
      </p:sp>
      <p:pic>
        <p:nvPicPr>
          <p:cNvPr id="12" name="Picture 11" descr="qr_fonte_tjsc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846320"/>
            <a:ext cx="1143000" cy="1143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57400" y="4983480"/>
            <a:ext cx="93570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Fonte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3"/>
              </a:rPr>
              <a:t>TJSC, 2025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ERRO COM CARA DE ACERTO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O que os dois casos ensinam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49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4864" cy="3611880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9A5B00"/>
                </a:solidFill>
                <a:latin typeface="Arial"/>
              </a:rPr>
              <a:t>Modelo fora do lugar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Treinado </a:t>
            </a:r>
            <a:r>
              <a:rPr sz="2400" b="1">
                <a:solidFill>
                  <a:srgbClr val="1E1E1E"/>
                </a:solidFill>
                <a:latin typeface="Arial"/>
              </a:rPr>
              <a:t>em outro lugar</a:t>
            </a:r>
            <a:r>
              <a:rPr sz="2400" b="0">
                <a:solidFill>
                  <a:srgbClr val="1E1E1E"/>
                </a:solidFill>
                <a:latin typeface="Arial"/>
              </a:rPr>
              <a:t>, erra no Pampa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O erro vem </a:t>
            </a:r>
            <a:r>
              <a:rPr sz="2400" b="1">
                <a:solidFill>
                  <a:srgbClr val="1E1E1E"/>
                </a:solidFill>
                <a:latin typeface="Arial"/>
              </a:rPr>
              <a:t>com cara de acerto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Antes de usar, </a:t>
            </a:r>
            <a:r>
              <a:rPr sz="2400" b="1">
                <a:solidFill>
                  <a:srgbClr val="1E1E1E"/>
                </a:solidFill>
                <a:latin typeface="Arial"/>
              </a:rPr>
              <a:t>teste com dado local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7" y="1783080"/>
            <a:ext cx="54864" cy="361188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6199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2369"/>
                </a:solidFill>
                <a:latin typeface="Arial"/>
              </a:rPr>
              <a:t>Texto sem conferência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A IA </a:t>
            </a:r>
            <a:r>
              <a:rPr sz="2400" b="1">
                <a:solidFill>
                  <a:srgbClr val="1E1E1E"/>
                </a:solidFill>
                <a:latin typeface="Arial"/>
              </a:rPr>
              <a:t>inventa</a:t>
            </a:r>
            <a:r>
              <a:rPr sz="2400" b="0">
                <a:solidFill>
                  <a:srgbClr val="1E1E1E"/>
                </a:solidFill>
                <a:latin typeface="Arial"/>
              </a:rPr>
              <a:t> norma, dado e citação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Quem assina </a:t>
            </a:r>
            <a:r>
              <a:rPr sz="2400" b="1">
                <a:solidFill>
                  <a:srgbClr val="1E1E1E"/>
                </a:solidFill>
                <a:latin typeface="Arial"/>
              </a:rPr>
              <a:t>responde</a:t>
            </a:r>
            <a:r>
              <a:rPr sz="2400" b="0">
                <a:solidFill>
                  <a:srgbClr val="1E1E1E"/>
                </a:solidFill>
                <a:latin typeface="Arial"/>
              </a:rPr>
              <a:t> pelo erro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Confira na fonte</a:t>
            </a:r>
            <a:r>
              <a:rPr sz="2400" b="0">
                <a:solidFill>
                  <a:srgbClr val="1E1E1E"/>
                </a:solidFill>
                <a:latin typeface="Arial"/>
              </a:rPr>
              <a:t> antes de assinar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Nos dois casos, conferir é trabalho do engenheiro.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4 · A FORMAÇÃO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O que eu vi em Algoritmos e Programação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10637215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1E1E1E"/>
                </a:solidFill>
                <a:latin typeface="Arial"/>
              </a:rPr>
              <a:t>Alunos de </a:t>
            </a:r>
            <a:r>
              <a:rPr sz="3000" b="1">
                <a:solidFill>
                  <a:srgbClr val="1E1E1E"/>
                </a:solidFill>
                <a:latin typeface="Arial"/>
              </a:rPr>
              <a:t>primeiro semestre</a:t>
            </a:r>
            <a:r>
              <a:rPr sz="3000" b="0">
                <a:solidFill>
                  <a:srgbClr val="1E1E1E"/>
                </a:solidFill>
                <a:latin typeface="Arial"/>
              </a:rPr>
              <a:t> de Engenharia entregaram, em </a:t>
            </a:r>
            <a:r>
              <a:rPr sz="3000" b="1">
                <a:solidFill>
                  <a:srgbClr val="1E1E1E"/>
                </a:solidFill>
                <a:latin typeface="Arial"/>
              </a:rPr>
              <a:t>duas horas</a:t>
            </a:r>
            <a:r>
              <a:rPr sz="3000" b="0">
                <a:solidFill>
                  <a:srgbClr val="1E1E1E"/>
                </a:solidFill>
                <a:latin typeface="Arial"/>
              </a:rPr>
              <a:t>, aplicações que teriam sido </a:t>
            </a:r>
            <a:r>
              <a:rPr sz="3000" b="1">
                <a:solidFill>
                  <a:srgbClr val="1E1E1E"/>
                </a:solidFill>
                <a:latin typeface="Arial"/>
              </a:rPr>
              <a:t>trabalho de conclusão</a:t>
            </a:r>
            <a:r>
              <a:rPr sz="3000" b="0">
                <a:solidFill>
                  <a:srgbClr val="1E1E1E"/>
                </a:solidFill>
                <a:latin typeface="Arial"/>
              </a:rPr>
              <a:t> há cinco anos.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58183"/>
            <a:ext cx="3182112" cy="321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69"/>
                </a:solidFill>
                <a:latin typeface="Arial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3758183"/>
            <a:ext cx="3547872" cy="321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69"/>
                </a:solidFill>
                <a:latin typeface="Arial"/>
              </a:rPr>
              <a:t>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3758183"/>
            <a:ext cx="3575304" cy="321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69"/>
                </a:solidFill>
                <a:latin typeface="Arial"/>
              </a:rPr>
              <a:t>Agora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134358"/>
            <a:ext cx="10634472" cy="18288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89221"/>
            <a:ext cx="3182112" cy="321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Quando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4189221"/>
            <a:ext cx="3547872" cy="321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último semestre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189221"/>
            <a:ext cx="3575304" cy="321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primeiro semestre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565396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20259"/>
            <a:ext cx="3182112" cy="321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Quanto tempo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4620259"/>
            <a:ext cx="3547872" cy="321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meses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4620259"/>
            <a:ext cx="3575304" cy="321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duas horas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996434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O aluno não ficou genial. O custo de produzir despencou.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4 · A FORMAÇÃO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O que a avaliação precisa virar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51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4864" cy="361188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B7280"/>
                </a:solidFill>
                <a:latin typeface="Arial"/>
              </a:rPr>
              <a:t>Sai de cena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Entregar a </a:t>
            </a:r>
            <a:r>
              <a:rPr sz="2400" b="1">
                <a:solidFill>
                  <a:srgbClr val="1E1E1E"/>
                </a:solidFill>
                <a:latin typeface="Arial"/>
              </a:rPr>
              <a:t>conta pronta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Relatório que </a:t>
            </a:r>
            <a:r>
              <a:rPr sz="2400" b="1">
                <a:solidFill>
                  <a:srgbClr val="1E1E1E"/>
                </a:solidFill>
                <a:latin typeface="Arial"/>
              </a:rPr>
              <a:t>qualquer IA</a:t>
            </a:r>
            <a:r>
              <a:rPr sz="2400" b="0">
                <a:solidFill>
                  <a:srgbClr val="1E1E1E"/>
                </a:solidFill>
                <a:latin typeface="Arial"/>
              </a:rPr>
              <a:t> escreve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Prova que mede </a:t>
            </a:r>
            <a:r>
              <a:rPr sz="2400" b="1">
                <a:solidFill>
                  <a:srgbClr val="1E1E1E"/>
                </a:solidFill>
                <a:latin typeface="Arial"/>
              </a:rPr>
              <a:t>o que a máquina faz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7" y="1783080"/>
            <a:ext cx="54864" cy="3611880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6199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A866E"/>
                </a:solidFill>
                <a:latin typeface="Arial"/>
              </a:rPr>
              <a:t>Entra no lugar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Especificar</a:t>
            </a:r>
            <a:r>
              <a:rPr sz="2400" b="0">
                <a:solidFill>
                  <a:srgbClr val="1E1E1E"/>
                </a:solidFill>
                <a:latin typeface="Arial"/>
              </a:rPr>
              <a:t> o problema real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Julgar</a:t>
            </a:r>
            <a:r>
              <a:rPr sz="2400" b="0">
                <a:solidFill>
                  <a:srgbClr val="1E1E1E"/>
                </a:solidFill>
                <a:latin typeface="Arial"/>
              </a:rPr>
              <a:t> o que a máquina devolveu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Defender</a:t>
            </a:r>
            <a:r>
              <a:rPr sz="2400" b="0">
                <a:solidFill>
                  <a:srgbClr val="1E1E1E"/>
                </a:solidFill>
                <a:latin typeface="Arial"/>
              </a:rPr>
              <a:t> o resultado de viva-voz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A entrega ficou barata. O julgamento ficou caro.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4 · A FORMAÇÃO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IA como professor particular, não como cola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4864" cy="3611880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A866E"/>
                </a:solidFill>
                <a:latin typeface="Arial"/>
              </a:rPr>
              <a:t>IA como professor particular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“Me explica a perda de carga de outro jeito”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“Me faz perguntas e corrige”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“Onde errei no dimensionamento?”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Resultado: </a:t>
            </a:r>
            <a:r>
              <a:rPr sz="2400" b="1">
                <a:solidFill>
                  <a:srgbClr val="1E1E1E"/>
                </a:solidFill>
                <a:latin typeface="Arial"/>
              </a:rPr>
              <a:t>você aprende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7" y="1783080"/>
            <a:ext cx="54864" cy="3611880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6199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9A5B00"/>
                </a:solidFill>
                <a:latin typeface="Arial"/>
              </a:rPr>
              <a:t>IA como cola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“Faz o relatório pra mim”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“Responde a lista inteira”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Copiar sem ler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Resultado: </a:t>
            </a:r>
            <a:r>
              <a:rPr sz="2400" b="1">
                <a:solidFill>
                  <a:srgbClr val="1E1E1E"/>
                </a:solidFill>
                <a:latin typeface="Arial"/>
              </a:rPr>
              <a:t>branco no estágio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4 · A FORMAÇÃO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Um pedido para copiar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53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10637215" cy="2132330"/>
          </a:xfrm>
          <a:prstGeom prst="rect">
            <a:avLst/>
          </a:prstGeom>
          <a:noFill/>
          <a:ln w="15875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783080"/>
            <a:ext cx="73152" cy="213233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10088575" cy="1858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369"/>
                </a:solidFill>
                <a:latin typeface="Arial"/>
              </a:rPr>
              <a:t>PEDIDO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Vou ter prova de Hidráulica. Seja meu professor: me faça uma pergunta por vez, do mais fácil ao mais difícil, com exemplos de irrigação de arroz no Pampa. Espere a minha resposta antes de continuar. Se eu errar, não dê a resposta: me dê uma dica e me deixe tentar de novo.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Aprender dá trabalho. A IA tira o atrito, não o esforço.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5 · REDESENHAR  ·  PPC DO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Um PPC para quem entra em 2027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54</a:t>
            </a:r>
          </a:p>
        </p:txBody>
      </p:sp>
      <p:pic>
        <p:nvPicPr>
          <p:cNvPr id="11" name="Picture 10" descr="site_fut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6309360" cy="28041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737360"/>
            <a:ext cx="6309360" cy="280416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754880"/>
            <a:ext cx="6309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Proposta exploratória, para discussão. </a:t>
            </a:r>
            <a:r>
              <a:rPr sz="2000" b="1">
                <a:solidFill>
                  <a:srgbClr val="6B7280"/>
                </a:solidFill>
                <a:latin typeface="Arial"/>
              </a:rPr>
              <a:t>Não é documento oficial.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783080"/>
            <a:ext cx="3962095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E1E1E"/>
                </a:solidFill>
                <a:latin typeface="Arial"/>
              </a:rPr>
              <a:t>3.900 h</a:t>
            </a:r>
            <a:r>
              <a:rPr sz="2200" b="0">
                <a:solidFill>
                  <a:srgbClr val="1E1E1E"/>
                </a:solidFill>
                <a:latin typeface="Arial"/>
              </a:rPr>
              <a:t> no total, 270 h a menos que em 2023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1">
                <a:solidFill>
                  <a:srgbClr val="1E1E1E"/>
                </a:solidFill>
                <a:latin typeface="Arial"/>
              </a:rPr>
              <a:t>270 h</a:t>
            </a:r>
            <a:r>
              <a:rPr sz="2200" b="0">
                <a:solidFill>
                  <a:srgbClr val="1E1E1E"/>
                </a:solidFill>
                <a:latin typeface="Arial"/>
              </a:rPr>
              <a:t> de eixo de dados e IA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1">
                <a:solidFill>
                  <a:srgbClr val="1E1E1E"/>
                </a:solidFill>
                <a:latin typeface="Arial"/>
              </a:rPr>
              <a:t>8 ateliês</a:t>
            </a:r>
            <a:r>
              <a:rPr sz="2200" b="0">
                <a:solidFill>
                  <a:srgbClr val="1E1E1E"/>
                </a:solidFill>
                <a:latin typeface="Arial"/>
              </a:rPr>
              <a:t> com produtores</a:t>
            </a:r>
          </a:p>
        </p:txBody>
      </p:sp>
      <p:pic>
        <p:nvPicPr>
          <p:cNvPr id="15" name="Picture 14" descr="qr_engenharia_agricola_github_io_futuro_ht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3596640"/>
            <a:ext cx="1280160" cy="12801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52360" y="4949952"/>
            <a:ext cx="3962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A5B00"/>
                </a:solidFill>
                <a:latin typeface="Arial"/>
                <a:hlinkClick r:id="rId4"/>
              </a:rPr>
              <a:t>engenharia-agricola.github.io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5 · REDESENHAR  ·  QUEM SE FORMA EM 2032  ·  1 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Mede e coleta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55</a:t>
            </a:r>
          </a:p>
        </p:txBody>
      </p:sp>
      <p:pic>
        <p:nvPicPr>
          <p:cNvPr id="11" name="Picture 10" descr="perfil_me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6400800" cy="43434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691640"/>
            <a:ext cx="6400800" cy="434340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089903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Imagens: USDA NRCS; Christopher Hedreyd, PIA (domínio público)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19" y="1691640"/>
            <a:ext cx="1005840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19" y="1874519"/>
            <a:ext cx="3824935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2369"/>
                </a:solidFill>
                <a:latin typeface="Arial"/>
              </a:rPr>
              <a:t>Sensor, drone e amostra, com o erro de cada medida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Sem dado bom, nenhum modelo acerta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19" y="4160520"/>
            <a:ext cx="3824935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19" y="4297680"/>
            <a:ext cx="3824935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369"/>
                </a:solidFill>
                <a:latin typeface="Arial"/>
              </a:rPr>
              <a:t>1  Mede e coleta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BEC9"/>
                </a:solidFill>
                <a:latin typeface="Arial"/>
              </a:rPr>
              <a:t>2  Modela e valida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BEC9"/>
                </a:solidFill>
                <a:latin typeface="Arial"/>
              </a:rPr>
              <a:t>3  Integra sistemas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BEC9"/>
                </a:solidFill>
                <a:latin typeface="Arial"/>
              </a:rPr>
              <a:t>4  Responde pelo que assina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BEC9"/>
                </a:solidFill>
                <a:latin typeface="Arial"/>
              </a:rPr>
              <a:t>5  Comunica e media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BEC9"/>
                </a:solidFill>
                <a:latin typeface="Arial"/>
              </a:rPr>
              <a:t>6  Aprende sozinho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5 · REDESENHAR  ·  QUEM SE FORMA EM 2032  ·  2 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Modela e valida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56</a:t>
            </a:r>
          </a:p>
        </p:txBody>
      </p:sp>
      <p:pic>
        <p:nvPicPr>
          <p:cNvPr id="11" name="Picture 10" descr="perfil_model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6400800" cy="36004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691640"/>
            <a:ext cx="6400800" cy="360045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346953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Imagem: MikeRun, Wikimedia Commons (CC BY-SA 4.0)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19" y="1691640"/>
            <a:ext cx="1005840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19" y="1874519"/>
            <a:ext cx="3824935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2369"/>
                </a:solidFill>
                <a:latin typeface="Arial"/>
              </a:rPr>
              <a:t>Modelos simples em Python, conferidos com a física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Se a conta desafia a física, o modelo está errado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19" y="4160520"/>
            <a:ext cx="3824935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19" y="4297680"/>
            <a:ext cx="3824935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BEC9"/>
                </a:solidFill>
                <a:latin typeface="Arial"/>
              </a:rPr>
              <a:t>1  Mede e coleta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369"/>
                </a:solidFill>
                <a:latin typeface="Arial"/>
              </a:rPr>
              <a:t>2  Modela e valida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BEC9"/>
                </a:solidFill>
                <a:latin typeface="Arial"/>
              </a:rPr>
              <a:t>3  Integra sistemas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BEC9"/>
                </a:solidFill>
                <a:latin typeface="Arial"/>
              </a:rPr>
              <a:t>4  Responde pelo que assina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BEC9"/>
                </a:solidFill>
                <a:latin typeface="Arial"/>
              </a:rPr>
              <a:t>5  Comunica e media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BEC9"/>
                </a:solidFill>
                <a:latin typeface="Arial"/>
              </a:rPr>
              <a:t>6  Aprende sozinho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5 · REDESENHAR  ·  QUEM SE FORMA EM 2032  ·  3 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Integra sistemas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57</a:t>
            </a:r>
          </a:p>
        </p:txBody>
      </p:sp>
      <p:pic>
        <p:nvPicPr>
          <p:cNvPr id="11" name="Picture 10" descr="perfil_integ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2844122" cy="43434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691640"/>
            <a:ext cx="2844122" cy="434340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089903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Imagem: Scott Bauer, USDA ARS (domínio público)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32842" y="1691640"/>
            <a:ext cx="1005840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32842" y="1874519"/>
            <a:ext cx="7381612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2369"/>
                </a:solidFill>
                <a:latin typeface="Arial"/>
              </a:rPr>
              <a:t>Máquina, água, energia, estrutura e software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Na foto: pesquisadores baixam os dados do pivô para reconstruir a irrigação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32842" y="4160520"/>
            <a:ext cx="738161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32842" y="4297680"/>
            <a:ext cx="738161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BEC9"/>
                </a:solidFill>
                <a:latin typeface="Arial"/>
              </a:rPr>
              <a:t>1  Mede e coleta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BEC9"/>
                </a:solidFill>
                <a:latin typeface="Arial"/>
              </a:rPr>
              <a:t>2  Modela e valida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369"/>
                </a:solidFill>
                <a:latin typeface="Arial"/>
              </a:rPr>
              <a:t>3  Integra sistemas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BEC9"/>
                </a:solidFill>
                <a:latin typeface="Arial"/>
              </a:rPr>
              <a:t>4  Responde pelo que assina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BEC9"/>
                </a:solidFill>
                <a:latin typeface="Arial"/>
              </a:rPr>
              <a:t>5  Comunica e media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BEC9"/>
                </a:solidFill>
                <a:latin typeface="Arial"/>
              </a:rPr>
              <a:t>6  Aprende sozinho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5 · REDESENHAR  ·  QUEM SE FORMA EM 2032  ·  4 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Responde pelo que assina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58</a:t>
            </a:r>
          </a:p>
        </p:txBody>
      </p:sp>
      <p:pic>
        <p:nvPicPr>
          <p:cNvPr id="11" name="Picture 10" descr="perfil_assin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5791200" cy="43434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691640"/>
            <a:ext cx="5791200" cy="434340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089903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Imagem: Blogtrepreneur, Wikimedia Commons (CC BY 2.0)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79920" y="1691640"/>
            <a:ext cx="1005840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9920" y="1874519"/>
            <a:ext cx="4434535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2369"/>
                </a:solidFill>
                <a:latin typeface="Arial"/>
              </a:rPr>
              <a:t>IA com registro, dados do produtor protegidos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A ART continua com o seu nome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79920" y="4160520"/>
            <a:ext cx="4434535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79920" y="4297680"/>
            <a:ext cx="4434535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BEC9"/>
                </a:solidFill>
                <a:latin typeface="Arial"/>
              </a:rPr>
              <a:t>1  Mede e coleta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BEC9"/>
                </a:solidFill>
                <a:latin typeface="Arial"/>
              </a:rPr>
              <a:t>2  Modela e valida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BEC9"/>
                </a:solidFill>
                <a:latin typeface="Arial"/>
              </a:rPr>
              <a:t>3  Integra sistemas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369"/>
                </a:solidFill>
                <a:latin typeface="Arial"/>
              </a:rPr>
              <a:t>4  Responde pelo que assina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BEC9"/>
                </a:solidFill>
                <a:latin typeface="Arial"/>
              </a:rPr>
              <a:t>5  Comunica e media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BEC9"/>
                </a:solidFill>
                <a:latin typeface="Arial"/>
              </a:rPr>
              <a:t>6  Aprende sozinho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5 · REDESENHAR  ·  QUEM SE FORMA EM 2032  ·  5 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Comunica e media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59</a:t>
            </a:r>
          </a:p>
        </p:txBody>
      </p:sp>
      <p:pic>
        <p:nvPicPr>
          <p:cNvPr id="11" name="Picture 10" descr="perfil_comunic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6082660" cy="43434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691640"/>
            <a:ext cx="6082660" cy="434340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089903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Imagem: Ron Nichols, USDA NRCS (domínio público)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71380" y="1691640"/>
            <a:ext cx="1005840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71380" y="1874519"/>
            <a:ext cx="4143074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2369"/>
                </a:solidFill>
                <a:latin typeface="Arial"/>
              </a:rPr>
              <a:t>Traduz o modelo para produtor, técnico e gestor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A melhor análise não vale nada se o produtor não entende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71380" y="4160520"/>
            <a:ext cx="4143074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71380" y="4297680"/>
            <a:ext cx="414307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BEC9"/>
                </a:solidFill>
                <a:latin typeface="Arial"/>
              </a:rPr>
              <a:t>1  Mede e coleta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BEC9"/>
                </a:solidFill>
                <a:latin typeface="Arial"/>
              </a:rPr>
              <a:t>2  Modela e valida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BEC9"/>
                </a:solidFill>
                <a:latin typeface="Arial"/>
              </a:rPr>
              <a:t>3  Integra sistemas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BEC9"/>
                </a:solidFill>
                <a:latin typeface="Arial"/>
              </a:rPr>
              <a:t>4  Responde pelo que assina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369"/>
                </a:solidFill>
                <a:latin typeface="Arial"/>
              </a:rPr>
              <a:t>5  Comunica e media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BEC9"/>
                </a:solidFill>
                <a:latin typeface="Arial"/>
              </a:rPr>
              <a:t>6  Aprende sozinho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5 · REDESENHAR  ·  QUEM SE FORMA EM 2032  ·  6 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Aprende sozinho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60</a:t>
            </a:r>
          </a:p>
        </p:txBody>
      </p:sp>
      <p:pic>
        <p:nvPicPr>
          <p:cNvPr id="11" name="Picture 10" descr="perfil_apren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6400800" cy="42672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691640"/>
            <a:ext cx="6400800" cy="426720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013704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Imagem: Jan Vašek, Wikimedia Commons (CC0)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19" y="1691640"/>
            <a:ext cx="1005840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19" y="1874519"/>
            <a:ext cx="3824935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2369"/>
                </a:solidFill>
                <a:latin typeface="Arial"/>
              </a:rPr>
              <a:t>Acompanha ferramentas novas, com espírito crítico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Metade das ferramentas de 2032 ainda não existe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19" y="4160520"/>
            <a:ext cx="3824935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19" y="4297680"/>
            <a:ext cx="3824935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BEC9"/>
                </a:solidFill>
                <a:latin typeface="Arial"/>
              </a:rPr>
              <a:t>1  Mede e coleta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BEC9"/>
                </a:solidFill>
                <a:latin typeface="Arial"/>
              </a:rPr>
              <a:t>2  Modela e valida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BEC9"/>
                </a:solidFill>
                <a:latin typeface="Arial"/>
              </a:rPr>
              <a:t>3  Integra sistemas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BEC9"/>
                </a:solidFill>
                <a:latin typeface="Arial"/>
              </a:rPr>
              <a:t>4  Responde pelo que assina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7BEC9"/>
                </a:solidFill>
                <a:latin typeface="Arial"/>
              </a:rPr>
              <a:t>5  Comunica e media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369"/>
                </a:solidFill>
                <a:latin typeface="Arial"/>
              </a:rPr>
              <a:t>6  Aprende sozinho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5 · REDESENHAR  ·  PPC DO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Seis decisões de desenho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1063721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Fundamentos que auditam o modelo,</a:t>
            </a:r>
            <a:r>
              <a:rPr sz="2400" b="0">
                <a:solidFill>
                  <a:srgbClr val="1E1E1E"/>
                </a:solidFill>
                <a:latin typeface="Arial"/>
              </a:rPr>
              <a:t> com avaliação sem IA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Dados e IA como eixo,</a:t>
            </a:r>
            <a:r>
              <a:rPr sz="2400" b="0">
                <a:solidFill>
                  <a:srgbClr val="1E1E1E"/>
                </a:solidFill>
                <a:latin typeface="Arial"/>
              </a:rPr>
              <a:t> do 1º ao 8º semestre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Projeto real em todo semestre,</a:t>
            </a:r>
            <a:r>
              <a:rPr sz="2400" b="0">
                <a:solidFill>
                  <a:srgbClr val="1E1E1E"/>
                </a:solidFill>
                <a:latin typeface="Arial"/>
              </a:rPr>
              <a:t> com a extensão dentro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Menos horas em sala,</a:t>
            </a:r>
            <a:r>
              <a:rPr sz="2400" b="0">
                <a:solidFill>
                  <a:srgbClr val="1E1E1E"/>
                </a:solidFill>
                <a:latin typeface="Arial"/>
              </a:rPr>
              <a:t> mais trilhas à escolha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Currículo que se atualiza,</a:t>
            </a:r>
            <a:r>
              <a:rPr sz="2400" b="0">
                <a:solidFill>
                  <a:srgbClr val="1E1E1E"/>
                </a:solidFill>
                <a:latin typeface="Arial"/>
              </a:rPr>
              <a:t> com revisão anual pelo NDE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O Pampa como laboratório:</a:t>
            </a:r>
            <a:r>
              <a:rPr sz="2400" b="0">
                <a:solidFill>
                  <a:srgbClr val="1E1E1E"/>
                </a:solidFill>
                <a:latin typeface="Arial"/>
              </a:rPr>
              <a:t> modelo de fora é testado aqui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5 · REDESENHAR  ·  PPC DO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Quatro níveis de uso de IA na avaliação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62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2419273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400" b="1">
                <a:solidFill>
                  <a:srgbClr val="0F2369"/>
                </a:solidFill>
                <a:latin typeface="Arial"/>
              </a:rPr>
              <a:t>Sem IA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fundamentos, cálculo à mão, defesa oral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6553" y="1965960"/>
            <a:ext cx="2419273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400" b="1">
                <a:solidFill>
                  <a:srgbClr val="0F2369"/>
                </a:solidFill>
                <a:latin typeface="Arial"/>
              </a:rPr>
              <a:t>Para estudar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tutoria e exercícios; não entra na entrega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5867" y="1965960"/>
            <a:ext cx="2419273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2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400" b="1">
                <a:solidFill>
                  <a:srgbClr val="0F2369"/>
                </a:solidFill>
                <a:latin typeface="Arial"/>
              </a:rPr>
              <a:t>Assistente, com registro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relatório e código, anexando o pedido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5181" y="1965960"/>
            <a:ext cx="2419273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3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400" b="1">
                <a:solidFill>
                  <a:srgbClr val="0F2369"/>
                </a:solidFill>
                <a:latin typeface="Arial"/>
              </a:rPr>
              <a:t>Parte da solução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ateliês e TCC, com validação em campo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Em todo nível, quem entrega responde, como responde pela ART.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5 · REDESENHAR  ·  PPC DO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O que pode dar errado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37943"/>
            <a:ext cx="345643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Risco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837943"/>
            <a:ext cx="695858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Mitigação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184908"/>
            <a:ext cx="10634472" cy="18288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239772"/>
            <a:ext cx="345643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Dependência da ferramenta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39772"/>
            <a:ext cx="695858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Avaliação sem IA nos fundamentos, defesa oral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586736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41600"/>
            <a:ext cx="345643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Desigualdade de acesso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641600"/>
            <a:ext cx="695858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Laboratório aberto e ferramentas gratuitas como padrão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88564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043428"/>
            <a:ext cx="345643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Ferramenta obsoleta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043428"/>
            <a:ext cx="695858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Ensinar conceito e validação; ferramenta na ementa aberta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390391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445255"/>
            <a:ext cx="345643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Sobrecarga docente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3445255"/>
            <a:ext cx="695858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Turmas pequenas, codocência, carga reconhecida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792220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847083"/>
            <a:ext cx="345643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Atribuições do CREA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847083"/>
            <a:ext cx="695858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Conferir as atribuições na matriz antes de aprovar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194048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PARA LEVAR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Cinco hábitos para começar amanhã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1063721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1. Confira</a:t>
            </a:r>
            <a:r>
              <a:rPr sz="2800" b="0">
                <a:solidFill>
                  <a:srgbClr val="1E1E1E"/>
                </a:solidFill>
                <a:latin typeface="Arial"/>
              </a:rPr>
              <a:t> todo número, norma, dose e fonte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2. Peça que ela pergunte antes</a:t>
            </a:r>
            <a:r>
              <a:rPr sz="2800" b="0">
                <a:solidFill>
                  <a:srgbClr val="1E1E1E"/>
                </a:solidFill>
                <a:latin typeface="Arial"/>
              </a:rPr>
              <a:t> e que critique depois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3. Pergunte a duas IAs</a:t>
            </a:r>
            <a:r>
              <a:rPr sz="2800" b="0">
                <a:solidFill>
                  <a:srgbClr val="1E1E1E"/>
                </a:solidFill>
                <a:latin typeface="Arial"/>
              </a:rPr>
              <a:t> e compare onde discordam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4. Não cole dados</a:t>
            </a:r>
            <a:r>
              <a:rPr sz="2800" b="0">
                <a:solidFill>
                  <a:srgbClr val="1E1E1E"/>
                </a:solidFill>
                <a:latin typeface="Arial"/>
              </a:rPr>
              <a:t> de produtor sem autorização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5. Declare</a:t>
            </a:r>
            <a:r>
              <a:rPr sz="2800" b="0">
                <a:solidFill>
                  <a:srgbClr val="1E1E1E"/>
                </a:solidFill>
                <a:latin typeface="Arial"/>
              </a:rPr>
              <a:t> quando usou IA, no curso e no trabalho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PARA OS PRÓXIMOS DOZE MESES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Um compromisso para cada lado da sala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65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4864" cy="3611880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A866E"/>
                </a:solidFill>
                <a:latin typeface="Arial"/>
              </a:rPr>
              <a:t>Estudantes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Use a IA como </a:t>
            </a:r>
            <a:r>
              <a:rPr sz="2400" b="1">
                <a:solidFill>
                  <a:srgbClr val="1E1E1E"/>
                </a:solidFill>
                <a:latin typeface="Arial"/>
              </a:rPr>
              <a:t>professor</a:t>
            </a:r>
            <a:r>
              <a:rPr sz="2400" b="0">
                <a:solidFill>
                  <a:srgbClr val="1E1E1E"/>
                </a:solidFill>
                <a:latin typeface="Arial"/>
              </a:rPr>
              <a:t>, toda semana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Faça um projeto com </a:t>
            </a:r>
            <a:r>
              <a:rPr sz="2400" b="1">
                <a:solidFill>
                  <a:srgbClr val="1E1E1E"/>
                </a:solidFill>
                <a:latin typeface="Arial"/>
              </a:rPr>
              <a:t>dado seu</a:t>
            </a:r>
            <a:r>
              <a:rPr sz="2400" b="0">
                <a:solidFill>
                  <a:srgbClr val="1E1E1E"/>
                </a:solidFill>
                <a:latin typeface="Arial"/>
              </a:rPr>
              <a:t>, do campo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Aprenda o básico de </a:t>
            </a:r>
            <a:r>
              <a:rPr sz="2400" b="1">
                <a:solidFill>
                  <a:srgbClr val="1E1E1E"/>
                </a:solidFill>
                <a:latin typeface="Arial"/>
              </a:rPr>
              <a:t>Python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7" y="1783080"/>
            <a:ext cx="54864" cy="361188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6199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2369"/>
                </a:solidFill>
                <a:latin typeface="Arial"/>
              </a:rPr>
              <a:t>Docentes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Uma atividade com IA </a:t>
            </a:r>
            <a:r>
              <a:rPr sz="2400" b="1">
                <a:solidFill>
                  <a:srgbClr val="1E1E1E"/>
                </a:solidFill>
                <a:latin typeface="Arial"/>
              </a:rPr>
              <a:t>por disciplina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Avaliação com </a:t>
            </a:r>
            <a:r>
              <a:rPr sz="2400" b="1">
                <a:solidFill>
                  <a:srgbClr val="1E1E1E"/>
                </a:solidFill>
                <a:latin typeface="Arial"/>
              </a:rPr>
              <a:t>defesa oral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Levar a IA para a </a:t>
            </a:r>
            <a:r>
              <a:rPr sz="2400" b="1">
                <a:solidFill>
                  <a:srgbClr val="1E1E1E"/>
                </a:solidFill>
                <a:latin typeface="Arial"/>
              </a:rPr>
              <a:t>pauta do NDE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O próximo PPC pode ter a primeira menção à IA. Ou a centésima.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PARA O FUTURO DE VOCÊS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BIA: Bacharelado em IA da UNIPAMPA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2514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C97A0A"/>
                </a:solidFill>
                <a:latin typeface="Arial"/>
              </a:rPr>
              <a:t>8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200" b="0">
                <a:solidFill>
                  <a:srgbClr val="6B7280"/>
                </a:solidFill>
                <a:latin typeface="Arial"/>
              </a:rPr>
              <a:t>semestres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37360"/>
            <a:ext cx="2514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C97A0A"/>
                </a:solidFill>
                <a:latin typeface="Arial"/>
              </a:rPr>
              <a:t>3.210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200" b="0">
                <a:solidFill>
                  <a:srgbClr val="6B7280"/>
                </a:solidFill>
                <a:latin typeface="Arial"/>
              </a:rPr>
              <a:t>horas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737360"/>
            <a:ext cx="2514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C97A0A"/>
                </a:solidFill>
                <a:latin typeface="Arial"/>
              </a:rPr>
              <a:t>2027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200" b="0">
                <a:solidFill>
                  <a:srgbClr val="6B7280"/>
                </a:solidFill>
                <a:latin typeface="Arial"/>
              </a:rPr>
              <a:t>início em março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76809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Campus Alegrete:</a:t>
            </a:r>
            <a:r>
              <a:rPr sz="2400" b="0">
                <a:solidFill>
                  <a:srgbClr val="1E1E1E"/>
                </a:solidFill>
                <a:latin typeface="Arial"/>
              </a:rPr>
              <a:t> universidade pública e gratuita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Vizinho de corredor</a:t>
            </a:r>
            <a:r>
              <a:rPr sz="2400" b="0">
                <a:solidFill>
                  <a:srgbClr val="1E1E1E"/>
                </a:solidFill>
                <a:latin typeface="Arial"/>
              </a:rPr>
              <a:t> da Engenharia Agrícola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Agricultura digital:</a:t>
            </a:r>
            <a:r>
              <a:rPr sz="2400" b="0">
                <a:solidFill>
                  <a:srgbClr val="1E1E1E"/>
                </a:solidFill>
                <a:latin typeface="Arial"/>
              </a:rPr>
              <a:t> ponte natural entre os dois cursos</a:t>
            </a:r>
          </a:p>
        </p:txBody>
      </p:sp>
      <p:pic>
        <p:nvPicPr>
          <p:cNvPr id="15" name="Picture 14" descr="qr_b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1737360"/>
            <a:ext cx="2103120" cy="21031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595360" y="3931920"/>
            <a:ext cx="2819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9A5B00"/>
                </a:solidFill>
                <a:latin typeface="Arial"/>
                <a:hlinkClick r:id="rId3"/>
              </a:rPr>
              <a:t>bia-unipampa.github.io</a:t>
            </a:r>
          </a:p>
        </p:txBody>
      </p:sp>
      <p:pic>
        <p:nvPicPr>
          <p:cNvPr id="17" name="Picture 16" descr="logo_b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0693" y="4526280"/>
            <a:ext cx="1758292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97280"/>
            <a:ext cx="73152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F2369"/>
                </a:solidFill>
                <a:latin typeface="Arial"/>
              </a:rPr>
              <a:t>A máquina faz a conta.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4800" b="1">
                <a:solidFill>
                  <a:srgbClr val="9A5B00"/>
                </a:solidFill>
                <a:latin typeface="Arial"/>
              </a:rPr>
              <a:t>O engenheiro decide.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56616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E1E1E"/>
                </a:solidFill>
                <a:latin typeface="Arial"/>
              </a:rPr>
              <a:t>Use a IA para ir além do que você faria sozinho, não para pular o esforço.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617720"/>
            <a:ext cx="1463040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846320"/>
            <a:ext cx="7680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2369"/>
                </a:solidFill>
                <a:latin typeface="Arial"/>
              </a:rPr>
              <a:t>Obrigado!  Perguntas?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Prof. Dr. Diego Kreutz  ·  UNIPAMPA  ·  AI Horizon Labs</a:t>
            </a:r>
          </a:p>
        </p:txBody>
      </p:sp>
      <p:pic>
        <p:nvPicPr>
          <p:cNvPr id="7" name="Picture 6" descr="qr_engenharia_agricola_github_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280160"/>
            <a:ext cx="1600200" cy="1600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83880" y="2971800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  <a:latin typeface="Arial"/>
                <a:hlinkClick r:id="rId3"/>
              </a:rPr>
              <a:t>site do PPC</a:t>
            </a:r>
            <a:br/>
            <a:r>
              <a:rPr sz="1400" b="0">
                <a:solidFill>
                  <a:srgbClr val="6B7280"/>
                </a:solidFill>
                <a:latin typeface="Arial"/>
                <a:hlinkClick r:id="rId3"/>
              </a:rPr>
              <a:t>engenharia-agricola.github.io</a:t>
            </a:r>
          </a:p>
        </p:txBody>
      </p:sp>
      <p:pic>
        <p:nvPicPr>
          <p:cNvPr id="9" name="Picture 8" descr="qr_talks4all_github_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1280160"/>
            <a:ext cx="1600200" cy="1600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966960" y="2971800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  <a:latin typeface="Arial"/>
                <a:hlinkClick r:id="rId5"/>
              </a:rPr>
              <a:t>slides e materiais</a:t>
            </a:r>
            <a:br/>
            <a:r>
              <a:rPr sz="1400" b="0">
                <a:solidFill>
                  <a:srgbClr val="6B7280"/>
                </a:solidFill>
                <a:latin typeface="Arial"/>
                <a:hlinkClick r:id="rId5"/>
              </a:rPr>
              <a:t>talks4all.github.io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Engenheiro Agrícola do futuro</dc:title>
  <dc:subject/>
  <dc:creator>Diego Kreutz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